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今週は、EMG を実際に取って違いが見えるかを確かめ、そのために MVC 正規化を組みました。結論から言うと、違いは見えました。ただし正規化の基準にする MVC の取り方に課題が見つかりました。</a:t>
            </a:r>
          </a:p>
          <a:p/>
          <a:p>
            <a:r>
              <a:t>流れは、目標 → やったこと → わかったこと → できなかったこと → 次やること、の順で話します。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大きな目標は、EMG で実際に違いが出ているデータを確認することです。前回（09-24）、指標の定義は生データを見てから決めると決めたので、その前提として、まず違いが見えるかを確かめます。</a:t>
            </a:r>
          </a:p>
          <a:p/>
          <a:p>
            <a:r>
              <a:t>そのための小さな目標が MVC 正規化です。MVC は最大随意収縮、つまりその筋で出せる全力のときの筋活動です。電極を貼る位置は日によって変わるので、その日の MVC で割って %MVC にしないと、日をまたいで比べられません。自己基準で「調子の良い日の自分」と比べる以上、日をまたいだ比較ができることが必須になります。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本命は Python から Delsys API で取る経路で、取得・保存・MVC 測定・正規化までのコードを書きました。機材なしでも試せるよう疑似信号で動かし、取得から波形表示まで通しで動くことを確認しています。</a:t>
            </a:r>
          </a:p>
          <a:p/>
          <a:p>
            <a:r>
              <a:t>ただ、研究室の Trigno は Trigno Discover 世代で、API を使うには Delsys が発行するキーとライセンスが必要でした。問い合わせメールの文面を作って先生に渡してあり、返事待ちです。</a:t>
            </a:r>
          </a:p>
          <a:p/>
          <a:p>
            <a:r>
              <a:t>待つあいだに、付属ソフトの Trigno Discover で前腕 2 か所（上の伸筋側・下の屈筋側）のデモデータを取りました。安静 10 秒、手首を反らす全力（伸展の MVC）、手首を曲げる全力（屈曲の MVC）、デモ（脱力と力みを交互に）を各 1 本です。センサは Avanti で、サンプリング周波数は 2148.1 Hz。</a:t>
            </a:r>
          </a:p>
          <a:p/>
          <a:p>
            <a:r>
              <a:t>その CSV を読み込むコマンド（import-csv）を作りました。マーカーの間だけを切り出して、API で取った記録と同じ形式にそろえるので、キーが届いたあとも後ろの処理はそのまま使えます。正規化は、%MVC と、安静の値を差し引いた %MVC の 2 種類を出しています。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センサは前腕の 2 か所に貼りました。手のひらを下にしてマウスを持つ姿勢で、上側（手の甲側）が伸筋側、下側（手のひら側）が屈筋側です。</a:t>
            </a:r>
          </a:p>
          <a:p/>
          <a:p>
            <a:r>
              <a:t>伸筋側は手首を反らす（伸展）ときに働く筋、屈筋側は手首を曲げる（屈曲）ときや、指で握り込むときに働く筋です。</a:t>
            </a:r>
          </a:p>
          <a:p/>
          <a:p>
            <a:r>
              <a:t>センサは Trigno の標準センサ（Avanti）です。前腕の個々の筋に対してセンサが大きいので、1 本 1 本の筋ではなく「伸筋のまとまり」「屈筋のまとまり」として拾っています。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大きな目標への答えです。前腕の上と下にセンサを 1 つずつ付けて、動作ごとにどちらが反応したかを見ました。</a:t>
            </a:r>
          </a:p>
          <a:p/>
          <a:p>
            <a:r>
              <a:t>数字（包絡線の 1 秒平均、μV）：</a:t>
            </a:r>
          </a:p>
          <a:p>
            <a:r>
              <a:t>・安静　　　　　　伸筋側 2　　　屈筋側 4〜8</a:t>
            </a:r>
          </a:p>
          <a:p>
            <a:r>
              <a:t>・伸展の MVC　　　伸筋側 17〜28　屈筋側 4〜5</a:t>
            </a:r>
          </a:p>
          <a:p>
            <a:r>
              <a:t>・屈曲の MVC　　　伸筋側 3　　　屈筋側 37〜45</a:t>
            </a:r>
          </a:p>
          <a:p>
            <a:r>
              <a:t>・マウスを握り込む　伸筋側 3　　　屈筋側 15〜19</a:t>
            </a:r>
          </a:p>
          <a:p/>
          <a:p>
            <a:r>
              <a:t>手首を反らすと上の伸筋側だけ、曲げると下の屈筋側だけが反応しました。Trigno の標準センサは前腕の筋に対して大きいので心配していましたが、2 か所はきれいに分かれています。そしてマウスを握り込む力みは屈筋側にだけ出て、伸筋側は安静のままでした。</a:t>
            </a:r>
          </a:p>
          <a:p/>
          <a:p>
            <a:r>
              <a:t>もう一つ、センサがきれいに分かれているということは、このあと出てくる「%MVC が 100% を超えた」問題は、センサの付け方のせいではなく、全力（MVC）の取り方の問題だということです。</a:t>
            </a:r>
          </a:p>
          <a:p/>
          <a:p>
            <a:r>
              <a:t>【数字の意味（聞かれたら）】</a:t>
            </a:r>
          </a:p>
          <a:p>
            <a:r>
              <a:t>数字は筋電の「大きさ」です。センサが拾う生の波形はプラスとマイナスに細かく振れるので、そのまま平均するとほぼ 0 になってしまいます。そこで、(1) ノイズを落とし、(2) マイナス側を折り返して全部プラスにし、(3) なめらかにならして「どれくらい力が入っているか」を表す 1 本の線にします。これを包絡線と呼びます。上の数字は、この包絡線を 1 秒ごとに平均したものです。</a:t>
            </a:r>
          </a:p>
          <a:p>
            <a:r>
              <a:t>まだ MVC で割る前の値なので、単位は μV のままです。%MVC にすると MVC の行は定義上ほぼ 100% になって比べられないので、ここは割る前の値で見ています。</a:t>
            </a:r>
          </a:p>
          <a:p>
            <a:r>
              <a:t>比べるのは同じセンサの中（縦方向）です。上と下のセンサどうしの大きさは、電極の当たり方が違うので直接は比べません。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デモを MVC で正規化した波形です。上が伸筋側、下が屈筋側。青が %MVC、橙が安静の値を差し引いた %MVC、点線が 100 %MVC です。</a:t>
            </a:r>
          </a:p>
          <a:p/>
          <a:p>
            <a:r>
              <a:t>下の屈筋側を見ると、マウスを握った 11〜21 秒だけ %MVC が上がっていて（約 30〜40 %MVC）、脱力との違いが見えます。</a:t>
            </a:r>
          </a:p>
          <a:p/>
          <a:p>
            <a:r>
              <a:t>一方、上の伸筋側は、手首を反らしきった 34〜40 秒で 100% の点線を大きく超えています。これが次のページの問題です。</a:t>
            </a:r>
          </a:p>
          <a:p/>
          <a:p>
            <a:r>
              <a:t>【もう一つ見えたこと：屈筋側の「床」】</a:t>
            </a:r>
          </a:p>
          <a:p>
            <a:r>
              <a:t>屈筋側は脱力していても約 10 %MVC あります。安静の値（MVC の約 9%）がそのまま床として出ていて、安静を引いた %MVC（橙）ではほぼ 0 になります。安静を引くと座り方など姿勢の影響は消せますが、見たい力み（静止区間の残余活動）まで消える可能性があるので、2 種類とも残しています。どちらを使うかは本番の波形を見て決めます。</a:t>
            </a:r>
          </a:p>
          <a:p/>
          <a:p>
            <a:r>
              <a:t>41 秒で屈筋側が一瞬だけ約 100 %MVC まで振れているのは、反らしきった手首を戻した瞬間です。戻す動きの筋活動か、手が机に当たったノイズかはまだ切り分けていません。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今週いちばん大きな発見です。</a:t>
            </a:r>
          </a:p>
          <a:p/>
          <a:p>
            <a:r>
              <a:t>手首を手の甲側に反らしきったとき、伸筋側が伸展の MVC の約 3.5 倍まで上がりました。包絡線で 97 μV 対 28 μV です。正規化すると約 350 %MVC、瞬間では 500% を超えました。</a:t>
            </a:r>
          </a:p>
          <a:p/>
          <a:p>
            <a:r>
              <a:t>ノイズではありません。周波数の中央値が 168 Hz、20 Hz 未満の成分が 0.3% で、MVC の記録と同じ性質の本物の筋活動です。</a:t>
            </a:r>
          </a:p>
          <a:p/>
          <a:p>
            <a:r>
              <a:t>原因は伸展の MVC の取り方です。MVC は、机に固定した手を反対の手で押さえて反らす方法で取りました。その「全力」が 28 μV だったのに、デモで自由に反らしきっただけで 97 μV 出たので、押さえ方が弱く、全力を出し切れていなかったということです。</a:t>
            </a:r>
          </a:p>
          <a:p/>
          <a:p>
            <a:r>
              <a:t>センサのほうは、反らしきったときも反応したのは伸筋側だけで、屈筋側はほぼ安静のままでした。正しい側を拾えているので、付け方を変える必要はありません。</a:t>
            </a:r>
          </a:p>
          <a:p/>
          <a:p>
            <a:r>
              <a:t>なぜ困るか：MVC は「その日の最大」で割るための基準です。実際の動きのほうが大きいと %MVC が 100% を超え、日をまたいだ比較の土台が崩れます。小さな目標の正規化は、仕組みはできたけれど基準がまだ使えない、という状態です。</a:t>
            </a:r>
          </a:p>
          <a:p/>
          <a:p>
            <a:r>
              <a:t>補足：34〜40 秒の動きは、記録時は「手のひら側に曲げきる」とメモしていました。ただ、手のひら側なら屈筋側が働くはずで、実際は伸筋側だけが大きく出ています。波形から、手の甲側に反らしきったと判断しています（記録時のメモで要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順番が大事で、まず MVC を固めます。基準が崩れたまま本番データを取っても、日をまたいで比べられないからです。</a:t>
            </a:r>
          </a:p>
          <a:p/>
          <a:p>
            <a:r>
              <a:t>1 つ目、MVC の取り方を文献で調べます。今回の手順は自分で決めたもので、そこで全力を出し切れませんでした。前腕の EMG を測っているマウス操作の研究（Forman 2025、Prajapati 2024 など）で、MVC をどう取っているかを確認します。</a:t>
            </a:r>
          </a:p>
          <a:p/>
          <a:p>
            <a:r>
              <a:t>2 つ目、それに合わせて伸展の MVC を取り直します。候補は、机の天板の裏に手の甲を当てて押し上げるなど、しっかり固定できる方法です。それでも 100% を超える動きが残れば、その動きを MVC の課題に加えます。</a:t>
            </a:r>
          </a:p>
          <a:p/>
          <a:p>
            <a:r>
              <a:t>3 つ目、6 か所で本番データ。前腕の伸筋群・屈筋群、三角筋中部、上腕二頭筋、上腕三頭筋、僧帽筋上部です。僧帽筋上部はバンドで固定できず貼り付けになるので、指標を探す期間だけ試します。付ける筋が増えるので、MVC の課題も 6 つに増やします。</a:t>
            </a:r>
          </a:p>
          <a:p/>
          <a:p>
            <a:r>
              <a:t>4 つ目、正規化した波形を見て、どの指標が使えるかを判断します。</a:t>
            </a:r>
          </a:p>
          <a:p/>
          <a:p>
            <a:r>
              <a:t>並行して、キーとライセンスが届いたら API で実機に接続し、Discover と同じ設定（Avanti、2148.1 Hz）で取れるか確認します。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</a:t>
            </a:r>
          </a:p>
          <a:p/>
          <a:p>
            <a:r>
              <a:t>大きな目標は、前腕 2 か所については達成しました。マウスを握る力みが屈筋側にだけ出ることが確認できています。6 か所に広げるのはこれからです。</a:t>
            </a:r>
          </a:p>
          <a:p/>
          <a:p>
            <a:r>
              <a:t>小さな目標は、取得から正規化までのコードはできましたが、基準にする伸展の MVC が全力を捉えきれておらず、取り直しが必要です。</a:t>
            </a:r>
          </a:p>
          <a:p/>
          <a:p>
            <a:r>
              <a:t>来週は MVC を固めて、6 か所で本番データを取ります。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66875"/>
            <a:ext cx="7772400" cy="523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エイムスキル学習支援の研究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43175"/>
            <a:ext cx="7772400" cy="2857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進捗報告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8962"/>
            <a:ext cx="2009775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3309938"/>
            <a:ext cx="777240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2026年10月1日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今週の目標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285875"/>
            <a:ext cx="3524250" cy="1190625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EMG で、違いが出ている
データを確認する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171950" y="1905000"/>
            <a:ext cx="64770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914900" y="1285875"/>
            <a:ext cx="3619500" cy="1190625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データを MVC で
正規化する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850" y="1514475"/>
            <a:ext cx="723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そのために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52750"/>
            <a:ext cx="7962900" cy="952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・指標は生データを見てから決める（前回の決定）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・日をまたいで比べるには、MVC 正規化が必須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やったこと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238250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・API はライセンス待ち　→　付属ソフトで取った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・取得　→　正規化　→　図 まで通しで動く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2286000"/>
            <a:ext cx="1619250" cy="9525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① 取る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付属ソフト
前腕 2 か所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0750" y="2762250"/>
            <a:ext cx="3048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2514600" y="2286000"/>
            <a:ext cx="1619250" cy="952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② 読み込む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CSV を
Python に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52900" y="2762250"/>
            <a:ext cx="3048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4476750" y="2286000"/>
            <a:ext cx="1619250" cy="952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③ 正規化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%MVC
2 種類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15050" y="2762250"/>
            <a:ext cx="3048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6438900" y="2286000"/>
            <a:ext cx="1619250" cy="952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④ 確認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波形の図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450" y="3619500"/>
            <a:ext cx="3581400" cy="523875"/>
          </a:xfrm>
          <a:prstGeom prst="roundRect">
            <a:avLst>
              <a:gd name="adj" fmla="val 10909"/>
            </a:avLst>
          </a:prstGeom>
          <a:noFill/>
          <a:ln w="9525">
            <a:solidFill>
              <a:srgbClr val="9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0" rIns="114300" bIns="9525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本命：Delsys API で取る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コードは完成／ライセンス待ち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333750" y="3257550"/>
            <a:ext cx="0" cy="342900"/>
          </a:xfrm>
          <a:prstGeom prst="line">
            <a:avLst/>
          </a:prstGeom>
          <a:ln w="14287">
            <a:solidFill>
              <a:srgbClr val="9A9A9A"/>
            </a:solidFill>
            <a:prstDash val="dash"/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4238625" y="3762375"/>
            <a:ext cx="4286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届いたら ① を差し替えるだけ。②〜④ はそのまま使える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センサを貼った場所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・前腕の上と下に、センサを 1 つずつ貼った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7700" y="3619500"/>
            <a:ext cx="4095750" cy="0"/>
          </a:xfrm>
          <a:prstGeom prst="line">
            <a:avLst/>
          </a:prstGeom>
          <a:ln w="14287">
            <a:solidFill>
              <a:srgbClr val="C8C8C8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838200" y="2524125"/>
            <a:ext cx="2667000" cy="762000"/>
          </a:xfrm>
          <a:custGeom>
            <a:avLst/>
            <a:gdLst/>
            <a:ahLst/>
            <a:cxnLst/>
            <a:rect l="l" t="t" r="r" b="b"/>
            <a:pathLst>
              <a:path w="2667000" h="762000">
                <a:moveTo>
                  <a:pt x="0" y="0"/>
                </a:moveTo>
                <a:lnTo>
                  <a:pt x="2667000" y="166687"/>
                </a:lnTo>
                <a:lnTo>
                  <a:pt x="2667000" y="595313"/>
                </a:lnTo>
                <a:lnTo>
                  <a:pt x="0" y="762000"/>
                </a:lnTo>
                <a:close/>
              </a:path>
            </a:pathLst>
          </a:custGeom>
          <a:solidFill>
            <a:srgbClr val="F1E3D6"/>
          </a:solidFill>
          <a:ln w="14287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05200" y="2628900"/>
            <a:ext cx="1200150" cy="504825"/>
          </a:xfrm>
          <a:custGeom>
            <a:avLst/>
            <a:gdLst/>
            <a:ahLst/>
            <a:cxnLst/>
            <a:rect l="l" t="t" r="r" b="b"/>
            <a:pathLst>
              <a:path w="1200150" h="504825">
                <a:moveTo>
                  <a:pt x="0" y="61912"/>
                </a:moveTo>
                <a:lnTo>
                  <a:pt x="285750" y="0"/>
                </a:lnTo>
                <a:lnTo>
                  <a:pt x="666750" y="28575"/>
                </a:lnTo>
                <a:lnTo>
                  <a:pt x="952500" y="95250"/>
                </a:lnTo>
                <a:lnTo>
                  <a:pt x="1143000" y="138112"/>
                </a:lnTo>
                <a:lnTo>
                  <a:pt x="1200150" y="266700"/>
                </a:lnTo>
                <a:lnTo>
                  <a:pt x="1071562" y="361950"/>
                </a:lnTo>
                <a:lnTo>
                  <a:pt x="857250" y="361950"/>
                </a:lnTo>
                <a:lnTo>
                  <a:pt x="666750" y="371475"/>
                </a:lnTo>
                <a:lnTo>
                  <a:pt x="476250" y="442912"/>
                </a:lnTo>
                <a:lnTo>
                  <a:pt x="190500" y="504825"/>
                </a:lnTo>
                <a:lnTo>
                  <a:pt x="0" y="490538"/>
                </a:lnTo>
                <a:close/>
              </a:path>
            </a:pathLst>
          </a:custGeom>
          <a:solidFill>
            <a:srgbClr val="F1E3D6"/>
          </a:solidFill>
          <a:ln w="14287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66888" y="2419350"/>
            <a:ext cx="428625" cy="171450"/>
          </a:xfrm>
          <a:prstGeom prst="roundRect">
            <a:avLst>
              <a:gd name="adj" fmla="val 16666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6888" y="3219450"/>
            <a:ext cx="428625" cy="171450"/>
          </a:xfrm>
          <a:prstGeom prst="roundRect">
            <a:avLst>
              <a:gd name="adj" fmla="val 16666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450" y="3667125"/>
            <a:ext cx="2857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3952875"/>
            <a:ext cx="952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0" y="3952875"/>
            <a:ext cx="1905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手首 → 手（手のひらは下）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2047875"/>
            <a:ext cx="3390900" cy="1905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上（手の甲側）：伸筋側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手首を反らす（伸展）筋</a:t>
            </a:r>
          </a:p>
          <a:p>
            <a:pPr algn="l">
              <a:lnSpc>
                <a:spcPct val="120000"/>
              </a:lnSpc>
              <a:spcBef>
                <a:spcPts val="1350"/>
              </a:spcBef>
              <a:spcAft>
                <a:spcPts val="300"/>
              </a:spcAft>
            </a:pPr>
            <a:r>
              <a:rPr sz="15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下（手のひら側）：屈筋側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手首を曲げる（屈曲）・握る筋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違いは出たか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・動作ごとに、反応するセンサがはっきり分かれた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・握る力みは屈筋側にだけ　→　力みの種類で出る場所が違う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" y="3552825"/>
            <a:ext cx="7981950" cy="485775"/>
          </a:xfrm>
          <a:prstGeom prst="rect">
            <a:avLst/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52450" y="20955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52450" y="2095500"/>
            <a:ext cx="142875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安静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500" y="2162175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伸筋側（上）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185988"/>
            <a:ext cx="128588" cy="123825"/>
          </a:xfrm>
          <a:prstGeom prst="roundRect">
            <a:avLst>
              <a:gd name="adj" fmla="val 11538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7062" y="2162175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5500" y="2352675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屈筋側（下）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376488"/>
            <a:ext cx="509588" cy="123825"/>
          </a:xfrm>
          <a:prstGeom prst="roundRect">
            <a:avLst>
              <a:gd name="adj" fmla="val 11538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8062" y="2352675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4〜8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2095500"/>
            <a:ext cx="133350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どちらも小さい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450" y="25812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52450" y="2581275"/>
            <a:ext cx="142875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反らす（伸展）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500" y="2647950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伸筋側（上）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2671762"/>
            <a:ext cx="1776412" cy="123825"/>
          </a:xfrm>
          <a:prstGeom prst="roundRect">
            <a:avLst>
              <a:gd name="adj" fmla="val 11538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4888" y="2647950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17〜28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5500" y="2838450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屈筋側（下）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2862262"/>
            <a:ext cx="319088" cy="123825"/>
          </a:xfrm>
          <a:prstGeom prst="roundRect">
            <a:avLst>
              <a:gd name="adj" fmla="val 11538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7562" y="2838450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4〜5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900" y="2581275"/>
            <a:ext cx="133350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→ 伸筋側だけ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2450" y="306705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52450" y="3067050"/>
            <a:ext cx="142875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曲げる（屈曲）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5500" y="3133725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伸筋側（上）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157538"/>
            <a:ext cx="190500" cy="123825"/>
          </a:xfrm>
          <a:prstGeom prst="roundRect">
            <a:avLst>
              <a:gd name="adj" fmla="val 11538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8975" y="3133725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95500" y="3324225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屈筋側（下）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348038"/>
            <a:ext cx="2857500" cy="123825"/>
          </a:xfrm>
          <a:prstGeom prst="roundRect">
            <a:avLst>
              <a:gd name="adj" fmla="val 11538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5975" y="3324225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37〜45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900" y="3067050"/>
            <a:ext cx="133350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→ 屈筋側だけ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2450" y="355282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52450" y="3552825"/>
            <a:ext cx="142875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マウスを握る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5500" y="3619500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伸筋側（上）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3643312"/>
            <a:ext cx="190500" cy="123825"/>
          </a:xfrm>
          <a:prstGeom prst="roundRect">
            <a:avLst>
              <a:gd name="adj" fmla="val 11538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8975" y="3619500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95500" y="3810000"/>
            <a:ext cx="80962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屈筋側（下）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71800" y="3833812"/>
            <a:ext cx="1204912" cy="123825"/>
          </a:xfrm>
          <a:prstGeom prst="roundRect">
            <a:avLst>
              <a:gd name="adj" fmla="val 11538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43388" y="3810000"/>
            <a:ext cx="714375" cy="1714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15〜19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900" y="3552825"/>
            <a:ext cx="1333500" cy="48577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→ 屈筋側だけ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52450" y="40386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571500" y="4191000"/>
            <a:ext cx="7962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棒 ＝ 筋電の大きさ（包絡線の 1 秒平均、μV、正規化前）。反らす・曲げるは MVC の記録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正規化した波形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pic>
        <p:nvPicPr>
          <p:cNvPr id="4" name="Picture 3" descr="2026-10-01_demo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047750"/>
            <a:ext cx="5619750" cy="2671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1190625"/>
            <a:ext cx="2200275" cy="2476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0〜10 秒　脱力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11〜21 秒　握る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22〜31 秒　脱力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34〜40 秒　反らしきる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41 秒〜　脱力</a:t>
            </a:r>
          </a:p>
          <a:p>
            <a:pPr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青：%MVC
橙：安静を引いた %MVC
点線：100 %MVC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05250"/>
            <a:ext cx="79629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・握ると、下（屈筋側）が約 30〜40 %MVC に上がる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・反らしきると、上（伸筋側）が 100% を大きく超える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MVC が足りていない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・手首を反らしきったら、伸筋側が約 350 %MVC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・反応したのは伸筋側だけ　→　センサは正常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381250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伸筋側の筋電（包絡線、μV）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714625"/>
            <a:ext cx="2381250" cy="428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反らす（伸展）の MVC
押さえて取った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0" y="2762250"/>
            <a:ext cx="1514475" cy="304800"/>
          </a:xfrm>
          <a:prstGeom prst="roundRect">
            <a:avLst>
              <a:gd name="adj" fmla="val 6250"/>
            </a:avLst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7250" y="2800350"/>
            <a:ext cx="3619500" cy="21431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28 μV　（これを 100 %MVC とした）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286125"/>
            <a:ext cx="2381250" cy="428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自由に
反らしきった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0" y="3333750"/>
            <a:ext cx="5238750" cy="304800"/>
          </a:xfrm>
          <a:prstGeom prst="roundRect">
            <a:avLst>
              <a:gd name="adj" fmla="val 625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3333750"/>
            <a:ext cx="1714500" cy="3048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97 μV ≈ 350 %MVC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62475" y="2667000"/>
            <a:ext cx="0" cy="1066800"/>
          </a:xfrm>
          <a:prstGeom prst="line">
            <a:avLst/>
          </a:prstGeom>
          <a:ln w="14287">
            <a:solidFill>
              <a:srgbClr val="1A1A1A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問題はセンサではなく、MVC の取り方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次やること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・まず MVC を固める（基準が崩れたままでは比べられない）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905000"/>
            <a:ext cx="1809750" cy="1333500"/>
          </a:xfrm>
          <a:prstGeom prst="roundRect">
            <a:avLst>
              <a:gd name="adj" fmla="val 4285"/>
            </a:avLst>
          </a:prstGeom>
          <a:solidFill>
            <a:srgbClr val="FBEBDD"/>
          </a:solidFill>
          <a:ln w="14287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MVC の取り方を
文献で調べる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先行研究の手順を確認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81250" y="2524125"/>
            <a:ext cx="2095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2609850" y="1905000"/>
            <a:ext cx="1809750" cy="1333500"/>
          </a:xfrm>
          <a:prstGeom prst="roundRect">
            <a:avLst>
              <a:gd name="adj" fmla="val 4285"/>
            </a:avLst>
          </a:prstGeom>
          <a:solidFill>
            <a:srgbClr val="FBEBDD"/>
          </a:solidFill>
          <a:ln w="14287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反らす（伸展）の
MVC を取り直す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固定できる方法で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8650" y="2524125"/>
            <a:ext cx="2095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4667250" y="1905000"/>
            <a:ext cx="1809750" cy="1333500"/>
          </a:xfrm>
          <a:prstGeom prst="roundRect">
            <a:avLst>
              <a:gd name="adj" fmla="val 4285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6 か所で
本番データを取る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前腕・肩・上腕・僧帽筋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6050" y="2524125"/>
            <a:ext cx="20955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6724650" y="1905000"/>
            <a:ext cx="1809750" cy="1333500"/>
          </a:xfrm>
          <a:prstGeom prst="roundRect">
            <a:avLst>
              <a:gd name="adj" fmla="val 4285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波形を見て
使える指標を判断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正規化した波形から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450" y="3524250"/>
            <a:ext cx="7981950" cy="428625"/>
          </a:xfrm>
          <a:prstGeom prst="roundRect">
            <a:avLst>
              <a:gd name="adj" fmla="val 13333"/>
            </a:avLst>
          </a:prstGeom>
          <a:noFill/>
          <a:ln w="9525">
            <a:solidFill>
              <a:srgbClr val="9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0" rIns="152400" bIns="95250" lIns="1524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並行して　</a:t>
            </a:r>
            <a:r>
              <a:rPr sz="1200" b="1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ライセンスが届いたら、API で実機に接続（Avanti、2148.1 Hz）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190625"/>
            <a:ext cx="3524250" cy="1190625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EMG で、違いが出ている
データを確認する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171950" y="1809750"/>
            <a:ext cx="64770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914900" y="1190625"/>
            <a:ext cx="3619500" cy="1190625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データを MVC で
正規化する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450" y="266700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前腕 2 か所で達成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048000"/>
            <a:ext cx="352425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・握る力みは屈筋側にだけ出た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・6 か所はこれから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4900" y="266700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FB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仕組みは完成／基準に課題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3048000"/>
            <a:ext cx="36195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・取得〜正規化のコードは完成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・反らす（伸展）の MVC を取り直す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来週：MVC を固めて、6 か所で本番データを取る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