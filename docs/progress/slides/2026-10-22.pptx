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今週は、研究室での計測を、準備から 3 分の記録までコマンド 1 つで流せるようにして、10-20 に研究室で一人で記録しました。結論から言うと、センサ 6 本・3 分の記録まで止まらずに通り、手首の伸展の MVC は一人で取れました。屈曲は確かめられませんでした。画面の指示が足りなかった可能性があるので、指示を直して来週取り直します。</a:t>
            </a:r>
          </a:p>
          <a:p/>
          <a:p>
            <a:r>
              <a:t>流れは、マイルストーン → 目標 → やったこと → わかったこと → 次やること → まとめ、の順で話します。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先週、マイルストーンがあるとよいとコメントをもらったので作りました。今は M1、計測系が回るところで、期限は 11/5 です。修論の本体は実験1 までにして、実験2 は就活のあと、余裕があればやります。下が M1 の内訳で、左の 3 つは先週までに済んでいます。今週は M1-4 から M1-6 をやりました。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大きな目標は、今のマイルストーンの M1 にそろえました。先週までの『違いが出ているデータを確認する』は、計測系を作る部分と、エイム中の差を確かめる部分が混ざっていたので、後ろの半分は M2 に回しています。10/1 に見た伸筋と屈筋の違いは、センサが筋を分けて拾えているかの確認で、M1 の一部です。</a:t>
            </a:r>
          </a:p>
          <a:p/>
          <a:p>
            <a:r>
              <a:t>M1 の完了基準は、6 か所の MVC と数分の記録を、API で 1 回の来室で取りきれることです。</a:t>
            </a:r>
          </a:p>
          <a:p/>
          <a:p>
            <a:r>
              <a:t>そのための小さな目標として、M1 の内訳のうち 3 つをやりました。M1-4 は、研究室での計測を、lab という 1 つのコマンドで最後まで通せるようにすること。M1-5 は、センサ 6 本の同時記録と、数分の長い記録を確かめること。M1-6 は、前腕の MVC を API で、一人で取ることです。順番は、確認動作 → 伸展（H：天板の裏を押し上げる）→ 屈曲です。</a:t>
            </a:r>
          </a:p>
          <a:p/>
          <a:p>
            <a:r>
              <a:t>【用語】MVC は、全力で力を入れたときの筋電の大きさです。これを 100% として、ほかの記録を割合（%MVC）で表すと、日や人が違っても比べられます。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やったことです。</a:t>
            </a:r>
          </a:p>
          <a:p/>
          <a:p>
            <a:r>
              <a:t>まず、修論までのマイルストーン（M1〜M7）と、M1 の内訳（M1-1〜M1-7）を作りました。内訳は M1 の始まりから完了基準までの流れにしていて、先週までに済んだ M1-1〜M1-3 も入っています。</a:t>
            </a:r>
          </a:p>
          <a:p/>
          <a:p>
            <a:r>
              <a:t>次に、研究室での計測を lab という 1 つのコマンドで流せるようにしました。信号の確認 → 安静 → 確認動作 → MVC → 3 分の記録、を順に流し、最後に MVC を比べます。記録中の窓に指示が出て、クリックで次に進むので、ターミナルに戻らなくてよいです。</a:t>
            </a:r>
          </a:p>
          <a:p/>
          <a:p>
            <a:r>
              <a:t>センサ 6 本を、シールの番号（1〜6）で基地局に登録し直しました（ペアリング）。そのための pair コマンドも作りました。</a:t>
            </a:r>
          </a:p>
          <a:p/>
          <a:p>
            <a:r>
              <a:t>10-20 に研究室で一人で記録しました。6 か所に貼り、部位ごとに動かして、番号と部位の対応を確かめました（30 秒）。それから lab を一人用で流しました。伸展は H（天板の裏を押し上げる）、屈曲は机に押し下げる。各 5 秒 × 3、休憩 60 秒です。</a:t>
            </a:r>
          </a:p>
          <a:p/>
          <a:p>
            <a:r>
              <a:t>使ってみて分かった記録中の窓の使いにくさ（文字があふれる、休憩が長い、動作が分からない）を直しました。</a:t>
            </a:r>
          </a:p>
          <a:p/>
          <a:p>
            <a:r>
              <a:t>MVC の取り方を決めました。手首は、伸展・屈曲とも「上に全力で曲げ、人に押さえてもらう」を本番にします。一人で試すときは天板の裏を押し上げます。残り 4 か所（三角筋・二頭筋・三頭筋・僧帽筋）は、一人でできるやり方を決めました。来週試します。</a:t>
            </a:r>
          </a:p>
          <a:p/>
          <a:p>
            <a:r>
              <a:t>【用語】</a:t>
            </a:r>
          </a:p>
          <a:p>
            <a:r>
              <a:t>H：一人で取る伸展の MVC。手のひら下で握り、天板の裏に手の甲を当てて押し上げる。10-06 に試したが CSV を書き出しそこね、今回が初めての確認。</a:t>
            </a:r>
          </a:p>
          <a:p>
            <a:r>
              <a:t>コードの場所：計測の手順は analysis/emgpipe/session.py（python -m emgpipe lab、一人用は --solo）。ペアリングは sources.py の DelsysSource.pair（python -m emgpipe pair 1 2 3 4 5 6）。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M1-4 への答えです。研究室での計測が、最後まで止まらずに通りました。ただし、記録中の窓が使いにくかったです。</a:t>
            </a:r>
          </a:p>
          <a:p/>
          <a:p>
            <a:r>
              <a:t>lab で 11 ステップが止まらずに通りました。開始から終わりまで約 15 分です。</a:t>
            </a:r>
          </a:p>
          <a:p/>
          <a:p>
            <a:r>
              <a:t>使ってみて、3 つ困りました。説明の文字が窓からあふれて読めない。休憩の 60 秒が長い。文字だけでは、どういう姿勢で力を入れるのか分からない。</a:t>
            </a:r>
          </a:p>
          <a:p/>
          <a:p>
            <a:r>
              <a:t>3 つとも直しました。説明を折り返し、見出しと分けました。課題を 1 周ずつ回し、休憩を 10 秒にしました。窓の左に姿勢の図を出すようにしました。</a:t>
            </a:r>
          </a:p>
          <a:p/>
          <a:p>
            <a:r>
              <a:t>休憩を短くした理由です。同じ課題を 3 回続けると、休憩が短いと 2 回目以降が疲れで小さくなります。6 課題を 1 周ずつ回せば、休憩 10 秒でも同じ筋が次に使われるまで約 1 分空きます。文献の休憩は 30 秒〜1 分（literature/notes/MVC_protocols.md）なので守れます。2 周で、MVC の部分は約 4 分です（クリックの時間を除く）。</a:t>
            </a:r>
          </a:p>
          <a:p/>
          <a:p>
            <a:r>
              <a:t>直した窓は、まだ実機では使っていません。来週確かめます。</a:t>
            </a:r>
          </a:p>
          <a:p/>
          <a:p>
            <a:r>
              <a:t>【コードの場所】記録中の窓は analysis/emgpipe/plot.py の LiveView。姿勢の図は analysis/emgpipe/poses.py（emgpipe/img/&lt;課題名&gt;.png を置けば、図の代わりに写真を出す）。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M1-5 への答えです。6 本とも取れ、3 分の記録も取りこぼしませんでした。</a:t>
            </a:r>
          </a:p>
          <a:p/>
          <a:p>
            <a:r>
              <a:t>3 分の記録で、6 本とも 386,667 サンプルで、3 分 × 2148 Hz とちょうど同じでした。</a:t>
            </a:r>
          </a:p>
          <a:p/>
          <a:p>
            <a:r>
              <a:t>グラフは、部位の確認の記録です。脱力のあと、部位ごとに自分で動かしました。6 本とも、貼った部位の動きでいちばん大きく反応し、脱力の 2.4〜8 倍でした。番号と部位の対応は合っています。</a:t>
            </a:r>
          </a:p>
          <a:p/>
          <a:p>
            <a:r>
              <a:t>【部位の確認（sites_identify）：脱力 → 自分の動き、包絡線の平均、μV】</a:t>
            </a:r>
          </a:p>
          <a:p>
            <a:r>
              <a:t>S1 前腕の上（伸筋群）3.2 → 16.4</a:t>
            </a:r>
          </a:p>
          <a:p>
            <a:r>
              <a:t>S2 前腕の下（屈筋群）2.3 → 19.6</a:t>
            </a:r>
          </a:p>
          <a:p>
            <a:r>
              <a:t>S3 三角筋中部 2.0 → 10.6</a:t>
            </a:r>
          </a:p>
          <a:p>
            <a:r>
              <a:t>S4 上腕二頭筋 2.0 → 14.5</a:t>
            </a:r>
          </a:p>
          <a:p>
            <a:r>
              <a:t>S5 上腕三頭筋 6.4 → 15.3</a:t>
            </a:r>
          </a:p>
          <a:p>
            <a:r>
              <a:t>S6 僧帽筋上部 9.0 → 66.6</a:t>
            </a:r>
          </a:p>
          <a:p/>
          <a:p>
            <a:r>
              <a:t>【うまくいかなかったこと】最初は 5 本しか見つかりませんでした。基地局はペアになったセンサしか見つけず、6 本目はこの基地局とペアになっていませんでした。ほかの人の登録で番号もばらばら（0・1・3・16・17）だったので、シールの番号 1〜6 に登録し直しました。センサを充電台に載せたまま Enter を押し、すぐ外すとつながりました。研究室のほかの人の番号も変わっています。</a:t>
            </a:r>
          </a:p>
          <a:p/>
          <a:p>
            <a:r>
              <a:t>【50 Hz の判定】脱力の信号のうち、電源の雑音（50 Hz とその倍数）が占める割合。10-13 に浮いていたときは 97%。10-20 の S2 は 57% だったが、脱力が 2.3 μV と小さいだけで、曲げると 8 倍に上がった。判定の基準を 50% から 80% に上げた。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M1-6 への答えです。伸展は一人（H）で足りました。屈曲は確かめられませんでした。</a:t>
            </a:r>
          </a:p>
          <a:p/>
          <a:p>
            <a:r>
              <a:t>確認動作は、誰も押さえずに、自由に全力で曲げきる動きです。これが MVC の何 % になるかで、MVC の課題が全力を捉えているかを判断します。100% 以下なら足りています。疲れる前の最初に取ります。</a:t>
            </a:r>
          </a:p>
          <a:p/>
          <a:p>
            <a:r>
              <a:t>伸展（H）は、確認動作が H の MVC の 69% に収まりました。一人で全力を取れています。3 回の値は 44・47・46 μV で、ばらつきも小さいです。</a:t>
            </a:r>
          </a:p>
          <a:p/>
          <a:p>
            <a:r>
              <a:t>屈曲（机に押し下げる）は、確認動作が MVC の約 10% で、数字の上では基準を満たしました。ただし、確認動作で屈筋側は 5.4 μV しか上がっていません。手のひら下のまま曲げていて、手のひら下では重力で手が下がるので、屈筋をほとんど使いません。この確認動作では、屈曲の MVC が全力かは確かめられません。</a:t>
            </a:r>
          </a:p>
          <a:p/>
          <a:p>
            <a:r>
              <a:t>下の段が、その原因と直したことです。10-20 の画面の指示は「誰も押さえず、手首を全力で曲げきる」だけで、手の向きも姿勢の図もありませんでした。指示を読み切れず、手のひら下のまま曲げた可能性があります。そこで指示を「手のひら上。誰も押さえず、手首を上に全力で曲げきる」に直し、窓の左に姿勢の図を出すようにしました。M1-4 で直した窓と同じものです。来週、この指示で取り直します。</a:t>
            </a:r>
          </a:p>
          <a:p/>
          <a:p>
            <a:r>
              <a:t>本番の取り方は、手首の伸展・屈曲とも「上に全力で曲げ、人に押さえてもらう」としました。伸展は B（手のひら下・握る、こぶしを上から押さえてもらって上に反らす。10-06 で確認動作 56%）、屈曲は I（手のひら上・握る、押さえてもらって上に曲げる）。屈曲を下向きにすると重力が手伝うので、確認動作が成り立ちません。今回の一人のやり方は試すとき用です。</a:t>
            </a:r>
          </a:p>
          <a:p/>
          <a:p>
            <a:r>
              <a:t>【10-20 の数値（包絡線の 0.5 秒移動平均の最大、μV）】</a:t>
            </a:r>
          </a:p>
          <a:p>
            <a:r>
              <a:t>確認動作・伸展：S1 32.8、S2 6.0</a:t>
            </a:r>
          </a:p>
          <a:p>
            <a:r>
              <a:t>確認動作・屈曲（手のひら下）：S1 27.8、S2 5.4</a:t>
            </a:r>
          </a:p>
          <a:p>
            <a:r>
              <a:t>伸展 H × 3：S1 44.1・47.4・46.3</a:t>
            </a:r>
          </a:p>
          <a:p>
            <a:r>
              <a:t>屈曲（押し下げ）× 3：S2 48.6・44.7・55.6</a:t>
            </a:r>
          </a:p>
          <a:p>
            <a:r>
              <a:t>%MVC は 3 回の最大に対する割合（32.8 / 47.4 = 69%、5.4 / 55.6 = 10%）。</a:t>
            </a:r>
          </a:p>
          <a:p/>
          <a:p>
            <a:r>
              <a:t>【コードの場所】窓の指示は analysis/emgpipe/session.py の build_steps。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次やることです。</a:t>
            </a:r>
          </a:p>
          <a:p/>
          <a:p>
            <a:r>
              <a:t>M1-7 で、残り 4 か所の MVC を、一人でできるやり方で試します。lab にはもう入れてあります。図は記録中の窓に出す姿勢の図です。</a:t>
            </a:r>
          </a:p>
          <a:p/>
          <a:p>
            <a:r>
              <a:t>三角筋は、壁の横に立ち、腕を下ろしたまま肘の外側で壁を横に押します。二頭筋は、肘 90°・手のひら上で、天板の裏を持ち上げます。三頭筋は、肘 90°・こぶしの小指側を机に置いて押し下げます。僧帽筋は、座面の端を下から握り、肩をすくめます。</a:t>
            </a:r>
          </a:p>
          <a:p/>
          <a:p>
            <a:r>
              <a:t>同じ日に、M1-6 の手首の屈曲を、直した指示で取り直します。確認動作は手のひら上で上に曲げきる、課題は天板の裏を押し上げる、です。</a:t>
            </a:r>
          </a:p>
          <a:p/>
          <a:p>
            <a:r>
              <a:t>あわせて、直した窓（図・折り返し・休憩 10 秒）を実機で使って確かめます。</a:t>
            </a:r>
          </a:p>
          <a:p/>
          <a:p>
            <a:r>
              <a:t>【コードの場所】課題の説明は analysis/emgpipe/calibration.py の MVC_TASKS。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まとめです。</a:t>
            </a:r>
          </a:p>
          <a:p/>
          <a:p>
            <a:r>
              <a:t>大きな目標の M1 は、完了基準のうち「API で 1 回の来室で取りきる」「数分の記録」はできました。残りは前腕以外 4 か所の MVC と、手首の屈曲の確かめです。</a:t>
            </a:r>
          </a:p>
          <a:p/>
          <a:p>
            <a:r>
              <a:t>小さな目標は、M1-4 が済です。計測が最後まで通り、窓の使いにくさは直しました。実機での確認は来週です。M1-5 も済で、6 本・3 分で取りこぼしはありませんでした。M1-6 は、伸展は済（一人で 69%）、屈曲は指示を直したので来週取り直します。</a:t>
            </a:r>
          </a:p>
          <a:p/>
          <a:p>
            <a:r>
              <a:t>来週は、M1-6 の屈曲と M1-7 をやります。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（予備）10-20 の数値です。包絡線の 0.5 秒移動平均の最大で、単位は μV です。</a:t>
            </a:r>
          </a:p>
          <a:p/>
          <a:p>
            <a:r>
              <a:t>前腕以外（S3〜S6）の MVC は、手首の課題だけで取ったので、値は使いません。</a:t>
            </a:r>
          </a:p>
          <a:p/>
          <a:p>
            <a:r>
              <a:t>記録は data/raw/2026-10-20/ にあります（Git 管理外）。sites_identify.npz はもとの名前が check_sites で、確認動作（check_）として数えられてしまったので名前を変えました。センサと部位の対応は sensors.json にあります。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666875"/>
            <a:ext cx="7772400" cy="52387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3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エイムスキル学習支援の研究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543175"/>
            <a:ext cx="7772400" cy="28575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進捗報告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3128962"/>
            <a:ext cx="2009775" cy="0"/>
          </a:xfrm>
          <a:prstGeom prst="line">
            <a:avLst/>
          </a:prstGeom>
          <a:ln w="9525">
            <a:solidFill>
              <a:srgbClr val="C8C8C8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685800" y="3309938"/>
            <a:ext cx="7772400" cy="23812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12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2026年10月22日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2450" y="381000"/>
            <a:ext cx="7143750" cy="47625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マイルストーン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3375" y="476250"/>
            <a:ext cx="581025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00125" y="1762125"/>
            <a:ext cx="7086600" cy="0"/>
          </a:xfrm>
          <a:prstGeom prst="line">
            <a:avLst/>
          </a:prstGeom>
          <a:ln w="19050">
            <a:solidFill>
              <a:srgbClr val="C8C8C8"/>
            </a:solidFill>
          </a:ln>
        </p:spPr>
      </p:cxnSp>
      <p:sp>
        <p:nvSpPr>
          <p:cNvPr id="5" name="Rounded Rectangle 4"/>
          <p:cNvSpPr/>
          <p:nvPr/>
        </p:nvSpPr>
        <p:spPr>
          <a:xfrm>
            <a:off x="866775" y="162877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1F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66750" y="1047750"/>
            <a:ext cx="666750" cy="228600"/>
          </a:xfrm>
          <a:prstGeom prst="roundRect">
            <a:avLst>
              <a:gd name="adj" fmla="val 50000"/>
            </a:avLst>
          </a:prstGeom>
          <a:solidFill>
            <a:srgbClr val="1F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rIns="0" bIns="0" l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今ここ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438" y="1323975"/>
            <a:ext cx="1095375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1F6FB4"/>
                </a:solidFill>
                <a:latin typeface="Meiryo"/>
                <a:ea typeface="Meiryo"/>
                <a:cs typeface="Meiryo"/>
              </a:rPr>
              <a:t>M1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438" y="1981200"/>
            <a:ext cx="1095375" cy="47625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F6FB4"/>
                </a:solidFill>
                <a:latin typeface="Meiryo"/>
                <a:ea typeface="Meiryo"/>
                <a:cs typeface="Meiryo"/>
              </a:rPr>
              <a:t>計測系が回る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47875" y="162877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7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33538" y="1323975"/>
            <a:ext cx="1095375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M2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33538" y="1981200"/>
            <a:ext cx="1095375" cy="47625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エイム中の
差が見える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28975" y="162877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7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14638" y="1323975"/>
            <a:ext cx="1095375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M3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14638" y="1981200"/>
            <a:ext cx="1095375" cy="47625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日をまたいで
比べられる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10075" y="162877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7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95738" y="1323975"/>
            <a:ext cx="1095375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M4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95738" y="1981200"/>
            <a:ext cx="1095375" cy="47625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実験1 の
設計が決まる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91175" y="162877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7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76838" y="1323975"/>
            <a:ext cx="1095375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M5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76838" y="1981200"/>
            <a:ext cx="1095375" cy="47625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実験1 が
終わる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72275" y="162877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7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7938" y="1323975"/>
            <a:ext cx="1095375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M6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7938" y="1981200"/>
            <a:ext cx="1095375" cy="47625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修論の
下書き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3375" y="162877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7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39038" y="1323975"/>
            <a:ext cx="1095375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M7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39038" y="1981200"/>
            <a:ext cx="1095375" cy="47625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修論の提出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2450" y="2619375"/>
            <a:ext cx="7981950" cy="2000250"/>
          </a:xfrm>
          <a:prstGeom prst="roundRect">
            <a:avLst>
              <a:gd name="adj" fmla="val 2857"/>
            </a:avLst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2950" y="2724150"/>
            <a:ext cx="7600950" cy="23812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Meiryo"/>
                <a:ea typeface="Meiryo"/>
                <a:cs typeface="Meiryo"/>
              </a:rPr>
              <a:t>M1　計測系が回るの内訳（始まりから完了まで）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42950" y="3228975"/>
            <a:ext cx="3186793" cy="0"/>
          </a:xfrm>
          <a:prstGeom prst="line">
            <a:avLst/>
          </a:prstGeom>
          <a:ln w="14287">
            <a:solidFill>
              <a:srgbClr val="6B6B6B"/>
            </a:solidFill>
          </a:ln>
        </p:spPr>
      </p:cxnSp>
      <p:sp>
        <p:nvSpPr>
          <p:cNvPr id="30" name="TextBox 29"/>
          <p:cNvSpPr txBox="1"/>
          <p:nvPr/>
        </p:nvSpPr>
        <p:spPr>
          <a:xfrm>
            <a:off x="742950" y="3000375"/>
            <a:ext cx="3186793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先週まで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053568" y="3228975"/>
            <a:ext cx="3186793" cy="0"/>
          </a:xfrm>
          <a:prstGeom prst="line">
            <a:avLst/>
          </a:prstGeom>
          <a:ln w="14287">
            <a:solidFill>
              <a:srgbClr val="1F6FB4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4053568" y="3000375"/>
            <a:ext cx="3186793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F6FB4"/>
                </a:solidFill>
                <a:latin typeface="Meiryo"/>
                <a:ea typeface="Meiryo"/>
                <a:cs typeface="Meiryo"/>
              </a:rPr>
              <a:t>今週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2950" y="3333750"/>
            <a:ext cx="979714" cy="1095375"/>
          </a:xfrm>
          <a:prstGeom prst="roundRect">
            <a:avLst>
              <a:gd name="adj" fmla="val 5833"/>
            </a:avLst>
          </a:prstGeom>
          <a:solidFill>
            <a:srgbClr val="F4F4F4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85725" rIns="57150" bIns="66675" lIns="5715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825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M1-1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62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筋電を
MVC で正規化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2950" y="4181475"/>
            <a:ext cx="979714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済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732189" y="3881438"/>
            <a:ext cx="104775" cy="0"/>
          </a:xfrm>
          <a:prstGeom prst="line">
            <a:avLst/>
          </a:prstGeom>
          <a:ln w="14287">
            <a:solidFill>
              <a:srgbClr val="6B6B6B"/>
            </a:solidFill>
            <a:tailEnd type="triangle" w="med" len="med"/>
          </a:ln>
        </p:spPr>
      </p:cxnSp>
      <p:sp>
        <p:nvSpPr>
          <p:cNvPr id="36" name="Rounded Rectangle 35"/>
          <p:cNvSpPr/>
          <p:nvPr/>
        </p:nvSpPr>
        <p:spPr>
          <a:xfrm>
            <a:off x="1846489" y="3333750"/>
            <a:ext cx="979714" cy="1095375"/>
          </a:xfrm>
          <a:prstGeom prst="roundRect">
            <a:avLst>
              <a:gd name="adj" fmla="val 5833"/>
            </a:avLst>
          </a:prstGeom>
          <a:solidFill>
            <a:srgbClr val="F4F4F4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85725" rIns="57150" bIns="66675" lIns="5715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825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M1-2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62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伸展の MVC の
取り方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46489" y="4181475"/>
            <a:ext cx="979714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済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835729" y="3881438"/>
            <a:ext cx="104775" cy="0"/>
          </a:xfrm>
          <a:prstGeom prst="line">
            <a:avLst/>
          </a:prstGeom>
          <a:ln w="14287">
            <a:solidFill>
              <a:srgbClr val="6B6B6B"/>
            </a:solidFill>
            <a:tailEnd type="triangle" w="med" len="med"/>
          </a:ln>
        </p:spPr>
      </p:cxnSp>
      <p:sp>
        <p:nvSpPr>
          <p:cNvPr id="39" name="Rounded Rectangle 38"/>
          <p:cNvSpPr/>
          <p:nvPr/>
        </p:nvSpPr>
        <p:spPr>
          <a:xfrm>
            <a:off x="2950029" y="3333750"/>
            <a:ext cx="979714" cy="1095375"/>
          </a:xfrm>
          <a:prstGeom prst="roundRect">
            <a:avLst>
              <a:gd name="adj" fmla="val 5833"/>
            </a:avLst>
          </a:prstGeom>
          <a:solidFill>
            <a:srgbClr val="F4F4F4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85725" rIns="57150" bIns="66675" lIns="5715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825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M1-3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62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API で
記録する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50029" y="4181475"/>
            <a:ext cx="979714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済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939268" y="3881438"/>
            <a:ext cx="104775" cy="0"/>
          </a:xfrm>
          <a:prstGeom prst="line">
            <a:avLst/>
          </a:prstGeom>
          <a:ln w="14287">
            <a:solidFill>
              <a:srgbClr val="6B6B6B"/>
            </a:solidFill>
            <a:tailEnd type="triangle" w="med" len="med"/>
          </a:ln>
        </p:spPr>
      </p:cxnSp>
      <p:sp>
        <p:nvSpPr>
          <p:cNvPr id="42" name="Rounded Rectangle 41"/>
          <p:cNvSpPr/>
          <p:nvPr/>
        </p:nvSpPr>
        <p:spPr>
          <a:xfrm>
            <a:off x="4053568" y="3333750"/>
            <a:ext cx="979714" cy="1095375"/>
          </a:xfrm>
          <a:prstGeom prst="roundRect">
            <a:avLst>
              <a:gd name="adj" fmla="val 5833"/>
            </a:avLst>
          </a:prstGeom>
          <a:solidFill>
            <a:srgbClr val="1F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85725" rIns="57150" bIns="66675" lIns="5715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825" b="1">
                <a:solidFill>
                  <a:srgbClr val="D6E6F5"/>
                </a:solidFill>
                <a:latin typeface="Meiryo"/>
                <a:ea typeface="Meiryo"/>
                <a:cs typeface="Meiryo"/>
              </a:rPr>
              <a:t>M1-4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62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計測を
最後まで通す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53568" y="4181475"/>
            <a:ext cx="979714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D6E6F5"/>
                </a:solidFill>
                <a:latin typeface="Meiryo"/>
                <a:ea typeface="Meiryo"/>
                <a:cs typeface="Meiryo"/>
              </a:rPr>
              <a:t>済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042807" y="3881438"/>
            <a:ext cx="104775" cy="0"/>
          </a:xfrm>
          <a:prstGeom prst="line">
            <a:avLst/>
          </a:prstGeom>
          <a:ln w="14287">
            <a:solidFill>
              <a:srgbClr val="6B6B6B"/>
            </a:solidFill>
            <a:tailEnd type="triangle" w="med" len="med"/>
          </a:ln>
        </p:spPr>
      </p:cxnSp>
      <p:sp>
        <p:nvSpPr>
          <p:cNvPr id="45" name="Rounded Rectangle 44"/>
          <p:cNvSpPr/>
          <p:nvPr/>
        </p:nvSpPr>
        <p:spPr>
          <a:xfrm>
            <a:off x="5157107" y="3333750"/>
            <a:ext cx="979714" cy="1095375"/>
          </a:xfrm>
          <a:prstGeom prst="roundRect">
            <a:avLst>
              <a:gd name="adj" fmla="val 5833"/>
            </a:avLst>
          </a:prstGeom>
          <a:solidFill>
            <a:srgbClr val="1F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85725" rIns="57150" bIns="66675" lIns="5715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825" b="1">
                <a:solidFill>
                  <a:srgbClr val="D6E6F5"/>
                </a:solidFill>
                <a:latin typeface="Meiryo"/>
                <a:ea typeface="Meiryo"/>
                <a:cs typeface="Meiryo"/>
              </a:rPr>
              <a:t>M1-5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62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6 本・3 分の
記録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57107" y="4181475"/>
            <a:ext cx="979714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D6E6F5"/>
                </a:solidFill>
                <a:latin typeface="Meiryo"/>
                <a:ea typeface="Meiryo"/>
                <a:cs typeface="Meiryo"/>
              </a:rPr>
              <a:t>済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146346" y="3881438"/>
            <a:ext cx="104775" cy="0"/>
          </a:xfrm>
          <a:prstGeom prst="line">
            <a:avLst/>
          </a:prstGeom>
          <a:ln w="14287">
            <a:solidFill>
              <a:srgbClr val="6B6B6B"/>
            </a:solidFill>
            <a:tailEnd type="triangle" w="med" len="med"/>
          </a:ln>
        </p:spPr>
      </p:cxnSp>
      <p:sp>
        <p:nvSpPr>
          <p:cNvPr id="48" name="Rounded Rectangle 47"/>
          <p:cNvSpPr/>
          <p:nvPr/>
        </p:nvSpPr>
        <p:spPr>
          <a:xfrm>
            <a:off x="6260646" y="3333750"/>
            <a:ext cx="979714" cy="1095375"/>
          </a:xfrm>
          <a:prstGeom prst="roundRect">
            <a:avLst>
              <a:gd name="adj" fmla="val 5833"/>
            </a:avLst>
          </a:prstGeom>
          <a:solidFill>
            <a:srgbClr val="E8F0F8"/>
          </a:solidFill>
          <a:ln w="9525">
            <a:solidFill>
              <a:srgbClr val="1F6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85725" rIns="57150" bIns="66675" lIns="5715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825" b="1">
                <a:solidFill>
                  <a:srgbClr val="1F6FB4"/>
                </a:solidFill>
                <a:latin typeface="Meiryo"/>
                <a:ea typeface="Meiryo"/>
                <a:cs typeface="Meiryo"/>
              </a:rPr>
              <a:t>M1-6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62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前腕の MVC が
足りている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0646" y="4181475"/>
            <a:ext cx="979714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F6FB4"/>
                </a:solidFill>
                <a:latin typeface="Meiryo"/>
                <a:ea typeface="Meiryo"/>
                <a:cs typeface="Meiryo"/>
              </a:rPr>
              <a:t>一部済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249886" y="3881438"/>
            <a:ext cx="104775" cy="0"/>
          </a:xfrm>
          <a:prstGeom prst="line">
            <a:avLst/>
          </a:prstGeom>
          <a:ln w="14287">
            <a:solidFill>
              <a:srgbClr val="6B6B6B"/>
            </a:solidFill>
            <a:tailEnd type="triangle" w="med" len="med"/>
          </a:ln>
        </p:spPr>
      </p:cxnSp>
      <p:sp>
        <p:nvSpPr>
          <p:cNvPr id="51" name="Rounded Rectangle 50"/>
          <p:cNvSpPr/>
          <p:nvPr/>
        </p:nvSpPr>
        <p:spPr>
          <a:xfrm>
            <a:off x="7364186" y="3333750"/>
            <a:ext cx="979714" cy="1095375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85725" rIns="57150" bIns="66675" lIns="5715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825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M1-7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62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残り 4 か所の
MVC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64186" y="4181475"/>
            <a:ext cx="979714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これから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2450" y="381000"/>
            <a:ext cx="7143750" cy="47625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今週の目標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3375" y="476250"/>
            <a:ext cx="581025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52450" y="1095375"/>
            <a:ext cx="3619500" cy="2381250"/>
          </a:xfrm>
          <a:prstGeom prst="roundRect">
            <a:avLst>
              <a:gd name="adj" fmla="val 32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1450" rIns="190500" bIns="171450" lIns="19050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75"/>
              </a:spcAft>
            </a:pPr>
            <a:r>
              <a:rPr sz="1050" b="1">
                <a:solidFill>
                  <a:srgbClr val="BFD6EE"/>
                </a:solidFill>
                <a:latin typeface="Meiryo"/>
                <a:ea typeface="Meiryo"/>
                <a:cs typeface="Meiryo"/>
              </a:rPr>
              <a:t>大きな目標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M1：計測系が回る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25"/>
              </a:spcAft>
            </a:pPr>
            <a:r>
              <a:rPr sz="900" b="1">
                <a:solidFill>
                  <a:srgbClr val="BFD6EE"/>
                </a:solidFill>
                <a:latin typeface="Meiryo"/>
                <a:ea typeface="Meiryo"/>
                <a:cs typeface="Meiryo"/>
              </a:rPr>
              <a:t>完了基準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6 か所の MVC と数分の記録を、API で、研究室に 1 回来るだけで取りきれる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4267200" y="2286000"/>
            <a:ext cx="552450" cy="0"/>
          </a:xfrm>
          <a:prstGeom prst="line">
            <a:avLst/>
          </a:prstGeom>
          <a:ln w="28575">
            <a:solidFill>
              <a:srgbClr val="1F6FB4"/>
            </a:solidFill>
            <a:tailEnd type="triangle" w="med" len="med"/>
          </a:ln>
        </p:spPr>
      </p:cxnSp>
      <p:sp>
        <p:nvSpPr>
          <p:cNvPr id="6" name="TextBox 5"/>
          <p:cNvSpPr txBox="1"/>
          <p:nvPr/>
        </p:nvSpPr>
        <p:spPr>
          <a:xfrm>
            <a:off x="4191000" y="2000250"/>
            <a:ext cx="723900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F6FB4"/>
                </a:solidFill>
                <a:latin typeface="Meiryo"/>
                <a:ea typeface="Meiryo"/>
                <a:cs typeface="Meiryo"/>
              </a:rPr>
              <a:t>そのために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14900" y="1095375"/>
            <a:ext cx="3619500" cy="2381250"/>
          </a:xfrm>
          <a:prstGeom prst="roundRect">
            <a:avLst>
              <a:gd name="adj" fmla="val 3200"/>
            </a:avLst>
          </a:prstGeom>
          <a:solidFill>
            <a:srgbClr val="E8F0F8"/>
          </a:solidFill>
          <a:ln w="14287">
            <a:solidFill>
              <a:srgbClr val="1F6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05400" y="1247775"/>
            <a:ext cx="3238500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F6FB4"/>
                </a:solidFill>
                <a:latin typeface="Meiryo"/>
                <a:ea typeface="Meiryo"/>
                <a:cs typeface="Meiryo"/>
              </a:rPr>
              <a:t>小さな目標（M1 の内訳から）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05400" y="1552575"/>
            <a:ext cx="3238500" cy="571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25"/>
              </a:spcAft>
            </a:pPr>
            <a:r>
              <a:rPr sz="1125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M1-4　</a:t>
            </a:r>
            <a:r>
              <a:rPr sz="135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計測を最後まで通す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準備から記録まで、コマンド 1 つで流す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105400" y="2124075"/>
            <a:ext cx="3238500" cy="0"/>
          </a:xfrm>
          <a:prstGeom prst="line">
            <a:avLst/>
          </a:prstGeom>
          <a:ln w="7143">
            <a:solidFill>
              <a:srgbClr val="BFD6EE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5105400" y="2181225"/>
            <a:ext cx="3238500" cy="571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25"/>
              </a:spcAft>
            </a:pPr>
            <a:r>
              <a:rPr sz="1125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M1-5　</a:t>
            </a:r>
            <a:r>
              <a:rPr sz="135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6 本・3 分の記録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センサ 6 本を同時に、取りこぼしなく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105400" y="2752725"/>
            <a:ext cx="3238500" cy="0"/>
          </a:xfrm>
          <a:prstGeom prst="line">
            <a:avLst/>
          </a:prstGeom>
          <a:ln w="7143">
            <a:solidFill>
              <a:srgbClr val="BFD6EE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5105400" y="2809875"/>
            <a:ext cx="3238500" cy="571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25"/>
              </a:spcAft>
            </a:pPr>
            <a:r>
              <a:rPr sz="1125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M1-6　</a:t>
            </a:r>
            <a:r>
              <a:rPr sz="135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前腕の MVC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手首の伸展・屈曲の MVC を一人で取る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2450" y="3619500"/>
            <a:ext cx="7981950" cy="3810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MVC：全力で力を入れたときの筋電。これを 100% として、ほかの記録を割合（%MVC）で表す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2450" y="381000"/>
            <a:ext cx="7143750" cy="47625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やったこと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3375" y="476250"/>
            <a:ext cx="581025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047750"/>
            <a:ext cx="7962900" cy="142875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42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・修論までのマイルストーンと、M1 の内訳を作った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42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・研究室での計測を、コマンド 1 つで流せるようにした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42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・センサ 6 本を、シールの番号 1〜6 で基地局に登録し直した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42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・研究室で一人で記録し（10-20）、MVC の取り方を決めた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2450" y="2609850"/>
            <a:ext cx="7981950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コマンド 1 つで流れる計測（記録中の窓に指示が出て、クリックで進む）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2450" y="2857500"/>
            <a:ext cx="1190625" cy="857250"/>
          </a:xfrm>
          <a:prstGeom prst="roundRect">
            <a:avLst>
              <a:gd name="adj" fmla="val 6666"/>
            </a:avLst>
          </a:prstGeom>
          <a:solidFill>
            <a:srgbClr val="F4F4F4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rIns="57150" bIns="76200" lIns="5715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25"/>
              </a:spcAft>
            </a:pPr>
            <a:r>
              <a:rPr sz="825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1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センサの
確認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62125" y="3286125"/>
            <a:ext cx="128587" cy="0"/>
          </a:xfrm>
          <a:prstGeom prst="line">
            <a:avLst/>
          </a:prstGeom>
          <a:ln w="19050">
            <a:solidFill>
              <a:srgbClr val="6B6B6B"/>
            </a:solidFill>
            <a:tailEnd type="triangle" w="med" len="med"/>
          </a:ln>
        </p:spPr>
      </p:cxnSp>
      <p:sp>
        <p:nvSpPr>
          <p:cNvPr id="8" name="Rounded Rectangle 7"/>
          <p:cNvSpPr/>
          <p:nvPr/>
        </p:nvSpPr>
        <p:spPr>
          <a:xfrm>
            <a:off x="1909762" y="2857500"/>
            <a:ext cx="1190625" cy="857250"/>
          </a:xfrm>
          <a:prstGeom prst="roundRect">
            <a:avLst>
              <a:gd name="adj" fmla="val 6666"/>
            </a:avLst>
          </a:prstGeom>
          <a:solidFill>
            <a:srgbClr val="F4F4F4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rIns="57150" bIns="76200" lIns="5715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25"/>
              </a:spcAft>
            </a:pPr>
            <a:r>
              <a:rPr sz="825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2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安静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19438" y="3286125"/>
            <a:ext cx="128587" cy="0"/>
          </a:xfrm>
          <a:prstGeom prst="line">
            <a:avLst/>
          </a:prstGeom>
          <a:ln w="19050">
            <a:solidFill>
              <a:srgbClr val="6B6B6B"/>
            </a:solidFill>
            <a:tailEnd type="triangle" w="med" len="med"/>
          </a:ln>
        </p:spPr>
      </p:cxnSp>
      <p:sp>
        <p:nvSpPr>
          <p:cNvPr id="10" name="Rounded Rectangle 9"/>
          <p:cNvSpPr/>
          <p:nvPr/>
        </p:nvSpPr>
        <p:spPr>
          <a:xfrm>
            <a:off x="3267075" y="2857500"/>
            <a:ext cx="1190625" cy="857250"/>
          </a:xfrm>
          <a:prstGeom prst="roundRect">
            <a:avLst>
              <a:gd name="adj" fmla="val 6666"/>
            </a:avLst>
          </a:prstGeom>
          <a:solidFill>
            <a:srgbClr val="E8F0F8"/>
          </a:solidFill>
          <a:ln w="9525">
            <a:solidFill>
              <a:srgbClr val="1F6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rIns="57150" bIns="76200" lIns="5715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25"/>
              </a:spcAft>
            </a:pPr>
            <a:r>
              <a:rPr sz="825" b="1">
                <a:solidFill>
                  <a:srgbClr val="1F6FB4"/>
                </a:solidFill>
                <a:latin typeface="Meiryo"/>
                <a:ea typeface="Meiryo"/>
                <a:cs typeface="Meiryo"/>
              </a:rPr>
              <a:t>3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確認動作
（自由に全力）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476750" y="3286125"/>
            <a:ext cx="128588" cy="0"/>
          </a:xfrm>
          <a:prstGeom prst="line">
            <a:avLst/>
          </a:prstGeom>
          <a:ln w="19050">
            <a:solidFill>
              <a:srgbClr val="6B6B6B"/>
            </a:solidFill>
            <a:tailEnd type="triangle" w="med" len="med"/>
          </a:ln>
        </p:spPr>
      </p:cxnSp>
      <p:sp>
        <p:nvSpPr>
          <p:cNvPr id="12" name="Rounded Rectangle 11"/>
          <p:cNvSpPr/>
          <p:nvPr/>
        </p:nvSpPr>
        <p:spPr>
          <a:xfrm>
            <a:off x="4624388" y="2857500"/>
            <a:ext cx="1190625" cy="857250"/>
          </a:xfrm>
          <a:prstGeom prst="roundRect">
            <a:avLst>
              <a:gd name="adj" fmla="val 6666"/>
            </a:avLst>
          </a:prstGeom>
          <a:solidFill>
            <a:srgbClr val="E8F0F8"/>
          </a:solidFill>
          <a:ln w="9525">
            <a:solidFill>
              <a:srgbClr val="1F6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rIns="57150" bIns="76200" lIns="5715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25"/>
              </a:spcAft>
            </a:pPr>
            <a:r>
              <a:rPr sz="825" b="1">
                <a:solidFill>
                  <a:srgbClr val="1F6FB4"/>
                </a:solidFill>
                <a:latin typeface="Meiryo"/>
                <a:ea typeface="Meiryo"/>
                <a:cs typeface="Meiryo"/>
              </a:rPr>
              <a:t>4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MVC
（押さえて全力）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34062" y="3286125"/>
            <a:ext cx="128588" cy="0"/>
          </a:xfrm>
          <a:prstGeom prst="line">
            <a:avLst/>
          </a:prstGeom>
          <a:ln w="19050">
            <a:solidFill>
              <a:srgbClr val="6B6B6B"/>
            </a:solidFill>
            <a:tailEnd type="triangle" w="med" len="med"/>
          </a:ln>
        </p:spPr>
      </p:cxnSp>
      <p:sp>
        <p:nvSpPr>
          <p:cNvPr id="14" name="Rounded Rectangle 13"/>
          <p:cNvSpPr/>
          <p:nvPr/>
        </p:nvSpPr>
        <p:spPr>
          <a:xfrm>
            <a:off x="5981700" y="2857500"/>
            <a:ext cx="1190625" cy="857250"/>
          </a:xfrm>
          <a:prstGeom prst="roundRect">
            <a:avLst>
              <a:gd name="adj" fmla="val 6666"/>
            </a:avLst>
          </a:prstGeom>
          <a:solidFill>
            <a:srgbClr val="F4F4F4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rIns="57150" bIns="76200" lIns="5715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25"/>
              </a:spcAft>
            </a:pPr>
            <a:r>
              <a:rPr sz="825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5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3 分の
記録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91375" y="3286125"/>
            <a:ext cx="128587" cy="0"/>
          </a:xfrm>
          <a:prstGeom prst="line">
            <a:avLst/>
          </a:prstGeom>
          <a:ln w="19050">
            <a:solidFill>
              <a:srgbClr val="6B6B6B"/>
            </a:solidFill>
            <a:tailEnd type="triangle" w="med" len="med"/>
          </a:ln>
        </p:spPr>
      </p:cxnSp>
      <p:sp>
        <p:nvSpPr>
          <p:cNvPr id="16" name="Rounded Rectangle 15"/>
          <p:cNvSpPr/>
          <p:nvPr/>
        </p:nvSpPr>
        <p:spPr>
          <a:xfrm>
            <a:off x="7339012" y="2857500"/>
            <a:ext cx="1190625" cy="857250"/>
          </a:xfrm>
          <a:prstGeom prst="roundRect">
            <a:avLst>
              <a:gd name="adj" fmla="val 6666"/>
            </a:avLst>
          </a:prstGeom>
          <a:solidFill>
            <a:srgbClr val="F4F4F4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rIns="57150" bIns="76200" lIns="5715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25"/>
              </a:spcAft>
            </a:pPr>
            <a:r>
              <a:rPr sz="825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6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MVC を
比べる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2450" y="381000"/>
            <a:ext cx="7143750" cy="47625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M1-4：計測が最後まで止まらず通った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3375" y="476250"/>
            <a:ext cx="581025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000125"/>
            <a:ext cx="7962900" cy="3810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</a:pPr>
            <a:r>
              <a:rPr sz="142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・センサの確認から 3 分の記録まで、11 ステップ・約 15 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2450" y="1524000"/>
            <a:ext cx="3619500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記録中の窓で困ったこと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0" y="1524000"/>
            <a:ext cx="3771900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1F6FB4"/>
                </a:solidFill>
                <a:latin typeface="Meiryo"/>
                <a:ea typeface="Meiryo"/>
                <a:cs typeface="Meiryo"/>
              </a:rPr>
              <a:t>直したこと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2450" y="1762125"/>
            <a:ext cx="3619500" cy="523875"/>
          </a:xfrm>
          <a:prstGeom prst="roundRect">
            <a:avLst>
              <a:gd name="adj" fmla="val 10909"/>
            </a:avLst>
          </a:prstGeom>
          <a:solidFill>
            <a:srgbClr val="F4F4F4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rIns="133350" bIns="0" lIns="13335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指示の文字が、窓からあふれて読めない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267200" y="2024062"/>
            <a:ext cx="400050" cy="0"/>
          </a:xfrm>
          <a:prstGeom prst="line">
            <a:avLst/>
          </a:prstGeom>
          <a:ln w="19050">
            <a:solidFill>
              <a:srgbClr val="6B6B6B"/>
            </a:solidFill>
            <a:tailEnd type="triangle" w="med" len="med"/>
          </a:ln>
        </p:spPr>
      </p:cxnSp>
      <p:sp>
        <p:nvSpPr>
          <p:cNvPr id="9" name="Rounded Rectangle 8"/>
          <p:cNvSpPr/>
          <p:nvPr/>
        </p:nvSpPr>
        <p:spPr>
          <a:xfrm>
            <a:off x="4762500" y="1762125"/>
            <a:ext cx="3771900" cy="523875"/>
          </a:xfrm>
          <a:prstGeom prst="roundRect">
            <a:avLst>
              <a:gd name="adj" fmla="val 10909"/>
            </a:avLst>
          </a:prstGeom>
          <a:solidFill>
            <a:srgbClr val="E8F0F8"/>
          </a:solidFill>
          <a:ln w="9525">
            <a:solidFill>
              <a:srgbClr val="1F6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rIns="133350" bIns="0" lIns="13335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文字を折り返し、見出しと分けた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2450" y="2428875"/>
            <a:ext cx="3619500" cy="523875"/>
          </a:xfrm>
          <a:prstGeom prst="roundRect">
            <a:avLst>
              <a:gd name="adj" fmla="val 10909"/>
            </a:avLst>
          </a:prstGeom>
          <a:solidFill>
            <a:srgbClr val="F4F4F4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rIns="133350" bIns="0" lIns="13335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課題ごとの休憩 60 秒が長い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67200" y="2690812"/>
            <a:ext cx="400050" cy="0"/>
          </a:xfrm>
          <a:prstGeom prst="line">
            <a:avLst/>
          </a:prstGeom>
          <a:ln w="19050">
            <a:solidFill>
              <a:srgbClr val="6B6B6B"/>
            </a:solidFill>
            <a:tailEnd type="triangle" w="med" len="med"/>
          </a:ln>
        </p:spPr>
      </p:cxnSp>
      <p:sp>
        <p:nvSpPr>
          <p:cNvPr id="12" name="Rounded Rectangle 11"/>
          <p:cNvSpPr/>
          <p:nvPr/>
        </p:nvSpPr>
        <p:spPr>
          <a:xfrm>
            <a:off x="4762500" y="2428875"/>
            <a:ext cx="3771900" cy="523875"/>
          </a:xfrm>
          <a:prstGeom prst="roundRect">
            <a:avLst>
              <a:gd name="adj" fmla="val 10909"/>
            </a:avLst>
          </a:prstGeom>
          <a:solidFill>
            <a:srgbClr val="E8F0F8"/>
          </a:solidFill>
          <a:ln w="9525">
            <a:solidFill>
              <a:srgbClr val="1F6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rIns="133350" bIns="0" lIns="13335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課題を 1 周ずつ回し、休憩を 10 秒に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2450" y="3095625"/>
            <a:ext cx="3619500" cy="523875"/>
          </a:xfrm>
          <a:prstGeom prst="roundRect">
            <a:avLst>
              <a:gd name="adj" fmla="val 10909"/>
            </a:avLst>
          </a:prstGeom>
          <a:solidFill>
            <a:srgbClr val="F4F4F4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rIns="133350" bIns="0" lIns="13335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どの姿勢で力を入れるか、文字では分からない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267200" y="3357562"/>
            <a:ext cx="400050" cy="0"/>
          </a:xfrm>
          <a:prstGeom prst="line">
            <a:avLst/>
          </a:prstGeom>
          <a:ln w="19050">
            <a:solidFill>
              <a:srgbClr val="6B6B6B"/>
            </a:solidFill>
            <a:tailEnd type="triangle" w="med" len="med"/>
          </a:ln>
        </p:spPr>
      </p:cxnSp>
      <p:sp>
        <p:nvSpPr>
          <p:cNvPr id="15" name="Rounded Rectangle 14"/>
          <p:cNvSpPr/>
          <p:nvPr/>
        </p:nvSpPr>
        <p:spPr>
          <a:xfrm>
            <a:off x="4762500" y="3095625"/>
            <a:ext cx="3771900" cy="523875"/>
          </a:xfrm>
          <a:prstGeom prst="roundRect">
            <a:avLst>
              <a:gd name="adj" fmla="val 10909"/>
            </a:avLst>
          </a:prstGeom>
          <a:solidFill>
            <a:srgbClr val="E8F0F8"/>
          </a:solidFill>
          <a:ln w="9525">
            <a:solidFill>
              <a:srgbClr val="1F6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rIns="133350" bIns="0" lIns="13335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窓の左に姿勢の図を出した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66738" y="3914775"/>
            <a:ext cx="7967662" cy="0"/>
          </a:xfrm>
          <a:prstGeom prst="line">
            <a:avLst/>
          </a:prstGeom>
          <a:ln w="9525">
            <a:solidFill>
              <a:srgbClr val="C8C8C8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566738" y="4095750"/>
            <a:ext cx="7967662" cy="33337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1F6FB4"/>
                </a:solidFill>
                <a:latin typeface="Meiryo"/>
                <a:ea typeface="Meiryo"/>
                <a:cs typeface="Meiryo"/>
              </a:rPr>
              <a:t>計測は通る。直した窓は来週、実機で確かめる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2450" y="381000"/>
            <a:ext cx="7143750" cy="47625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M1-5：6 本・3 分を取りこぼしなく記録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3375" y="476250"/>
            <a:ext cx="581025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952500"/>
            <a:ext cx="7962900" cy="3810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</a:pPr>
            <a:r>
              <a:rPr sz="142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・3 分の記録で、6 本とも 3 分 × 2148 Hz とちょうど同じ数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2450" y="1381125"/>
            <a:ext cx="5238750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部位の確認（包絡線の平均、μV）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2952750" y="1419225"/>
            <a:ext cx="133350" cy="9525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24200" y="1381125"/>
            <a:ext cx="571500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脱力</a:t>
            </a:r>
          </a:p>
        </p:txBody>
      </p:sp>
      <p:sp>
        <p:nvSpPr>
          <p:cNvPr id="8" name="Rectangle 7"/>
          <p:cNvSpPr/>
          <p:nvPr/>
        </p:nvSpPr>
        <p:spPr>
          <a:xfrm>
            <a:off x="3619500" y="1419225"/>
            <a:ext cx="133350" cy="95250"/>
          </a:xfrm>
          <a:prstGeom prst="rect">
            <a:avLst/>
          </a:prstGeom>
          <a:solidFill>
            <a:srgbClr val="1F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0950" y="1381125"/>
            <a:ext cx="1905000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貼った部位を動かす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2450" y="1619250"/>
            <a:ext cx="1238250" cy="36195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S1 </a:t>
            </a:r>
            <a:r>
              <a:rPr sz="9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前腕の上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09750" y="1676400"/>
            <a:ext cx="167640" cy="104775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09750" y="1800225"/>
            <a:ext cx="859155" cy="123825"/>
          </a:xfrm>
          <a:prstGeom prst="rect">
            <a:avLst/>
          </a:prstGeom>
          <a:solidFill>
            <a:srgbClr val="1F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26055" y="1762125"/>
            <a:ext cx="762000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>
                <a:solidFill>
                  <a:srgbClr val="1F6FB4"/>
                </a:solidFill>
                <a:latin typeface="Meiryo"/>
                <a:ea typeface="Meiryo"/>
                <a:cs typeface="Meiryo"/>
              </a:rPr>
              <a:t>16.4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2450" y="1981200"/>
            <a:ext cx="1238250" cy="36195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S2 </a:t>
            </a:r>
            <a:r>
              <a:rPr sz="9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前腕の下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9750" y="2038350"/>
            <a:ext cx="120491" cy="104775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09750" y="2162175"/>
            <a:ext cx="1026795" cy="123825"/>
          </a:xfrm>
          <a:prstGeom prst="rect">
            <a:avLst/>
          </a:prstGeom>
          <a:solidFill>
            <a:srgbClr val="1F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93695" y="2124075"/>
            <a:ext cx="762000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>
                <a:solidFill>
                  <a:srgbClr val="1F6FB4"/>
                </a:solidFill>
                <a:latin typeface="Meiryo"/>
                <a:ea typeface="Meiryo"/>
                <a:cs typeface="Meiryo"/>
              </a:rPr>
              <a:t>19.6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2450" y="2343150"/>
            <a:ext cx="1238250" cy="36195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S3 </a:t>
            </a:r>
            <a:r>
              <a:rPr sz="9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三角筋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09750" y="2400300"/>
            <a:ext cx="104775" cy="104775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09750" y="2524125"/>
            <a:ext cx="555308" cy="123825"/>
          </a:xfrm>
          <a:prstGeom prst="rect">
            <a:avLst/>
          </a:prstGeom>
          <a:solidFill>
            <a:srgbClr val="1F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22208" y="2486025"/>
            <a:ext cx="762000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>
                <a:solidFill>
                  <a:srgbClr val="1F6FB4"/>
                </a:solidFill>
                <a:latin typeface="Meiryo"/>
                <a:ea typeface="Meiryo"/>
                <a:cs typeface="Meiryo"/>
              </a:rPr>
              <a:t>10.6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2450" y="2705100"/>
            <a:ext cx="1238250" cy="36195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S4 </a:t>
            </a:r>
            <a:r>
              <a:rPr sz="9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二頭筋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09750" y="2762250"/>
            <a:ext cx="104775" cy="104775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809750" y="2886075"/>
            <a:ext cx="759619" cy="123825"/>
          </a:xfrm>
          <a:prstGeom prst="rect">
            <a:avLst/>
          </a:prstGeom>
          <a:solidFill>
            <a:srgbClr val="1F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26519" y="2847975"/>
            <a:ext cx="762000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>
                <a:solidFill>
                  <a:srgbClr val="1F6FB4"/>
                </a:solidFill>
                <a:latin typeface="Meiryo"/>
                <a:ea typeface="Meiryo"/>
                <a:cs typeface="Meiryo"/>
              </a:rPr>
              <a:t>14.5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2450" y="3067050"/>
            <a:ext cx="1238250" cy="36195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S5 </a:t>
            </a:r>
            <a:r>
              <a:rPr sz="9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三頭筋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09750" y="3124200"/>
            <a:ext cx="335280" cy="104775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809750" y="3248025"/>
            <a:ext cx="801529" cy="123825"/>
          </a:xfrm>
          <a:prstGeom prst="rect">
            <a:avLst/>
          </a:prstGeom>
          <a:solidFill>
            <a:srgbClr val="1F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68429" y="3209925"/>
            <a:ext cx="762000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>
                <a:solidFill>
                  <a:srgbClr val="1F6FB4"/>
                </a:solidFill>
                <a:latin typeface="Meiryo"/>
                <a:ea typeface="Meiryo"/>
                <a:cs typeface="Meiryo"/>
              </a:rPr>
              <a:t>15.3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2450" y="3429000"/>
            <a:ext cx="1238250" cy="36195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S6 </a:t>
            </a:r>
            <a:r>
              <a:rPr sz="9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僧帽筋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09750" y="3486150"/>
            <a:ext cx="471488" cy="104775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809750" y="3609975"/>
            <a:ext cx="3489007" cy="123825"/>
          </a:xfrm>
          <a:prstGeom prst="rect">
            <a:avLst/>
          </a:prstGeom>
          <a:solidFill>
            <a:srgbClr val="1F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55907" y="3571875"/>
            <a:ext cx="762000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>
                <a:solidFill>
                  <a:srgbClr val="1F6FB4"/>
                </a:solidFill>
                <a:latin typeface="Meiryo"/>
                <a:ea typeface="Meiryo"/>
                <a:cs typeface="Meiryo"/>
              </a:rPr>
              <a:t>66.6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809750" y="1600200"/>
            <a:ext cx="0" cy="2190750"/>
          </a:xfrm>
          <a:prstGeom prst="line">
            <a:avLst/>
          </a:prstGeom>
          <a:ln w="7143">
            <a:solidFill>
              <a:srgbClr val="6B6B6B"/>
            </a:solidFill>
          </a:ln>
        </p:spPr>
      </p:cxnSp>
      <p:sp>
        <p:nvSpPr>
          <p:cNvPr id="35" name="Rounded Rectangle 34"/>
          <p:cNvSpPr/>
          <p:nvPr/>
        </p:nvSpPr>
        <p:spPr>
          <a:xfrm>
            <a:off x="6143625" y="1619250"/>
            <a:ext cx="2390775" cy="714375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14300" rIns="133350" bIns="114300" lIns="13335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3 分の記録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F6FB4"/>
                </a:solidFill>
                <a:latin typeface="Meiryo"/>
                <a:ea typeface="Meiryo"/>
                <a:cs typeface="Meiryo"/>
              </a:rPr>
              <a:t>386,667 サンプル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6 本とも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43625" y="2428875"/>
            <a:ext cx="2390775" cy="1381125"/>
          </a:xfrm>
          <a:prstGeom prst="roundRect">
            <a:avLst>
              <a:gd name="adj" fmla="val 4137"/>
            </a:avLst>
          </a:prstGeom>
          <a:solidFill>
            <a:srgbClr val="FFFFFF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14300" rIns="133350" bIns="114300" lIns="13335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9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最初は 5 本だけ見つかった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6 本目がこの基地局に登録されていなかった。シールの番号 1〜6 で登録し直した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66738" y="3914775"/>
            <a:ext cx="7967662" cy="0"/>
          </a:xfrm>
          <a:prstGeom prst="line">
            <a:avLst/>
          </a:prstGeom>
          <a:ln w="9525">
            <a:solidFill>
              <a:srgbClr val="C8C8C8"/>
            </a:solidFill>
          </a:ln>
        </p:spPr>
      </p:cxnSp>
      <p:sp>
        <p:nvSpPr>
          <p:cNvPr id="38" name="TextBox 37"/>
          <p:cNvSpPr txBox="1"/>
          <p:nvPr/>
        </p:nvSpPr>
        <p:spPr>
          <a:xfrm>
            <a:off x="566738" y="4095750"/>
            <a:ext cx="7967662" cy="33337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1F6FB4"/>
                </a:solidFill>
                <a:latin typeface="Meiryo"/>
                <a:ea typeface="Meiryo"/>
                <a:cs typeface="Meiryo"/>
              </a:rPr>
              <a:t>6 本とも、貼った部位の動きでいちばん大きく反応した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2450" y="381000"/>
            <a:ext cx="7143750" cy="47625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M1-6：伸展は足りた。屈曲は取り直す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3375" y="476250"/>
            <a:ext cx="581025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2450" y="933450"/>
            <a:ext cx="7981950" cy="23812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確認動作（誰も押さえず、自由に全力）が MVC の 100% 以下なら、MVC は全力を取れている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2450" y="1190625"/>
            <a:ext cx="3905250" cy="1428750"/>
          </a:xfrm>
          <a:prstGeom prst="roundRect">
            <a:avLst>
              <a:gd name="adj" fmla="val 5333"/>
            </a:avLst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850" y="1266825"/>
            <a:ext cx="3619500" cy="20955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F4E79"/>
                </a:solidFill>
                <a:latin typeface="Meiryo"/>
                <a:ea typeface="Meiryo"/>
                <a:cs typeface="Meiryo"/>
              </a:rPr>
              <a:t>伸展（一人：天板の裏を押し上げる）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850" y="1495425"/>
            <a:ext cx="1905000" cy="14287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確認動作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850" y="1647825"/>
            <a:ext cx="1562100" cy="161925"/>
          </a:xfrm>
          <a:prstGeom prst="rect">
            <a:avLst/>
          </a:prstGeom>
          <a:solidFill>
            <a:srgbClr val="FFFFFF"/>
          </a:solidFill>
          <a:ln w="9525">
            <a:solidFill>
              <a:srgbClr val="1F6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24100" y="1647825"/>
            <a:ext cx="762000" cy="161925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>
                <a:solidFill>
                  <a:srgbClr val="1F4E79"/>
                </a:solidFill>
                <a:latin typeface="Meiryo"/>
                <a:ea typeface="Meiryo"/>
                <a:cs typeface="Meiryo"/>
              </a:rPr>
              <a:t>32.8 μV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850" y="1847850"/>
            <a:ext cx="1905000" cy="14287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MVC（3 回の最大）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850" y="2000250"/>
            <a:ext cx="2257425" cy="161925"/>
          </a:xfrm>
          <a:prstGeom prst="rect">
            <a:avLst/>
          </a:prstGeom>
          <a:solidFill>
            <a:srgbClr val="1F6FB4"/>
          </a:solidFill>
          <a:ln w="9525">
            <a:solidFill>
              <a:srgbClr val="1F6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9425" y="2000250"/>
            <a:ext cx="762000" cy="161925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>
                <a:solidFill>
                  <a:srgbClr val="1F4E79"/>
                </a:solidFill>
                <a:latin typeface="Meiryo"/>
                <a:ea typeface="Meiryo"/>
                <a:cs typeface="Meiryo"/>
              </a:rPr>
              <a:t>47.4 μV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850" y="2238375"/>
            <a:ext cx="3619500" cy="30480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確認動作 = MVC の </a:t>
            </a:r>
            <a:r>
              <a:rPr sz="1650" b="1">
                <a:solidFill>
                  <a:srgbClr val="1F4E79"/>
                </a:solidFill>
                <a:latin typeface="Meiryo"/>
                <a:ea typeface="Meiryo"/>
                <a:cs typeface="Meiryo"/>
              </a:rPr>
              <a:t>69%</a:t>
            </a:r>
            <a:r>
              <a:rPr sz="9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　全力を取れている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29150" y="1190625"/>
            <a:ext cx="3905250" cy="1428750"/>
          </a:xfrm>
          <a:prstGeom prst="roundRect">
            <a:avLst>
              <a:gd name="adj" fmla="val 5333"/>
            </a:avLst>
          </a:prstGeom>
          <a:solidFill>
            <a:srgbClr val="FB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81550" y="1266825"/>
            <a:ext cx="3619500" cy="20955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0560C"/>
                </a:solidFill>
                <a:latin typeface="Meiryo"/>
                <a:ea typeface="Meiryo"/>
                <a:cs typeface="Meiryo"/>
              </a:rPr>
              <a:t>屈曲（一人：机に押し下げる）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1550" y="1495425"/>
            <a:ext cx="1905000" cy="14287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確認動作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81550" y="1647825"/>
            <a:ext cx="257175" cy="161925"/>
          </a:xfrm>
          <a:prstGeom prst="rect">
            <a:avLst/>
          </a:prstGeom>
          <a:solidFill>
            <a:srgbClr val="FFFFFF"/>
          </a:solidFill>
          <a:ln w="9525">
            <a:solidFill>
              <a:srgbClr val="E07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95875" y="1647825"/>
            <a:ext cx="762000" cy="161925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>
                <a:solidFill>
                  <a:srgbClr val="B0560C"/>
                </a:solidFill>
                <a:latin typeface="Meiryo"/>
                <a:ea typeface="Meiryo"/>
                <a:cs typeface="Meiryo"/>
              </a:rPr>
              <a:t>5.4 μV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81550" y="1847850"/>
            <a:ext cx="1905000" cy="14287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MVC（3 回の最大）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81550" y="2000250"/>
            <a:ext cx="2647950" cy="161925"/>
          </a:xfrm>
          <a:prstGeom prst="rect">
            <a:avLst/>
          </a:prstGeom>
          <a:solidFill>
            <a:srgbClr val="E07B1A"/>
          </a:solidFill>
          <a:ln w="9525">
            <a:solidFill>
              <a:srgbClr val="E07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86650" y="2000250"/>
            <a:ext cx="762000" cy="161925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>
                <a:solidFill>
                  <a:srgbClr val="B0560C"/>
                </a:solidFill>
                <a:latin typeface="Meiryo"/>
                <a:ea typeface="Meiryo"/>
                <a:cs typeface="Meiryo"/>
              </a:rPr>
              <a:t>55.6 μV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1550" y="2238375"/>
            <a:ext cx="3619500" cy="30480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確認動作 = MVC の </a:t>
            </a:r>
            <a:r>
              <a:rPr sz="1650" b="1">
                <a:solidFill>
                  <a:srgbClr val="B0560C"/>
                </a:solidFill>
                <a:latin typeface="Meiryo"/>
                <a:ea typeface="Meiryo"/>
                <a:cs typeface="Meiryo"/>
              </a:rPr>
              <a:t>10%</a:t>
            </a:r>
            <a:r>
              <a:rPr sz="900" b="1">
                <a:solidFill>
                  <a:srgbClr val="B0560C"/>
                </a:solidFill>
                <a:latin typeface="Meiryo"/>
                <a:ea typeface="Meiryo"/>
                <a:cs typeface="Meiryo"/>
              </a:rPr>
              <a:t>　確認動作で屈筋が動いていない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2450" y="2809875"/>
            <a:ext cx="3619500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屈曲の確認動作でうまくいかなかったこと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62500" y="2809875"/>
            <a:ext cx="3771900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1F6FB4"/>
                </a:solidFill>
                <a:latin typeface="Meiryo"/>
                <a:ea typeface="Meiryo"/>
                <a:cs typeface="Meiryo"/>
              </a:rPr>
              <a:t>直したこと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2450" y="3048000"/>
            <a:ext cx="3619500" cy="666750"/>
          </a:xfrm>
          <a:prstGeom prst="roundRect">
            <a:avLst>
              <a:gd name="adj" fmla="val 8571"/>
            </a:avLst>
          </a:prstGeom>
          <a:solidFill>
            <a:srgbClr val="F4F4F4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rIns="133350" bIns="0" lIns="13335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画面の指示に手の向きも図もなく、手のひら下のまま曲げた可能性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267200" y="3381375"/>
            <a:ext cx="400050" cy="0"/>
          </a:xfrm>
          <a:prstGeom prst="line">
            <a:avLst/>
          </a:prstGeom>
          <a:ln w="19050">
            <a:solidFill>
              <a:srgbClr val="6B6B6B"/>
            </a:solidFill>
            <a:tailEnd type="triangle" w="med" len="med"/>
          </a:ln>
        </p:spPr>
      </p:cxnSp>
      <p:sp>
        <p:nvSpPr>
          <p:cNvPr id="27" name="Rounded Rectangle 26"/>
          <p:cNvSpPr/>
          <p:nvPr/>
        </p:nvSpPr>
        <p:spPr>
          <a:xfrm>
            <a:off x="4762500" y="3048000"/>
            <a:ext cx="3771900" cy="666750"/>
          </a:xfrm>
          <a:prstGeom prst="roundRect">
            <a:avLst>
              <a:gd name="adj" fmla="val 8571"/>
            </a:avLst>
          </a:prstGeom>
          <a:solidFill>
            <a:srgbClr val="E8F0F8"/>
          </a:solidFill>
          <a:ln w="9525">
            <a:solidFill>
              <a:srgbClr val="1F6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rIns="133350" bIns="0" lIns="13335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指示を「手のひら上で、上に曲げきる」にし、姿勢の図を出した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66738" y="3914775"/>
            <a:ext cx="7967662" cy="0"/>
          </a:xfrm>
          <a:prstGeom prst="line">
            <a:avLst/>
          </a:prstGeom>
          <a:ln w="9525">
            <a:solidFill>
              <a:srgbClr val="C8C8C8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566738" y="4095750"/>
            <a:ext cx="7967662" cy="33337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B0560C"/>
                </a:solidFill>
                <a:latin typeface="Meiryo"/>
                <a:ea typeface="Meiryo"/>
                <a:cs typeface="Meiryo"/>
              </a:rPr>
              <a:t>屈曲は、直した指示で来週取り直す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2450" y="381000"/>
            <a:ext cx="7143750" cy="47625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次やること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3375" y="476250"/>
            <a:ext cx="581025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2450" y="952500"/>
            <a:ext cx="7981950" cy="20955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M1-7：残り 4 か所の MVC を、一人でできるやり方で試す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2450" y="1257300"/>
            <a:ext cx="1881188" cy="2000250"/>
          </a:xfrm>
          <a:prstGeom prst="roundRect">
            <a:avLst>
              <a:gd name="adj" fmla="val 3037"/>
            </a:avLst>
          </a:prstGeom>
          <a:solidFill>
            <a:srgbClr val="FFFFFF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2026-10-22_pose_shoulder_abduction_sol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1333500"/>
            <a:ext cx="1690688" cy="118348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7700" y="2571750"/>
            <a:ext cx="1690688" cy="61912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25"/>
              </a:spcAft>
            </a:pPr>
            <a:r>
              <a:rPr sz="112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三角筋（肩）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肘の外側で壁を横に押す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86038" y="1257300"/>
            <a:ext cx="1881188" cy="2000250"/>
          </a:xfrm>
          <a:prstGeom prst="roundRect">
            <a:avLst>
              <a:gd name="adj" fmla="val 3037"/>
            </a:avLst>
          </a:prstGeom>
          <a:solidFill>
            <a:srgbClr val="FFFFFF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2026-10-22_pose_elbow_flexion_sol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1288" y="1333500"/>
            <a:ext cx="1690688" cy="118348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681288" y="2571750"/>
            <a:ext cx="1690688" cy="61912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25"/>
              </a:spcAft>
            </a:pPr>
            <a:r>
              <a:rPr sz="112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二頭筋（上腕）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肘 90°、天板の裏を持ち上げる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9625" y="1257300"/>
            <a:ext cx="1881188" cy="2000250"/>
          </a:xfrm>
          <a:prstGeom prst="roundRect">
            <a:avLst>
              <a:gd name="adj" fmla="val 3037"/>
            </a:avLst>
          </a:prstGeom>
          <a:solidFill>
            <a:srgbClr val="FFFFFF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2026-10-22_pose_elbow_extension_sol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875" y="1333500"/>
            <a:ext cx="1690688" cy="118348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14875" y="2571750"/>
            <a:ext cx="1690688" cy="61912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25"/>
              </a:spcAft>
            </a:pPr>
            <a:r>
              <a:rPr sz="112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三頭筋（上腕）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肘 90°、こぶしで机を押す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53212" y="1257300"/>
            <a:ext cx="1881188" cy="2000250"/>
          </a:xfrm>
          <a:prstGeom prst="roundRect">
            <a:avLst>
              <a:gd name="adj" fmla="val 3037"/>
            </a:avLst>
          </a:prstGeom>
          <a:solidFill>
            <a:srgbClr val="FFFFFF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2026-10-22_pose_shoulder_shrug_sol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8462" y="1333500"/>
            <a:ext cx="1690688" cy="118348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748462" y="2571750"/>
            <a:ext cx="1690688" cy="61912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25"/>
              </a:spcAft>
            </a:pPr>
            <a:r>
              <a:rPr sz="112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僧帽筋（首の付け根）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座面の端を握り、肩をすくめる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2450" y="3362325"/>
            <a:ext cx="7981950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同じ日に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2450" y="3600450"/>
            <a:ext cx="3905250" cy="3810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rIns="133350" bIns="0" lIns="13335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M1-6：手首の屈曲を、直した指示で取り直す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29150" y="3600450"/>
            <a:ext cx="3905250" cy="3810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rIns="133350" bIns="0" lIns="13335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直した窓（図・休憩 10 秒）を実機で使う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2450" y="381000"/>
            <a:ext cx="7143750" cy="47625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まとめ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3375" y="476250"/>
            <a:ext cx="581025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52450" y="1095375"/>
            <a:ext cx="3619500" cy="2667000"/>
          </a:xfrm>
          <a:prstGeom prst="roundRect">
            <a:avLst>
              <a:gd name="adj" fmla="val 2857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1450" rIns="190500" bIns="171450" lIns="19050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75"/>
              </a:spcAft>
            </a:pPr>
            <a:r>
              <a:rPr sz="1050" b="1">
                <a:solidFill>
                  <a:srgbClr val="BFD6EE"/>
                </a:solidFill>
                <a:latin typeface="Meiryo"/>
                <a:ea typeface="Meiryo"/>
                <a:cs typeface="Meiryo"/>
              </a:rPr>
              <a:t>大きな目標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M1：計測系が回る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525"/>
              </a:spcAft>
            </a:pPr>
            <a:r>
              <a:rPr sz="1125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済：API で、研究室に 1 回来るだけで、数分の記録まで取れる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BFD6EE"/>
                </a:solidFill>
                <a:latin typeface="Meiryo"/>
                <a:ea typeface="Meiryo"/>
                <a:cs typeface="Meiryo"/>
              </a:rPr>
              <a:t>残り：肩・上腕など 4 か所の MVC、手首の屈曲の確かめ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14900" y="1095375"/>
            <a:ext cx="3619500" cy="809625"/>
          </a:xfrm>
          <a:prstGeom prst="roundRect">
            <a:avLst>
              <a:gd name="adj" fmla="val 7058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57775" y="1219200"/>
            <a:ext cx="609600" cy="228600"/>
          </a:xfrm>
          <a:prstGeom prst="roundRect">
            <a:avLst>
              <a:gd name="adj" fmla="val 50000"/>
            </a:avLst>
          </a:prstGeom>
          <a:solidFill>
            <a:srgbClr val="1F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rIns="0" bIns="0" l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81675" y="1190625"/>
            <a:ext cx="2667000" cy="28575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M1-4　</a:t>
            </a:r>
            <a:r>
              <a:rPr sz="12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計測を最後まで通す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57775" y="1533525"/>
            <a:ext cx="3333750" cy="28575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Meiryo"/>
                <a:ea typeface="Meiryo"/>
                <a:cs typeface="Meiryo"/>
              </a:rPr>
              <a:t>通った。窓は直し、実機は来週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14900" y="2000250"/>
            <a:ext cx="3619500" cy="809625"/>
          </a:xfrm>
          <a:prstGeom prst="roundRect">
            <a:avLst>
              <a:gd name="adj" fmla="val 7058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57775" y="2124075"/>
            <a:ext cx="609600" cy="228600"/>
          </a:xfrm>
          <a:prstGeom prst="roundRect">
            <a:avLst>
              <a:gd name="adj" fmla="val 50000"/>
            </a:avLst>
          </a:prstGeom>
          <a:solidFill>
            <a:srgbClr val="1F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rIns="0" bIns="0" l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81675" y="2095500"/>
            <a:ext cx="2667000" cy="28575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M1-5　</a:t>
            </a:r>
            <a:r>
              <a:rPr sz="12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6 本・3 分の記録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57775" y="2438400"/>
            <a:ext cx="3333750" cy="28575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Meiryo"/>
                <a:ea typeface="Meiryo"/>
                <a:cs typeface="Meiryo"/>
              </a:rPr>
              <a:t>取りこぼしなし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14900" y="2905125"/>
            <a:ext cx="3619500" cy="809625"/>
          </a:xfrm>
          <a:prstGeom prst="roundRect">
            <a:avLst>
              <a:gd name="adj" fmla="val 7058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57775" y="3028950"/>
            <a:ext cx="609600" cy="228600"/>
          </a:xfrm>
          <a:prstGeom prst="roundRect">
            <a:avLst>
              <a:gd name="adj" fmla="val 50000"/>
            </a:avLst>
          </a:prstGeom>
          <a:solidFill>
            <a:srgbClr val="E8F0F8"/>
          </a:solidFill>
          <a:ln w="9525">
            <a:solidFill>
              <a:srgbClr val="1F6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rIns="0" bIns="0" l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F6FB4"/>
                </a:solidFill>
                <a:latin typeface="Meiryo"/>
                <a:ea typeface="Meiryo"/>
                <a:cs typeface="Meiryo"/>
              </a:rPr>
              <a:t>一部済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81675" y="3000375"/>
            <a:ext cx="2667000" cy="28575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M1-6　</a:t>
            </a:r>
            <a:r>
              <a:rPr sz="12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前腕の MVC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7775" y="3343275"/>
            <a:ext cx="3333750" cy="28575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Meiryo"/>
                <a:ea typeface="Meiryo"/>
                <a:cs typeface="Meiryo"/>
              </a:rPr>
              <a:t>伸展は 69%。屈曲は指示を直して取り直す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738" y="3914775"/>
            <a:ext cx="7967662" cy="0"/>
          </a:xfrm>
          <a:prstGeom prst="line">
            <a:avLst/>
          </a:prstGeom>
          <a:ln w="9525">
            <a:solidFill>
              <a:srgbClr val="C8C8C8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566738" y="4095750"/>
            <a:ext cx="7967662" cy="33337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来週：手首の屈曲の取り直し（M1-6）と、残り 4 か所の MVC（M1-7）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2450" y="381000"/>
            <a:ext cx="7143750" cy="47625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予備：10-20 の数値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3375" y="476250"/>
            <a:ext cx="581025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2450" y="1095375"/>
            <a:ext cx="3333750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記録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00500" y="1095375"/>
            <a:ext cx="2238375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F6FB4"/>
                </a:solidFill>
                <a:latin typeface="Meiryo"/>
                <a:ea typeface="Meiryo"/>
                <a:cs typeface="Meiryo"/>
              </a:rPr>
              <a:t>前腕の上（S1、伸筋側）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4125" y="1095375"/>
            <a:ext cx="2200275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0560C"/>
                </a:solidFill>
                <a:latin typeface="Meiryo"/>
                <a:ea typeface="Meiryo"/>
                <a:cs typeface="Meiryo"/>
              </a:rPr>
              <a:t>前腕の下（S2、屈筋側）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52450" y="1333500"/>
            <a:ext cx="7981950" cy="0"/>
          </a:xfrm>
          <a:prstGeom prst="line">
            <a:avLst/>
          </a:prstGeom>
          <a:ln w="7143">
            <a:solidFill>
              <a:srgbClr val="DDDDDD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52450" y="1333500"/>
            <a:ext cx="3276600" cy="523875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確認動作・伸展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00500" y="1333500"/>
            <a:ext cx="2181225" cy="523875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1A1A1A"/>
                </a:solidFill>
                <a:latin typeface="Meiryo"/>
                <a:ea typeface="Meiryo"/>
                <a:cs typeface="Meiryo"/>
              </a:rPr>
              <a:t>32.8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4125" y="1333500"/>
            <a:ext cx="2143125" cy="523875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1A1A1A"/>
                </a:solidFill>
                <a:latin typeface="Meiryo"/>
                <a:ea typeface="Meiryo"/>
                <a:cs typeface="Meiryo"/>
              </a:rPr>
              <a:t>6.0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52450" y="1857375"/>
            <a:ext cx="7981950" cy="0"/>
          </a:xfrm>
          <a:prstGeom prst="line">
            <a:avLst/>
          </a:prstGeom>
          <a:ln w="7143">
            <a:solidFill>
              <a:srgbClr val="DDDDDD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552450" y="1857375"/>
            <a:ext cx="3276600" cy="523875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確認動作・屈曲（手のひら下）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00500" y="1857375"/>
            <a:ext cx="2181225" cy="523875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1A1A1A"/>
                </a:solidFill>
                <a:latin typeface="Meiryo"/>
                <a:ea typeface="Meiryo"/>
                <a:cs typeface="Meiryo"/>
              </a:rPr>
              <a:t>27.8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4125" y="1857375"/>
            <a:ext cx="2143125" cy="523875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1A1A1A"/>
                </a:solidFill>
                <a:latin typeface="Meiryo"/>
                <a:ea typeface="Meiryo"/>
                <a:cs typeface="Meiryo"/>
              </a:rPr>
              <a:t>5.4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52450" y="2381250"/>
            <a:ext cx="7981950" cy="0"/>
          </a:xfrm>
          <a:prstGeom prst="line">
            <a:avLst/>
          </a:prstGeom>
          <a:ln w="7143">
            <a:solidFill>
              <a:srgbClr val="DDDDDD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552450" y="2381250"/>
            <a:ext cx="3276600" cy="523875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伸展（天板の裏を押し上げる）×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0500" y="2381250"/>
            <a:ext cx="2181225" cy="523875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1A1A1A"/>
                </a:solidFill>
                <a:latin typeface="Meiryo"/>
                <a:ea typeface="Meiryo"/>
                <a:cs typeface="Meiryo"/>
              </a:rPr>
              <a:t>44.1・47.4・46.3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4125" y="2381250"/>
            <a:ext cx="2143125" cy="523875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1A1A1A"/>
                </a:solidFill>
                <a:latin typeface="Meiryo"/>
                <a:ea typeface="Meiryo"/>
                <a:cs typeface="Meiryo"/>
              </a:rPr>
              <a:t>22.2・5.8・5.0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52450" y="2905125"/>
            <a:ext cx="7981950" cy="0"/>
          </a:xfrm>
          <a:prstGeom prst="line">
            <a:avLst/>
          </a:prstGeom>
          <a:ln w="7143">
            <a:solidFill>
              <a:srgbClr val="DDDDDD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552450" y="2905125"/>
            <a:ext cx="3276600" cy="523875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屈曲（机に押し下げる）×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00500" y="2905125"/>
            <a:ext cx="2181225" cy="523875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1A1A1A"/>
                </a:solidFill>
                <a:latin typeface="Meiryo"/>
                <a:ea typeface="Meiryo"/>
                <a:cs typeface="Meiryo"/>
              </a:rPr>
              <a:t>6.3・7.1・5.8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4125" y="2905125"/>
            <a:ext cx="2143125" cy="523875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1A1A1A"/>
                </a:solidFill>
                <a:latin typeface="Meiryo"/>
                <a:ea typeface="Meiryo"/>
                <a:cs typeface="Meiryo"/>
              </a:rPr>
              <a:t>48.6・44.7・55.6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52450" y="3429000"/>
            <a:ext cx="7981950" cy="0"/>
          </a:xfrm>
          <a:prstGeom prst="line">
            <a:avLst/>
          </a:prstGeom>
          <a:ln w="7143">
            <a:solidFill>
              <a:srgbClr val="DDDDDD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552450" y="3619500"/>
            <a:ext cx="7981950" cy="3810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包絡線の 0.5 秒移動平均の最大（μV）。前腕以外（S3〜S6）の MVC は値を使わない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data/raw/2026-10-20/（Git 管理外）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