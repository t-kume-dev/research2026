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今週は方針を固めた回。実験設計はまだ先なので、ストーリー・指標・10月の作業の3点を話す。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実験設計はまだ手前が見えていないので今日は触れない。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指標がなければフィードバックは作れない。だからこの順番は動かせない。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安定に見えるが上達と別物ではない、という点を補足する。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計測項目を絞るのは実用性のため。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他者基準を捨てた理由。今週いちばん大きい判断。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決めていないのではなく、決められない理由がはっきりした、という話。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命は残差。動かしている最中に力みすぎるのが問題なので、静止区間ではなく動作区間を見る。ただし振っている最中の高いEMGは必要な力かもしれない。大きく速く振れば活動が増えるのは当然。そこでマウスの移動距離や速度からEMGを予測するモデルを、自分の良い試行だけで作り、その残差を力みとする。動きの大きさで説明できる分が引かれるので、必要な力と過剰な力が分離できる。1チャンネルで済むため、センサが大きくクロストークが乗っても影響を受けない。どれが使えるかは波形を見ないと分からないので、10月に判断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MVC正規化は必須。電極を貼り直すたびに位置が変わるので、正規化しないと日をまたいだ比較ができない。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691640"/>
            <a:ext cx="7772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3400" b="1">
                <a:solidFill>
                  <a:srgbClr val="1A1A1A"/>
                </a:solidFill>
                <a:latin typeface="Meiryo"/>
              </a:rPr>
              <a:t>エイムスキル学習支援の研究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542032"/>
            <a:ext cx="7772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900" b="0">
                <a:solidFill>
                  <a:srgbClr val="6B6B6B"/>
                </a:solidFill>
                <a:latin typeface="Meiryo"/>
              </a:rPr>
              <a:t>進捗報告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3127248"/>
            <a:ext cx="2011680" cy="0"/>
          </a:xfrm>
          <a:prstGeom prst="line">
            <a:avLst/>
          </a:prstGeom>
          <a:ln w="9525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3310128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Meiryo"/>
              </a:rPr>
              <a:t>2026年9月24日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Meiryo"/>
              </a:rPr>
              <a:t>今週固めたこと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645920"/>
            <a:ext cx="804672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000" b="1">
                <a:solidFill>
                  <a:srgbClr val="1A1A1A"/>
                </a:solidFill>
                <a:latin typeface="Meiryo"/>
              </a:rPr>
              <a:t>・研究のストーリー</a:t>
            </a:r>
          </a:p>
          <a:p>
            <a:pPr lvl="1">
              <a:spcAft>
                <a:spcPts val="1400"/>
              </a:spcAft>
            </a:pPr>
            <a:r>
              <a:rPr sz="1400" b="0">
                <a:solidFill>
                  <a:srgbClr val="6B6B6B"/>
                </a:solidFill>
                <a:latin typeface="Meiryo"/>
              </a:rPr>
              <a:t>・何を作りたいのか、なぜその順番か</a:t>
            </a:r>
          </a:p>
          <a:p>
            <a:pPr>
              <a:spcAft>
                <a:spcPts val="400"/>
              </a:spcAft>
            </a:pPr>
            <a:r>
              <a:rPr sz="2000" b="1">
                <a:solidFill>
                  <a:srgbClr val="1A1A1A"/>
                </a:solidFill>
                <a:latin typeface="Meiryo"/>
              </a:rPr>
              <a:t>・指標の方針</a:t>
            </a:r>
          </a:p>
          <a:p>
            <a:pPr lvl="1">
              <a:spcAft>
                <a:spcPts val="1400"/>
              </a:spcAft>
            </a:pPr>
            <a:r>
              <a:rPr sz="1400" b="0">
                <a:solidFill>
                  <a:srgbClr val="6B6B6B"/>
                </a:solidFill>
                <a:latin typeface="Meiryo"/>
              </a:rPr>
              <a:t>・EMG／自己基準</a:t>
            </a:r>
          </a:p>
          <a:p>
            <a:pPr>
              <a:spcAft>
                <a:spcPts val="400"/>
              </a:spcAft>
            </a:pPr>
            <a:r>
              <a:rPr sz="2000" b="1">
                <a:solidFill>
                  <a:srgbClr val="1A1A1A"/>
                </a:solidFill>
                <a:latin typeface="Meiryo"/>
              </a:rPr>
              <a:t>・10月までにやること</a:t>
            </a:r>
          </a:p>
          <a:p>
            <a:pPr lvl="1"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Meiryo"/>
              </a:rPr>
              <a:t>・生データを取る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Meiryo"/>
              </a:rPr>
              <a:t>ストーリー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79" y="47548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>
                <a:solidFill>
                  <a:srgbClr val="6B6B6B"/>
                </a:solidFill>
                <a:latin typeface="Meiryo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25880"/>
            <a:ext cx="804672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Meiryo"/>
              </a:rPr>
              <a:t>・自分の良い状態を再現できない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Meiryo"/>
              </a:rPr>
              <a:t>・画面が返すのは命中率だけ　→　何を直せばいいか分からない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Meiryo"/>
              </a:rPr>
              <a:t>・量に頼るしかない／崩れても立て直せない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Meiryo"/>
              </a:rPr>
              <a:t>・必要なのはフィードバック</a:t>
            </a:r>
          </a:p>
          <a:p>
            <a:pPr>
              <a:spcAft>
                <a:spcPts val="0"/>
              </a:spcAft>
            </a:pPr>
            <a:r>
              <a:rPr sz="1800" b="0">
                <a:solidFill>
                  <a:srgbClr val="1A1A1A"/>
                </a:solidFill>
                <a:latin typeface="Meiryo"/>
              </a:rPr>
              <a:t>・だが「何を返すか」が分かっていない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3913632"/>
            <a:ext cx="8046720" cy="0"/>
          </a:xfrm>
          <a:prstGeom prst="line">
            <a:avLst/>
          </a:prstGeom>
          <a:ln w="9525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4096512"/>
            <a:ext cx="804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700" b="1">
                <a:solidFill>
                  <a:srgbClr val="1A1A1A"/>
                </a:solidFill>
                <a:latin typeface="Meiryo"/>
              </a:rPr>
              <a:t>まず返すべき指標を同定する　→　次にそれを返して効くか確かめる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Meiryo"/>
              </a:rPr>
              <a:t>掲げ方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79" y="47548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>
                <a:solidFill>
                  <a:srgbClr val="6B6B6B"/>
                </a:solidFill>
                <a:latin typeface="Meiryo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8046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900" b="0">
                <a:solidFill>
                  <a:srgbClr val="6B6B6B"/>
                </a:solidFill>
                <a:latin typeface="Meiryo"/>
              </a:rPr>
              <a:t>「上達」ではなく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83080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3200" b="1">
                <a:solidFill>
                  <a:srgbClr val="1A1A1A"/>
                </a:solidFill>
                <a:latin typeface="Meiryo"/>
              </a:rPr>
              <a:t>実力を出し切れるようにする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834640"/>
            <a:ext cx="80467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Meiryo"/>
              </a:rPr>
              <a:t>・自己基準　→　支援の対象は「自分の良い状態の再現」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Meiryo"/>
              </a:rPr>
              <a:t>・再現性の向上は上達の一部（学習に伴い変動性が減少）</a:t>
            </a:r>
          </a:p>
          <a:p>
            <a:pPr>
              <a:spcAft>
                <a:spcPts val="0"/>
              </a:spcAft>
            </a:pPr>
            <a:r>
              <a:rPr sz="1600" b="0">
                <a:solidFill>
                  <a:srgbClr val="1A1A1A"/>
                </a:solidFill>
                <a:latin typeface="Meiryo"/>
              </a:rPr>
              <a:t>・基準は直近の良い試行から作り直す　→　天井にならない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Meiryo"/>
              </a:rPr>
              <a:t>指標の方針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79" y="47548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>
                <a:solidFill>
                  <a:srgbClr val="6B6B6B"/>
                </a:solidFill>
                <a:latin typeface="Meiryo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34440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3200" b="1">
                <a:solidFill>
                  <a:srgbClr val="1A1A1A"/>
                </a:solidFill>
                <a:latin typeface="Meiryo"/>
              </a:rPr>
              <a:t>EMG　×　自己基準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395728"/>
            <a:ext cx="804672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A1A1A"/>
                </a:solidFill>
                <a:latin typeface="Meiryo"/>
              </a:rPr>
              <a:t>・計測は前腕EMGのみ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6B6B6B"/>
                </a:solidFill>
                <a:latin typeface="Meiryo"/>
              </a:rPr>
              <a:t>・毎日着けて練習する前提　重い装備は練習方法にならない</a:t>
            </a:r>
          </a:p>
          <a:p>
            <a:pPr lvl="1">
              <a:spcAft>
                <a:spcPts val="0"/>
              </a:spcAft>
            </a:pPr>
            <a:r>
              <a:rPr sz="1500" b="0">
                <a:solidFill>
                  <a:srgbClr val="6B6B6B"/>
                </a:solidFill>
                <a:latin typeface="Meiryo"/>
              </a:rPr>
              <a:t>・心拍・脳波・視線などは入れない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Meiryo"/>
              </a:rPr>
              <a:t>なぜ自己基準か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79" y="47548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>
                <a:solidFill>
                  <a:srgbClr val="6B6B6B"/>
                </a:solidFill>
                <a:latin typeface="Meiryo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25880"/>
            <a:ext cx="804672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000" b="1">
                <a:solidFill>
                  <a:srgbClr val="1A1A1A"/>
                </a:solidFill>
                <a:latin typeface="Meiryo"/>
              </a:rPr>
              <a:t>・エイムは個人差が激しい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6B6B6B"/>
                </a:solidFill>
                <a:latin typeface="Meiryo"/>
              </a:rPr>
              <a:t>・プロでも強く力んでいる人がいる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B6B6B"/>
                </a:solidFill>
                <a:latin typeface="Meiryo"/>
              </a:rPr>
              <a:t>・腕の長さもマウスの持ち方も違う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1A1A1A"/>
                </a:solidFill>
                <a:latin typeface="Meiryo"/>
              </a:rPr>
              <a:t>・正解のロールモデルを作るのは困難と判断</a:t>
            </a:r>
          </a:p>
          <a:p>
            <a:pPr>
              <a:spcAft>
                <a:spcPts val="500"/>
              </a:spcAft>
            </a:pPr>
            <a:r>
              <a:rPr sz="2000" b="1">
                <a:solidFill>
                  <a:srgbClr val="1A1A1A"/>
                </a:solidFill>
                <a:latin typeface="Meiryo"/>
              </a:rPr>
              <a:t>・基準を自分に置けば、この問題は消える</a:t>
            </a:r>
          </a:p>
          <a:p>
            <a:pPr lvl="1">
              <a:spcAft>
                <a:spcPts val="0"/>
              </a:spcAft>
            </a:pPr>
            <a:r>
              <a:rPr sz="1500" b="0">
                <a:solidFill>
                  <a:srgbClr val="6B6B6B"/>
                </a:solidFill>
                <a:latin typeface="Meiryo"/>
              </a:rPr>
              <a:t>・「どう直すか」の答えも自分の良い試行の中にある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Meiryo"/>
              </a:rPr>
              <a:t>EMGで何を取るか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79" y="47548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>
                <a:solidFill>
                  <a:srgbClr val="6B6B6B"/>
                </a:solidFill>
                <a:latin typeface="Meiryo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25880"/>
            <a:ext cx="80467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1A1A1A"/>
                </a:solidFill>
                <a:latin typeface="Meiryo"/>
              </a:rPr>
              <a:t>・当初案：拮抗筋の共収縮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1A1A1A"/>
                </a:solidFill>
                <a:latin typeface="Meiryo"/>
              </a:rPr>
              <a:t>・Trignoの標準センサが前腕の筋に対して大きい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1A1A1A"/>
                </a:solidFill>
                <a:latin typeface="Meiryo"/>
              </a:rPr>
              <a:t>・単一の筋を分離できず、クロストークが避けられない</a:t>
            </a:r>
          </a:p>
          <a:p>
            <a:pPr>
              <a:spcAft>
                <a:spcPts val="0"/>
              </a:spcAft>
            </a:pPr>
            <a:r>
              <a:rPr sz="1700" b="1">
                <a:solidFill>
                  <a:srgbClr val="1A1A1A"/>
                </a:solidFill>
                <a:latin typeface="Meiryo"/>
              </a:rPr>
              <a:t>・共収縮はそのままでは成立しない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3913632"/>
            <a:ext cx="8046720" cy="0"/>
          </a:xfrm>
          <a:prstGeom prst="line">
            <a:avLst/>
          </a:prstGeom>
          <a:ln w="9525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4096512"/>
            <a:ext cx="804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900" b="1">
                <a:solidFill>
                  <a:srgbClr val="1A1A1A"/>
                </a:solidFill>
                <a:latin typeface="Meiryo"/>
              </a:rPr>
              <a:t>具体的な定義は、生データを見てから決める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Meiryo"/>
              </a:rPr>
              <a:t>代案の候補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79" y="47548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>
                <a:solidFill>
                  <a:srgbClr val="6B6B6B"/>
                </a:solidFill>
                <a:latin typeface="Meiryo"/>
              </a:rPr>
              <a:t>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371600"/>
          <a:ext cx="8046720" cy="303580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691640"/>
                <a:gridCol w="3154680"/>
                <a:gridCol w="3200400"/>
              </a:tblGrid>
              <a:tr h="758952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A1A1A"/>
                          </a:solidFill>
                          <a:latin typeface="Meiryo"/>
                        </a:rPr>
                        <a:t>候補</a:t>
                      </a:r>
                    </a:p>
                  </a:txBody>
                  <a:tcPr marL="82296" marR="82296" marT="45720" marB="4572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A1A1A"/>
                          </a:solidFill>
                          <a:latin typeface="Meiryo"/>
                        </a:rPr>
                        <a:t>内容</a:t>
                      </a:r>
                    </a:p>
                  </a:txBody>
                  <a:tcPr marL="82296" marR="82296" marT="45720" marB="4572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A1A1A"/>
                          </a:solidFill>
                          <a:latin typeface="Meiryo"/>
                        </a:rPr>
                        <a:t>評価</a:t>
                      </a:r>
                    </a:p>
                  </a:txBody>
                  <a:tcPr marL="82296" marR="82296" marT="45720" marB="45720" anchor="ctr">
                    <a:noFill/>
                  </a:tcPr>
                </a:tc>
              </a:tr>
              <a:tr h="758952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Meiryo"/>
                        </a:rPr>
                        <a:t>出力に対する</a:t>
                      </a:r>
                    </a:p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Meiryo"/>
                        </a:rPr>
                        <a:t>残差</a:t>
                      </a:r>
                    </a:p>
                  </a:txBody>
                  <a:tcPr marL="82296" marR="82296" marT="45720" marB="4572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Meiryo"/>
                        </a:rPr>
                        <a:t>その動きに必要なEMGを</a:t>
                      </a:r>
                    </a:p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Meiryo"/>
                        </a:rPr>
                        <a:t>見積もり、超過分を見る</a:t>
                      </a:r>
                    </a:p>
                  </a:txBody>
                  <a:tcPr marL="82296" marR="82296" marT="45720" marB="4572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Meiryo"/>
                        </a:rPr>
                        <a:t>本命</a:t>
                      </a:r>
                    </a:p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Meiryo"/>
                        </a:rPr>
                        <a:t>必要な力と過剰を分離できる</a:t>
                      </a:r>
                    </a:p>
                  </a:txBody>
                  <a:tcPr marL="82296" marR="82296" marT="45720" marB="45720" anchor="ctr">
                    <a:noFill/>
                  </a:tcPr>
                </a:tc>
              </a:tr>
              <a:tr h="758952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Meiryo"/>
                        </a:rPr>
                        <a:t>効率比</a:t>
                      </a:r>
                    </a:p>
                  </a:txBody>
                  <a:tcPr marL="82296" marR="82296" marT="45720" marB="4572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Meiryo"/>
                        </a:rPr>
                        <a:t>EMG積分 ÷ 移動距離</a:t>
                      </a:r>
                    </a:p>
                  </a:txBody>
                  <a:tcPr marL="82296" marR="82296" marT="45720" marB="4572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Meiryo"/>
                        </a:rPr>
                        <a:t>残差の簡易版</a:t>
                      </a:r>
                    </a:p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Meiryo"/>
                        </a:rPr>
                        <a:t>粗いが頑健</a:t>
                      </a:r>
                    </a:p>
                  </a:txBody>
                  <a:tcPr marL="82296" marR="82296" marT="45720" marB="45720" anchor="ctr">
                    <a:noFill/>
                  </a:tcPr>
                </a:tc>
              </a:tr>
              <a:tr h="758952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Meiryo"/>
                        </a:rPr>
                        <a:t>加速相の</a:t>
                      </a:r>
                    </a:p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Meiryo"/>
                        </a:rPr>
                        <a:t>拮抗筋活動</a:t>
                      </a:r>
                    </a:p>
                  </a:txBody>
                  <a:tcPr marL="82296" marR="82296" marT="45720" marB="4572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Meiryo"/>
                        </a:rPr>
                        <a:t>振り出し中の逆方向の活動は</a:t>
                      </a:r>
                    </a:p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Meiryo"/>
                        </a:rPr>
                        <a:t>定義上ほぼ不要</a:t>
                      </a:r>
                    </a:p>
                  </a:txBody>
                  <a:tcPr marL="82296" marR="82296" marT="45720" marB="4572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Meiryo"/>
                        </a:rPr>
                        <a:t>筋の分離が前提</a:t>
                      </a:r>
                    </a:p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Meiryo"/>
                        </a:rPr>
                        <a:t>区画レベルで取れるか次第</a:t>
                      </a:r>
                    </a:p>
                  </a:txBody>
                  <a:tcPr marL="82296" marR="82296" marT="45720" marB="45720" anchor="ctr">
                    <a:noFill/>
                  </a:tcPr>
                </a:tc>
              </a:tr>
            </a:tbl>
          </a:graphicData>
        </a:graphic>
      </p:graphicFrame>
      <p:cxnSp>
        <p:nvCxnSpPr>
          <p:cNvPr id="5" name="Connector 4"/>
          <p:cNvCxnSpPr/>
          <p:nvPr/>
        </p:nvCxnSpPr>
        <p:spPr>
          <a:xfrm>
            <a:off x="566928" y="2130552"/>
            <a:ext cx="8046720" cy="0"/>
          </a:xfrm>
          <a:prstGeom prst="line">
            <a:avLst/>
          </a:prstGeom>
          <a:ln w="9525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Meiryo"/>
              </a:rPr>
              <a:t>10月までにやること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79" y="47548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>
                <a:solidFill>
                  <a:srgbClr val="6B6B6B"/>
                </a:solidFill>
                <a:latin typeface="Meiryo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70432"/>
            <a:ext cx="804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800" b="1">
                <a:solidFill>
                  <a:srgbClr val="1A1A1A"/>
                </a:solidFill>
                <a:latin typeface="Meiryo"/>
              </a:rPr>
              <a:t>TrignoからPythonで生データを取り、MVCで正規化する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783080"/>
          <a:ext cx="8046720" cy="24231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00400"/>
                <a:gridCol w="4846320"/>
              </a:tblGrid>
              <a:tr h="484632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1A1A1A"/>
                          </a:solidFill>
                          <a:latin typeface="Meiryo"/>
                        </a:rPr>
                        <a:t>やること</a:t>
                      </a:r>
                    </a:p>
                  </a:txBody>
                  <a:tcPr marL="82296" marR="82296" marT="45720" marB="4572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1A1A1A"/>
                          </a:solidFill>
                          <a:latin typeface="Meiryo"/>
                        </a:rPr>
                        <a:t>完了基準</a:t>
                      </a:r>
                    </a:p>
                  </a:txBody>
                  <a:tcPr marL="82296" marR="82296" marT="45720" marB="45720" anchor="ctr">
                    <a:noFill/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Meiryo"/>
                        </a:rPr>
                        <a:t>Pythonで生データを取得</a:t>
                      </a:r>
                    </a:p>
                  </a:txBody>
                  <a:tcPr marL="82296" marR="82296" marT="45720" marB="4572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Meiryo"/>
                        </a:rPr>
                        <a:t>自分の腕で波形が出て、ファイルに落ちる</a:t>
                      </a:r>
                    </a:p>
                  </a:txBody>
                  <a:tcPr marL="82296" marR="82296" marT="45720" marB="45720" anchor="ctr">
                    <a:noFill/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Meiryo"/>
                        </a:rPr>
                        <a:t>MVC測定の手順を決める</a:t>
                      </a:r>
                    </a:p>
                  </a:txBody>
                  <a:tcPr marL="82296" marR="82296" marT="45720" marB="4572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Meiryo"/>
                        </a:rPr>
                        <a:t>毎回同じ手順でMVCが取れる</a:t>
                      </a:r>
                    </a:p>
                  </a:txBody>
                  <a:tcPr marL="82296" marR="82296" marT="45720" marB="45720" anchor="ctr">
                    <a:noFill/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Meiryo"/>
                        </a:rPr>
                        <a:t>正規化までのパイプライン</a:t>
                      </a:r>
                    </a:p>
                  </a:txBody>
                  <a:tcPr marL="82296" marR="82296" marT="45720" marB="4572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Meiryo"/>
                        </a:rPr>
                        <a:t>正規化済みの波形が出力される</a:t>
                      </a:r>
                    </a:p>
                  </a:txBody>
                  <a:tcPr marL="82296" marR="82296" marT="45720" marB="45720" anchor="ctr">
                    <a:noFill/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Meiryo"/>
                        </a:rPr>
                        <a:t>波形を見て候補を絞る</a:t>
                      </a:r>
                    </a:p>
                  </a:txBody>
                  <a:tcPr marL="82296" marR="82296" marT="45720" marB="4572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Meiryo"/>
                        </a:rPr>
                        <a:t>どの指標が使えるか判断できる</a:t>
                      </a:r>
                    </a:p>
                  </a:txBody>
                  <a:tcPr marL="82296" marR="82296" marT="45720" marB="45720" anchor="ctr">
                    <a:noFill/>
                  </a:tcPr>
                </a:tc>
              </a:tr>
            </a:tbl>
          </a:graphicData>
        </a:graphic>
      </p:graphicFrame>
      <p:cxnSp>
        <p:nvCxnSpPr>
          <p:cNvPr id="6" name="Connector 5"/>
          <p:cNvCxnSpPr/>
          <p:nvPr/>
        </p:nvCxnSpPr>
        <p:spPr>
          <a:xfrm>
            <a:off x="566928" y="2267712"/>
            <a:ext cx="8046720" cy="0"/>
          </a:xfrm>
          <a:prstGeom prst="line">
            <a:avLst/>
          </a:prstGeom>
          <a:ln w="9525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434340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Meiryo"/>
              </a:rPr>
              <a:t>付属アプリでは扱いづらいため、取得系は自前で作る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