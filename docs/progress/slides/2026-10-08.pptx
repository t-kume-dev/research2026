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今週は、前回うまくいかなかった伸展の MVC の取り方を決めました。文献で取り方を調べ、研究室で候補を同じ日に試しました。結論から言うと、伸展は「腕を机に乗せ、他の人に上から押さえてもらう」やり方で足りました。屈曲はまだ足りていません。</a:t>
            </a:r>
          </a:p>
          <a:p/>
          <a:p>
            <a:r>
              <a:t>流れは、目標 → やったこと → わかったこと → 次やること → まとめ、の順で話します。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大きな目標は先週と同じで、EMG でデータを取り、実際に違いが出ているデータを確認することです。</a:t>
            </a:r>
          </a:p>
          <a:p/>
          <a:p>
            <a:r>
              <a:t>そのための小さな目標が、伸展の MVC を全力で取れる方法を決めることです。MVC は最大随意収縮、その筋で出せる全力のときの筋活動で、%MVC を出すときの分母になります。</a:t>
            </a:r>
          </a:p>
          <a:p/>
          <a:p>
            <a:r>
              <a:t>前回（09-29）は、机に固定した手を自分の反対の手で押さえて反らす方法で伸展の MVC を取りました。ところがデモで手首を自由に反らしきっただけで、伸筋側が約 350 %MVC になりました。分母の MVC が小さすぎると %MVC が 100% を超え、日をまたいだ比較の土台になりません。なので、本番データを取る前に MVC の取り方を固めます。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つやりました。</a:t>
            </a:r>
          </a:p>
          <a:p/>
          <a:p>
            <a:r>
              <a:t>1 つ目は文献です。手持ちの 13 本を読み、MVC の手順が書いてあるかを確認しました。手順を別の論文に任せていたものは、引用をたどって元の手順まで読みました（Forman 2020 の 2 本、Forman 2019、Holmes 2022）。まとめは literature/notes/MVC_protocols.md にあります。</a:t>
            </a:r>
          </a:p>
          <a:p/>
          <a:p>
            <a:r>
              <a:t>2 つ目は研究室での比較です。10-06 に、前腕 2 か所（伸筋側・屈筋側）にセンサを付け、手伝ってくれる人 1 人と記録しました。9 つの課題を 1 回ずつ（前回のやり方 A だけ 2 回）と、確認動作（手首を自由に反らしきる・曲げきる）を 1 回ずつ取りました。比べるのは mvc-compare というコマンドで、確認動作がそれぞれの課題の MVC の何 % になるかを出します。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文献から言えることは 2 つです。</a:t>
            </a:r>
          </a:p>
          <a:p/>
          <a:p>
            <a:r>
              <a:t>1 つ目、抵抗はどの文献も実験者がかけています。前回の「自分の反対の手で押さえる」やり方はどこにもありませんでした。力センサで測る Forman 2020 も、使わない手は机の上に置かせていて、押さえるのには使わせていません。</a:t>
            </a:r>
          </a:p>
          <a:p/>
          <a:p>
            <a:r>
              <a:t>2 つ目、伸筋は伸展だけでなく、筋ごとに課題を分けています。握って伸展、伸展＋尺屈（小指側）、手を全力で開きながら伸展、などです。前腕の向きは文献で違い、Forman は親指が上、Lacelle は手のひら下です。また Lacelle は、ほかの全力課題のほうが EMG が大きければそちらで正規化していて、全課題の最大を MVC にする今のコードと同じ考え方です。</a:t>
            </a:r>
          </a:p>
          <a:p/>
          <a:p>
            <a:r>
              <a:t>【13 本の内訳（聞かれたら）】</a:t>
            </a:r>
          </a:p>
          <a:p>
            <a:r>
              <a:t>・筋ごとの手順まで書いてあった：Lacelle 2025。もう 1 本は、たどって行き着いた Forman 2019</a:t>
            </a:r>
          </a:p>
          <a:p>
            <a:r>
              <a:t>・手順を別の論文に任せている：Forman 2025 の 2 本と Forman 2023（博論）。たどると Forman 2019 の表に行き着く。Forman 2019 は有料だが、著者の博論（2020、Ontario Tech、公開）の 3 章が同じ論文で、表 3.1 に同じ表がある</a:t>
            </a:r>
          </a:p>
          <a:p>
            <a:r>
              <a:t>・Wang 2023：「解剖ガイド（Perotto 2011）に従った」とだけ書いている</a:t>
            </a:r>
          </a:p>
          <a:p>
            <a:r>
              <a:t>・MVC を使っていない 8 本：Park 2021、Prajapati 2024、Kuikkaniemi 2010（別の正規化）、Okinaka &amp; Wada 2023、Jeong 2024（RMS や周波数のみ）、Donovan 2022、Dupuy 2024、Dupuy 2025（EMG を測っていない）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10-06 に試した動作です。3 枚に分けて見せます。図は模式図で、手のひら下・手のひら上は横から、親指が上は上から見ています。</a:t>
            </a:r>
          </a:p>
          <a:p/>
          <a:p>
            <a:r>
              <a:t>まず確認動作。誰も押さえずに、手首を自由に反らしきる動きです。09-29 のデモで 350 %MVC になったのと同じ動きで、疲れる前の最大を見るため、記録の最初に取りました。</a:t>
            </a:r>
          </a:p>
          <a:p/>
          <a:p>
            <a:r>
              <a:t>A は前回までのやり方で、握って、自分の反対の手で手の甲を押さえて反らします。比べるための基準として 2 回取りました。</a:t>
            </a:r>
          </a:p>
          <a:p/>
          <a:p>
            <a:r>
              <a:t>B は、同じ姿勢で、手伝う人に手の甲を上から押さえてもらいます。A と B は押さえる人だけが違うので、差を見れば「他の人に押さえてもらう」効果がわかる、という組み方です。ここまでの 3 つは腕を机に乗せて取りました。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伸展のほかの候補です。文献の課題（Forman 2019、Lacelle 2025）から選びました。</a:t>
            </a:r>
          </a:p>
          <a:p/>
          <a:p>
            <a:r>
              <a:t>上の段は親指が上（Forman 2019）。C は握って手の甲側へ押す（ECR、橈側手根伸筋）、D はそれに小指側（机の方向）も加える（ECU、尺側手根伸筋）、E は手伝う人に両手で包んでもらい、手を開きながら反らす（ED、総指伸筋）。</a:t>
            </a:r>
          </a:p>
          <a:p/>
          <a:p>
            <a:r>
              <a:t>下の段は手のひら下。F は反らしながら親指側にも押す（Lacelle の ECR）、G は指を伸ばしたまま反らす（Lacelle の ED）、H は一人でできる方法として、机の天板の裏に手の甲を当てて押し上げる。</a:t>
            </a:r>
          </a:p>
          <a:p/>
          <a:p>
            <a:r>
              <a:t>D 以降は腕を机から浮かせて取りました。H は CSV を書き出しそこねたので、結果がありません。試行は 1 回ずつです。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屈曲です。</a:t>
            </a:r>
          </a:p>
          <a:p/>
          <a:p>
            <a:r>
              <a:t>確認動作は、誰も押さえずに手のひら側に曲げきる動きです。手首から先を机の端から出して取りました。</a:t>
            </a:r>
          </a:p>
          <a:p/>
          <a:p>
            <a:r>
              <a:t>課題は 2 つで、どちらも手のひら上（Forman 2019）。I は握って、こぶしを上から押さえてもらい、手のひら側に曲げる。J は手伝う人の指 2〜3 本を全力で握りながら曲げる。どちらも腕を机から浮かせて取りました。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比べ方です。</a:t>
            </a:r>
          </a:p>
          <a:p/>
          <a:p>
            <a:r>
              <a:t>確認動作は、誰も押さえずに手首を自由に反らしきる（曲げきる）動きで、09-29 のデモで 350% になったのと同じ動きです。これを記録の最初、疲れる前に取りました。</a:t>
            </a:r>
          </a:p>
          <a:p/>
          <a:p>
            <a:r>
              <a:t>各課題の MVC で確認動作のピークを割ります。100% 以下なら、その課題で確認動作より大きい力が出せている、つまり全力を出し切れているということです。100% を超えたら、その課題では足りません。</a:t>
            </a:r>
          </a:p>
          <a:p/>
          <a:p>
            <a:r>
              <a:t>MVC は、包絡線（筋電の大きさを表す線）の 0.5 秒移動平均の最大です。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小さな目標への答えです。</a:t>
            </a:r>
          </a:p>
          <a:p/>
          <a:p>
            <a:r>
              <a:t>手のひら下・握って、腕を机に乗せ、他の人に手の甲を上から押さえてもらうやり方（B）で、確認動作が 56 %MVC に収まりました。前回は 350% だったので、十分な余裕があります。</a:t>
            </a:r>
          </a:p>
          <a:p/>
          <a:p>
            <a:r>
              <a:t>この結論は疲れがあっても変わりません。確認動作は最初に、疲れる前に取っています。疲れると全力の EMG は小さく出るので、もし B に疲れが入っていたとしても、本当の B の MVC はもっと大きく、%MVC はもっと小さくなるだけです。</a:t>
            </a:r>
          </a:p>
          <a:p/>
          <a:p>
            <a:r>
              <a:t>前回までのやり方（A、自分の反対の手で押さえる）も、今回は 96 %MVC でぎりぎり 100% を下回りました。09-29 は同じやり方で約 350% だったので、日によって大きく違います。理由は今のデータでは決められません。考察の余地として、センサの位置が日によって安定していない（10-06 は記録中にセンサの上下がわからなくなった）、押さえ方が違った、確認動作の反らし方が違った、などが考えられます。どちらにしても、余裕のある B を使います。</a:t>
            </a:r>
          </a:p>
          <a:p/>
          <a:p>
            <a:r>
              <a:t>【10-06 の数値（伸筋側、包絡線、mV）】</a:t>
            </a:r>
          </a:p>
          <a:p>
            <a:r>
              <a:t>・B ext_fist_pron　MVC 0.154　確認動作 56%</a:t>
            </a:r>
          </a:p>
          <a:p>
            <a:r>
              <a:t>・A ext_self　　　 MVC 0.090　確認動作 96%</a:t>
            </a:r>
          </a:p>
          <a:p>
            <a:r>
              <a:t>・F ext_radial_pron MVC 0.080　確認動作 108%</a:t>
            </a:r>
          </a:p>
          <a:p>
            <a:r>
              <a:t>・E ext_open_neut　MVC 0.066　確認動作 132%</a:t>
            </a:r>
          </a:p>
          <a:p>
            <a:r>
              <a:t>・G ext_open_pron　MVC 0.054　確認動作 160%</a:t>
            </a:r>
          </a:p>
          <a:p>
            <a:r>
              <a:t>・C ext_fist_neut　MVC 0.051　確認動作 169%</a:t>
            </a:r>
          </a:p>
          <a:p>
            <a:r>
              <a:t>・D ext_ulnar_neut　MVC 0.044　確認動作 198%</a:t>
            </a:r>
          </a:p>
          <a:p>
            <a:r>
              <a:t>ほかの課題との差は、次のページのとおり疲れと分けられないので、課題の良し悪しとしては見ません。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うまくいかなかったことです。</a:t>
            </a:r>
          </a:p>
          <a:p/>
          <a:p>
            <a:r>
              <a:t>屈曲は足りませんでした。手首を曲げきる確認動作が、屈曲で一番大きい課題（J、相手の手を握って屈曲）の 416 %MVC になりました。I・J は手のひら上で、腕を机から浮かせて取っています。</a:t>
            </a:r>
          </a:p>
          <a:p/>
          <a:p>
            <a:r>
              <a:t>課題を、休みを十分とらずに続けて取ったので、疲れを考えに入れそこねました。後に取った課題ほど疲れて小さく出た可能性があり、「ほかの伸展の課題は B の 28〜59%」「A は B の 59%（他の人に押さえてもらうと約 2 倍）」は、課題の差とは言い切れません。疲れを確かめるはずだった B の 3 回目と最後の確認動作も取りそこねました。</a:t>
            </a:r>
          </a:p>
          <a:p/>
          <a:p>
            <a:r>
              <a:t>D 以降の課題は腕を机から浮かせて取りました。浮かせる取り方はうまくいかなそうなので、次からは腕を机に乗せます。</a:t>
            </a:r>
          </a:p>
          <a:p/>
          <a:p>
            <a:r>
              <a:t>ほかに、一人でやる方法（H、机の天板の裏を押し上げる）は取ったものの CSV を書き出しそこね、比べられませんでした。試行は 1 回ずつ（A だけ 2 回）なので、ばらつきも見られていません。</a:t>
            </a:r>
          </a:p>
          <a:p/>
          <a:p>
            <a:r>
              <a:t>【センサの上下】記録中にどちらが伸筋側かわからなくなりました。伸展の 7 試行すべてで、センサ 0 が 40〜140 μV、センサ 3 は安静と同じ 3〜5 μV だったので、センサ 0 を伸筋側としました（09-29 とは逆）。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MVC の取り方を次の 2 つにします。どちらも腕は机に乗せます。</a:t>
            </a:r>
          </a:p>
          <a:p>
            <a:r>
              <a:t>・伸展：手のひら下・握って、上から押さえてもらう（B）</a:t>
            </a:r>
          </a:p>
          <a:p>
            <a:r>
              <a:t>・屈曲：机に向かって押し下げる</a:t>
            </a:r>
          </a:p>
          <a:p/>
          <a:p>
            <a:r>
              <a:t>屈曲の新しいやり方はまだ試していないので、次回の記録で確かめます。順番は、確認動作を最初に取り、B と一人用（H）を 2 回ずつ、屈曲、最後に確認動作と B をもう 1 回です。最後の B が最初より小さければ疲れていたとわかります。課題のあいだは十分休みます。</a:t>
            </a:r>
          </a:p>
          <a:p/>
          <a:p>
            <a:r>
              <a:t>伸展・屈曲とも、確認動作が 100 %MVC 以下に収まれば決定として、calibration.py の DEFAULT_TASKS に入れます。</a:t>
            </a:r>
          </a:p>
          <a:p/>
          <a:p>
            <a:r>
              <a:t>記録の前に、センサ番号と貼った位置を sensors.json に書き、反らしてどちらが伸筋側か確かめます。今回センサの上下がわからなくなったのを防ぐためです。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</a:t>
            </a:r>
          </a:p>
          <a:p/>
          <a:p>
            <a:r>
              <a:t>大きな目標は、前腕 2 か所で新しいデータを取りました。6 か所の本番データは、MVC の取り方を確かめてから取ります。</a:t>
            </a:r>
          </a:p>
          <a:p/>
          <a:p>
            <a:r>
              <a:t>小さな目標は、伸展の MVC は B（腕を机に乗せ、上から押さえてもらう）に決まりました。屈曲は「机に向かって押し下げる」に決めましたが、足りるかは次回確かめます。一人で取れるかも残っています。</a:t>
            </a:r>
          </a:p>
          <a:p/>
          <a:p>
            <a:r>
              <a:t>来週は、伸展・屈曲の MVC を確かめて、6 か所で本番データを取ります。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66875"/>
            <a:ext cx="7772400" cy="523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3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エイムスキル学習支援の研究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543175"/>
            <a:ext cx="7772400" cy="2857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進捗報告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3128962"/>
            <a:ext cx="2009775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685800" y="3309938"/>
            <a:ext cx="777240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2026年10月8日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今週の目標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2450" y="1285875"/>
            <a:ext cx="3524250" cy="1190625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大きな目標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EMG で、違いが出ている
データを確認する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171950" y="1905000"/>
            <a:ext cx="647700" cy="0"/>
          </a:xfrm>
          <a:prstGeom prst="line">
            <a:avLst/>
          </a:prstGeom>
          <a:ln w="28575">
            <a:solidFill>
              <a:srgbClr val="1F6FB4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4914900" y="1285875"/>
            <a:ext cx="3619500" cy="1190625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4287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小さな目標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伸展の MVC を全力で
取れる方法を決める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850" y="1514475"/>
            <a:ext cx="7239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そのために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52750"/>
            <a:ext cx="7962900" cy="952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・前回：手首を反らしきると約 350 %MVC　→　MVC が小さすぎた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・本番データの前に、MVC の取り方を固める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やったこと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8096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・MVC の取り方を文献で調べた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・候補の取り方を、研究室で同じ日に試した（10-06）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238125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① 文献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13 本を読み
手順をたどる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52750" y="2857500"/>
            <a:ext cx="38100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3352800" y="238125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② 研究室で試す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9 課題 ＋
確認動作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53100" y="2857500"/>
            <a:ext cx="381000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6153150" y="2381250"/>
            <a:ext cx="2381250" cy="9525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③ 比べる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確認動作は
MVC の何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文献でわかったこと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8096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・抵抗は、どの文献も実験者がかけている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・伸筋は、筋ごとに課題を分けている（握る・開く・小指側）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2450" y="22383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52450" y="2238375"/>
            <a:ext cx="2190750" cy="3810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筋ごとの手順あり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0" y="2238375"/>
            <a:ext cx="5676900" cy="3810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Lacelle 2025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2450" y="26193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52450" y="2619375"/>
            <a:ext cx="2190750" cy="3810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別の論文に任せる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0" y="2619375"/>
            <a:ext cx="5676900" cy="3810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Meiryo"/>
                <a:ea typeface="Meiryo"/>
                <a:cs typeface="Meiryo"/>
              </a:rPr>
              <a:t>Forman 2025 ×2・博論　→　たどると Forman 2019 の表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2450" y="30003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52450" y="3000375"/>
            <a:ext cx="2190750" cy="3810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一言だけ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7500" y="3000375"/>
            <a:ext cx="5676900" cy="3810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Wang 2023（解剖ガイドに従った）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2450" y="33813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52450" y="3381375"/>
            <a:ext cx="2190750" cy="3810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MVC を使っていない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0" y="3381375"/>
            <a:ext cx="5676900" cy="38100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8 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2450" y="3762375"/>
            <a:ext cx="7981950" cy="0"/>
          </a:xfrm>
          <a:prstGeom prst="line">
            <a:avLst/>
          </a:prstGeom>
          <a:ln w="7143">
            <a:solidFill>
              <a:srgbClr val="DDDDDD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自分の手で押さえるやり方は、どの文献にもない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試した動作：確認動作と A・B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95375"/>
            <a:ext cx="796290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・確認動作は誰も押さえない。疲れる前の最初に取った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・A と B は、押さえる人だけが違う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1905000"/>
            <a:ext cx="2571750" cy="2143125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97167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確認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325" y="2996565"/>
            <a:ext cx="13716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901" y="3023997"/>
            <a:ext cx="914400" cy="18288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765" y="2767965"/>
            <a:ext cx="1289304" cy="228600"/>
          </a:xfrm>
          <a:prstGeom prst="roundRect">
            <a:avLst>
              <a:gd name="adj" fmla="val 25000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8600000">
            <a:off x="2021205" y="2594229"/>
            <a:ext cx="685800" cy="155448"/>
          </a:xfrm>
          <a:prstGeom prst="roundRect">
            <a:avLst>
              <a:gd name="adj" fmla="val 42892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2707005" y="2447925"/>
            <a:ext cx="0" cy="365760"/>
          </a:xfrm>
          <a:prstGeom prst="line">
            <a:avLst/>
          </a:prstGeom>
          <a:ln w="33337">
            <a:solidFill>
              <a:srgbClr val="1F6FB4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2204085" y="3042285"/>
            <a:ext cx="777240" cy="15544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誰も押さえない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3272790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手首を自由に反らしきる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7550" y="1905000"/>
            <a:ext cx="2571750" cy="2143125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2800" y="197167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A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手のひら下・握る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0425" y="2996565"/>
            <a:ext cx="13716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7001" y="3023997"/>
            <a:ext cx="914400" cy="18288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1865" y="2767965"/>
            <a:ext cx="1289304" cy="228600"/>
          </a:xfrm>
          <a:prstGeom prst="roundRect">
            <a:avLst>
              <a:gd name="adj" fmla="val 25000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3737" y="2745105"/>
            <a:ext cx="329184" cy="274320"/>
          </a:xfrm>
          <a:prstGeom prst="roundRect">
            <a:avLst>
              <a:gd name="adj" fmla="val 24305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5201793" y="2493645"/>
            <a:ext cx="0" cy="365760"/>
          </a:xfrm>
          <a:prstGeom prst="line">
            <a:avLst/>
          </a:prstGeom>
          <a:ln w="33337">
            <a:solidFill>
              <a:srgbClr val="1F6FB4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4735449" y="2635377"/>
            <a:ext cx="365760" cy="100584"/>
          </a:xfrm>
          <a:prstGeom prst="roundRect">
            <a:avLst>
              <a:gd name="adj" fmla="val 28409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918329" y="2379345"/>
            <a:ext cx="0" cy="237744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23" name="TextBox 22"/>
          <p:cNvSpPr txBox="1"/>
          <p:nvPr/>
        </p:nvSpPr>
        <p:spPr>
          <a:xfrm>
            <a:off x="3912489" y="2397633"/>
            <a:ext cx="937260" cy="15544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自分の手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2800" y="3272790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自分の反対の手で押さえる
（前回までのやり方）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62650" y="1905000"/>
            <a:ext cx="2571750" cy="2143125"/>
          </a:xfrm>
          <a:prstGeom prst="roundRect">
            <a:avLst>
              <a:gd name="adj" fmla="val 2666"/>
            </a:avLst>
          </a:prstGeom>
          <a:solidFill>
            <a:srgbClr val="E8F0F8"/>
          </a:solidFill>
          <a:ln w="19050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57900" y="197167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B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手のひら下・握る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05525" y="2996565"/>
            <a:ext cx="13716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2101" y="3023997"/>
            <a:ext cx="914400" cy="18288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6965" y="2767965"/>
            <a:ext cx="1289304" cy="228600"/>
          </a:xfrm>
          <a:prstGeom prst="roundRect">
            <a:avLst>
              <a:gd name="adj" fmla="val 25000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58837" y="2745105"/>
            <a:ext cx="329184" cy="274320"/>
          </a:xfrm>
          <a:prstGeom prst="roundRect">
            <a:avLst>
              <a:gd name="adj" fmla="val 24305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7906893" y="2493645"/>
            <a:ext cx="0" cy="365760"/>
          </a:xfrm>
          <a:prstGeom prst="line">
            <a:avLst/>
          </a:prstGeom>
          <a:ln w="33337">
            <a:solidFill>
              <a:srgbClr val="1F6FB4"/>
            </a:solidFill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7440549" y="2635377"/>
            <a:ext cx="365760" cy="100584"/>
          </a:xfrm>
          <a:prstGeom prst="roundRect">
            <a:avLst>
              <a:gd name="adj" fmla="val 28409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623429" y="2379345"/>
            <a:ext cx="0" cy="237744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6617589" y="2397633"/>
            <a:ext cx="937260" cy="15544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他の人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7900" y="3272790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他の人に上から押さえてもらう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試した動作：伸展のほかの候補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47750"/>
            <a:ext cx="7962900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・文献の課題から、前腕の向き・握る／開く・横方向を変えた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1428750"/>
            <a:ext cx="257175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49542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C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親指が上・握る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6762" y="1743075"/>
            <a:ext cx="2143125" cy="942975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052" y="2540318"/>
            <a:ext cx="1714500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机（上から見た図）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2488" y="2150269"/>
            <a:ext cx="1071562" cy="214312"/>
          </a:xfrm>
          <a:prstGeom prst="roundRect">
            <a:avLst>
              <a:gd name="adj" fmla="val 26666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89760" y="2055971"/>
            <a:ext cx="445770" cy="402908"/>
          </a:xfrm>
          <a:prstGeom prst="roundRect">
            <a:avLst>
              <a:gd name="adj" fmla="val 16548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198370" y="2090261"/>
            <a:ext cx="0" cy="120015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245519" y="2090261"/>
            <a:ext cx="0" cy="120015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292668" y="2090261"/>
            <a:ext cx="0" cy="120015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1924050" y="2235994"/>
            <a:ext cx="334328" cy="120015"/>
          </a:xfrm>
          <a:prstGeom prst="roundRect">
            <a:avLst>
              <a:gd name="adj" fmla="val 50000"/>
            </a:avLst>
          </a:prstGeom>
          <a:solidFill>
            <a:srgbClr val="E2C8B0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64080" y="2257425"/>
            <a:ext cx="68580" cy="77152"/>
          </a:xfrm>
          <a:prstGeom prst="roundRect">
            <a:avLst>
              <a:gd name="adj" fmla="val 27777"/>
            </a:avLst>
          </a:prstGeom>
          <a:solidFill>
            <a:srgbClr val="FFF7EF"/>
          </a:solidFill>
          <a:ln w="4762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1150" y="2381726"/>
            <a:ext cx="282892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8A7A6C"/>
                </a:solidFill>
                <a:latin typeface="Meiryo"/>
                <a:ea typeface="Meiryo"/>
                <a:cs typeface="Meiryo"/>
              </a:rPr>
              <a:t>親指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872615" y="2296001"/>
            <a:ext cx="111443" cy="137160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69632" y="2004536"/>
            <a:ext cx="771525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手の甲側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632" y="2381726"/>
            <a:ext cx="771525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手のひら側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446972" y="1893094"/>
            <a:ext cx="0" cy="342900"/>
          </a:xfrm>
          <a:prstGeom prst="line">
            <a:avLst/>
          </a:prstGeom>
          <a:ln w="33337">
            <a:solidFill>
              <a:srgbClr val="1F6FB4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1941195" y="1953101"/>
            <a:ext cx="342900" cy="94298"/>
          </a:xfrm>
          <a:prstGeom prst="roundRect">
            <a:avLst>
              <a:gd name="adj" fmla="val 30303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112645" y="1713071"/>
            <a:ext cx="0" cy="222885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23" name="TextBox 22"/>
          <p:cNvSpPr txBox="1"/>
          <p:nvPr/>
        </p:nvSpPr>
        <p:spPr>
          <a:xfrm>
            <a:off x="1169670" y="1730216"/>
            <a:ext cx="878681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他の人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2733675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手の甲側へ押す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57550" y="1428750"/>
            <a:ext cx="257175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2800" y="149542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D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親指が上・握る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1862" y="1743075"/>
            <a:ext cx="2143125" cy="942975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6152" y="2540318"/>
            <a:ext cx="1714500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机（上から見た図）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57588" y="2150269"/>
            <a:ext cx="1071562" cy="214312"/>
          </a:xfrm>
          <a:prstGeom prst="roundRect">
            <a:avLst>
              <a:gd name="adj" fmla="val 26666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94860" y="2055971"/>
            <a:ext cx="445770" cy="402908"/>
          </a:xfrm>
          <a:prstGeom prst="roundRect">
            <a:avLst>
              <a:gd name="adj" fmla="val 16548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4903470" y="2090261"/>
            <a:ext cx="0" cy="120015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4950619" y="2090261"/>
            <a:ext cx="0" cy="120015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4997768" y="2090261"/>
            <a:ext cx="0" cy="120015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sp>
        <p:nvSpPr>
          <p:cNvPr id="34" name="Rounded Rectangle 33"/>
          <p:cNvSpPr/>
          <p:nvPr/>
        </p:nvSpPr>
        <p:spPr>
          <a:xfrm>
            <a:off x="4629150" y="2235994"/>
            <a:ext cx="334328" cy="120015"/>
          </a:xfrm>
          <a:prstGeom prst="roundRect">
            <a:avLst>
              <a:gd name="adj" fmla="val 50000"/>
            </a:avLst>
          </a:prstGeom>
          <a:solidFill>
            <a:srgbClr val="E2C8B0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69180" y="2257425"/>
            <a:ext cx="68580" cy="77152"/>
          </a:xfrm>
          <a:prstGeom prst="roundRect">
            <a:avLst>
              <a:gd name="adj" fmla="val 27777"/>
            </a:avLst>
          </a:prstGeom>
          <a:solidFill>
            <a:srgbClr val="FFF7EF"/>
          </a:solidFill>
          <a:ln w="4762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86250" y="2381726"/>
            <a:ext cx="282892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8A7A6C"/>
                </a:solidFill>
                <a:latin typeface="Meiryo"/>
                <a:ea typeface="Meiryo"/>
                <a:cs typeface="Meiryo"/>
              </a:rPr>
              <a:t>親指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577715" y="2296001"/>
            <a:ext cx="111443" cy="137160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3574732" y="2004536"/>
            <a:ext cx="771525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手の甲側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4732" y="2381726"/>
            <a:ext cx="771525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手のひら側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152072" y="1893094"/>
            <a:ext cx="0" cy="342900"/>
          </a:xfrm>
          <a:prstGeom prst="line">
            <a:avLst/>
          </a:prstGeom>
          <a:ln w="33337">
            <a:solidFill>
              <a:srgbClr val="1F6FB4"/>
            </a:solidFill>
            <a:tailEnd type="triangle" w="med" len="med"/>
          </a:ln>
        </p:spPr>
      </p:cxnSp>
      <p:sp>
        <p:nvSpPr>
          <p:cNvPr id="41" name="TextBox 40"/>
          <p:cNvSpPr txBox="1"/>
          <p:nvPr/>
        </p:nvSpPr>
        <p:spPr>
          <a:xfrm>
            <a:off x="3909060" y="2527459"/>
            <a:ext cx="1371600" cy="1714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＋小指側（机へ）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46295" y="1953101"/>
            <a:ext cx="342900" cy="94298"/>
          </a:xfrm>
          <a:prstGeom prst="roundRect">
            <a:avLst>
              <a:gd name="adj" fmla="val 30303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817745" y="1713071"/>
            <a:ext cx="0" cy="222885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44" name="TextBox 43"/>
          <p:cNvSpPr txBox="1"/>
          <p:nvPr/>
        </p:nvSpPr>
        <p:spPr>
          <a:xfrm>
            <a:off x="3874770" y="1730216"/>
            <a:ext cx="878681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他の人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2733675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手の甲側＋小指側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52800" y="2952750"/>
            <a:ext cx="238125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腕を浮かせた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62650" y="1428750"/>
            <a:ext cx="257175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7900" y="149542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E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親指が上・開く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6962" y="1743075"/>
            <a:ext cx="2143125" cy="942975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1252" y="2540318"/>
            <a:ext cx="1714500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机（上から見た図）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62688" y="2150269"/>
            <a:ext cx="1071562" cy="214312"/>
          </a:xfrm>
          <a:prstGeom prst="roundRect">
            <a:avLst>
              <a:gd name="adj" fmla="val 26666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299960" y="2133124"/>
            <a:ext cx="771525" cy="248602"/>
          </a:xfrm>
          <a:prstGeom prst="roundRect">
            <a:avLst>
              <a:gd name="adj" fmla="val 26819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728585" y="2207704"/>
            <a:ext cx="300037" cy="0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7728585" y="2257425"/>
            <a:ext cx="300037" cy="0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7728585" y="2307146"/>
            <a:ext cx="300037" cy="0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sp>
        <p:nvSpPr>
          <p:cNvPr id="56" name="Rounded Rectangle 55"/>
          <p:cNvSpPr/>
          <p:nvPr/>
        </p:nvSpPr>
        <p:spPr>
          <a:xfrm>
            <a:off x="7334250" y="2193131"/>
            <a:ext cx="428625" cy="111443"/>
          </a:xfrm>
          <a:prstGeom prst="roundRect">
            <a:avLst>
              <a:gd name="adj" fmla="val 50000"/>
            </a:avLst>
          </a:prstGeom>
          <a:solidFill>
            <a:srgbClr val="E2C8B0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668578" y="2214562"/>
            <a:ext cx="68580" cy="68580"/>
          </a:xfrm>
          <a:prstGeom prst="roundRect">
            <a:avLst>
              <a:gd name="adj" fmla="val 27777"/>
            </a:avLst>
          </a:prstGeom>
          <a:solidFill>
            <a:srgbClr val="FFF7EF"/>
          </a:solidFill>
          <a:ln w="4762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1350" y="2381726"/>
            <a:ext cx="282892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8A7A6C"/>
                </a:solidFill>
                <a:latin typeface="Meiryo"/>
                <a:ea typeface="Meiryo"/>
                <a:cs typeface="Meiryo"/>
              </a:rPr>
              <a:t>親指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7282815" y="2248852"/>
            <a:ext cx="111443" cy="184309"/>
          </a:xfrm>
          <a:prstGeom prst="line">
            <a:avLst/>
          </a:prstGeom>
          <a:ln w="7143">
            <a:solidFill>
              <a:srgbClr val="8A7A6C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279832" y="2004536"/>
            <a:ext cx="771525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手の甲側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9832" y="2381726"/>
            <a:ext cx="771525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手のひら側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8182928" y="1893094"/>
            <a:ext cx="0" cy="342900"/>
          </a:xfrm>
          <a:prstGeom prst="line">
            <a:avLst/>
          </a:prstGeom>
          <a:ln w="33337">
            <a:solidFill>
              <a:srgbClr val="1F6FB4"/>
            </a:solidFill>
            <a:tailEnd type="triangle" w="med" len="med"/>
          </a:ln>
        </p:spPr>
      </p:cxnSp>
      <p:sp>
        <p:nvSpPr>
          <p:cNvPr id="63" name="Rounded Rectangle 62"/>
          <p:cNvSpPr/>
          <p:nvPr/>
        </p:nvSpPr>
        <p:spPr>
          <a:xfrm>
            <a:off x="7514272" y="2030254"/>
            <a:ext cx="342900" cy="94298"/>
          </a:xfrm>
          <a:prstGeom prst="roundRect">
            <a:avLst>
              <a:gd name="adj" fmla="val 30303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685722" y="1790224"/>
            <a:ext cx="0" cy="222885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65" name="TextBox 64"/>
          <p:cNvSpPr txBox="1"/>
          <p:nvPr/>
        </p:nvSpPr>
        <p:spPr>
          <a:xfrm>
            <a:off x="6742748" y="1807369"/>
            <a:ext cx="878681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両手で包む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57900" y="2733675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包まれた手を開きながら反らす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57900" y="2952750"/>
            <a:ext cx="238125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腕を浮かせた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2450" y="3238500"/>
            <a:ext cx="257175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7700" y="330517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F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手のひら下・握る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6762" y="4281488"/>
            <a:ext cx="1285875" cy="21431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1052" y="4307205"/>
            <a:ext cx="857250" cy="1714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6800" y="4127182"/>
            <a:ext cx="985838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↕ 浮かせた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52488" y="3895725"/>
            <a:ext cx="1208722" cy="214312"/>
          </a:xfrm>
          <a:prstGeom prst="roundRect">
            <a:avLst>
              <a:gd name="adj" fmla="val 26666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035493" y="3874294"/>
            <a:ext cx="308610" cy="257175"/>
          </a:xfrm>
          <a:prstGeom prst="roundRect">
            <a:avLst>
              <a:gd name="adj" fmla="val 25925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2455545" y="3638550"/>
            <a:ext cx="0" cy="342900"/>
          </a:xfrm>
          <a:prstGeom prst="line">
            <a:avLst/>
          </a:prstGeom>
          <a:ln w="33337">
            <a:solidFill>
              <a:srgbClr val="1F6FB4"/>
            </a:solidFill>
            <a:tailEnd type="triangle" w="med" len="med"/>
          </a:ln>
        </p:spPr>
      </p:cxnSp>
      <p:sp>
        <p:nvSpPr>
          <p:cNvPr id="76" name="TextBox 75"/>
          <p:cNvSpPr txBox="1"/>
          <p:nvPr/>
        </p:nvSpPr>
        <p:spPr>
          <a:xfrm>
            <a:off x="1212533" y="4118610"/>
            <a:ext cx="1371600" cy="1714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＋親指側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018348" y="3771424"/>
            <a:ext cx="342900" cy="94298"/>
          </a:xfrm>
          <a:prstGeom prst="roundRect">
            <a:avLst>
              <a:gd name="adj" fmla="val 30303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2189798" y="3531394"/>
            <a:ext cx="0" cy="222885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79" name="TextBox 78"/>
          <p:cNvSpPr txBox="1"/>
          <p:nvPr/>
        </p:nvSpPr>
        <p:spPr>
          <a:xfrm>
            <a:off x="1246822" y="3548539"/>
            <a:ext cx="878681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他の人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700" y="4543425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反らす＋親指側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7700" y="4762500"/>
            <a:ext cx="238125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腕を浮かせた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57550" y="3238500"/>
            <a:ext cx="257175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52800" y="330517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G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手のひら下・開く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71862" y="4281488"/>
            <a:ext cx="1285875" cy="21431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06152" y="4307205"/>
            <a:ext cx="857250" cy="1714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71900" y="4127182"/>
            <a:ext cx="985838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↕ 浮かせた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557588" y="3895725"/>
            <a:ext cx="1208722" cy="214312"/>
          </a:xfrm>
          <a:prstGeom prst="roundRect">
            <a:avLst>
              <a:gd name="adj" fmla="val 26666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740593" y="3930015"/>
            <a:ext cx="642938" cy="145732"/>
          </a:xfrm>
          <a:prstGeom prst="roundRect">
            <a:avLst>
              <a:gd name="adj" fmla="val 45751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 flipV="1">
            <a:off x="5486400" y="3638550"/>
            <a:ext cx="0" cy="342900"/>
          </a:xfrm>
          <a:prstGeom prst="line">
            <a:avLst/>
          </a:prstGeom>
          <a:ln w="33337">
            <a:solidFill>
              <a:srgbClr val="1F6FB4"/>
            </a:solidFill>
            <a:tailEnd type="triangle" w="med" len="med"/>
          </a:ln>
        </p:spPr>
      </p:cxnSp>
      <p:sp>
        <p:nvSpPr>
          <p:cNvPr id="90" name="Rounded Rectangle 89"/>
          <p:cNvSpPr/>
          <p:nvPr/>
        </p:nvSpPr>
        <p:spPr>
          <a:xfrm>
            <a:off x="4890611" y="3827145"/>
            <a:ext cx="342900" cy="94298"/>
          </a:xfrm>
          <a:prstGeom prst="roundRect">
            <a:avLst>
              <a:gd name="adj" fmla="val 30303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5062061" y="3587115"/>
            <a:ext cx="0" cy="222885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92" name="TextBox 91"/>
          <p:cNvSpPr txBox="1"/>
          <p:nvPr/>
        </p:nvSpPr>
        <p:spPr>
          <a:xfrm>
            <a:off x="4119086" y="3604260"/>
            <a:ext cx="878681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他の人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52800" y="4543425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指を伸ばしたまま反らす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52800" y="4762500"/>
            <a:ext cx="238125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腕を浮かせた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62650" y="3238500"/>
            <a:ext cx="2571750" cy="171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57900" y="330517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H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手のひら下・握る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76962" y="4281488"/>
            <a:ext cx="1285875" cy="21431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11252" y="4307205"/>
            <a:ext cx="857250" cy="1714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77000" y="4127182"/>
            <a:ext cx="985838" cy="145732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↕ 浮かせた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62688" y="3895725"/>
            <a:ext cx="1208722" cy="214312"/>
          </a:xfrm>
          <a:prstGeom prst="roundRect">
            <a:avLst>
              <a:gd name="adj" fmla="val 26666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445692" y="3874294"/>
            <a:ext cx="308610" cy="257175"/>
          </a:xfrm>
          <a:prstGeom prst="roundRect">
            <a:avLst>
              <a:gd name="adj" fmla="val 25925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7865745" y="3638550"/>
            <a:ext cx="0" cy="342900"/>
          </a:xfrm>
          <a:prstGeom prst="line">
            <a:avLst/>
          </a:prstGeom>
          <a:ln w="33337">
            <a:solidFill>
              <a:srgbClr val="1F6FB4"/>
            </a:solidFill>
            <a:tailEnd type="triangle" w="med" len="med"/>
          </a:ln>
        </p:spPr>
      </p:cxnSp>
      <p:sp>
        <p:nvSpPr>
          <p:cNvPr id="103" name="Rectangle 102"/>
          <p:cNvSpPr/>
          <p:nvPr/>
        </p:nvSpPr>
        <p:spPr>
          <a:xfrm>
            <a:off x="7162800" y="3762851"/>
            <a:ext cx="857250" cy="94298"/>
          </a:xfrm>
          <a:prstGeom prst="rect">
            <a:avLst/>
          </a:prstGeom>
          <a:solidFill>
            <a:srgbClr val="8A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05588" y="3728561"/>
            <a:ext cx="535781" cy="12858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天板の裏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57900" y="4543425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一人で、天板の裏を押し上げる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57900" y="4762500"/>
            <a:ext cx="238125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腕を浮かせた　CSV なし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試した動作：屈曲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95375"/>
            <a:ext cx="796290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・確認動作は、手首から先を机の端から出して曲げきる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・課題は手のひら上の 2 つ。どちらも腕を浮かせた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1905000"/>
            <a:ext cx="2571750" cy="2143125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97167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確認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325" y="2996565"/>
            <a:ext cx="13716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901" y="3023997"/>
            <a:ext cx="914400" cy="18288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765" y="2767965"/>
            <a:ext cx="1289304" cy="228600"/>
          </a:xfrm>
          <a:prstGeom prst="roundRect">
            <a:avLst>
              <a:gd name="adj" fmla="val 25000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3000000">
            <a:off x="2021205" y="2895981"/>
            <a:ext cx="685800" cy="155448"/>
          </a:xfrm>
          <a:prstGeom prst="roundRect">
            <a:avLst>
              <a:gd name="adj" fmla="val 42892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707005" y="2905125"/>
            <a:ext cx="0" cy="320040"/>
          </a:xfrm>
          <a:prstGeom prst="line">
            <a:avLst/>
          </a:prstGeom>
          <a:ln w="33337">
            <a:solidFill>
              <a:srgbClr val="B0560C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2204085" y="2585085"/>
            <a:ext cx="777240" cy="15544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誰も押さえない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3272790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手首を自由に曲げきる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57550" y="1905000"/>
            <a:ext cx="2571750" cy="2143125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2800" y="197167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I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手のひら上・握る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0425" y="2996565"/>
            <a:ext cx="13716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7001" y="3023997"/>
            <a:ext cx="914400" cy="18288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0465" y="2831973"/>
            <a:ext cx="1051560" cy="15544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↕ 浮かせた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1865" y="2585085"/>
            <a:ext cx="1289304" cy="228600"/>
          </a:xfrm>
          <a:prstGeom prst="roundRect">
            <a:avLst>
              <a:gd name="adj" fmla="val 25000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3737" y="2562225"/>
            <a:ext cx="329184" cy="274320"/>
          </a:xfrm>
          <a:prstGeom prst="roundRect">
            <a:avLst>
              <a:gd name="adj" fmla="val 24305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5201793" y="2310765"/>
            <a:ext cx="0" cy="365760"/>
          </a:xfrm>
          <a:prstGeom prst="line">
            <a:avLst/>
          </a:prstGeom>
          <a:ln w="33337">
            <a:solidFill>
              <a:srgbClr val="B0560C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4735449" y="2452497"/>
            <a:ext cx="365760" cy="100584"/>
          </a:xfrm>
          <a:prstGeom prst="roundRect">
            <a:avLst>
              <a:gd name="adj" fmla="val 28409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918329" y="2196465"/>
            <a:ext cx="0" cy="237744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3912489" y="2214753"/>
            <a:ext cx="937260" cy="15544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他の人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2800" y="3272790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こぶしを押さえてもらい
手のひら側へ曲げる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2800" y="3857625"/>
            <a:ext cx="238125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腕を浮かせた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2650" y="1905000"/>
            <a:ext cx="2571750" cy="2143125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7900" y="1971675"/>
            <a:ext cx="23812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J　</a:t>
            </a:r>
            <a:r>
              <a:rPr sz="90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手のひら上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5525" y="2996565"/>
            <a:ext cx="1371600" cy="2286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2101" y="3023997"/>
            <a:ext cx="914400" cy="18288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5565" y="2831973"/>
            <a:ext cx="1051560" cy="15544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↕ 浮かせた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6965" y="2585085"/>
            <a:ext cx="1289304" cy="228600"/>
          </a:xfrm>
          <a:prstGeom prst="roundRect">
            <a:avLst>
              <a:gd name="adj" fmla="val 25000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58837" y="2562225"/>
            <a:ext cx="329184" cy="274320"/>
          </a:xfrm>
          <a:prstGeom prst="roundRect">
            <a:avLst>
              <a:gd name="adj" fmla="val 24305"/>
            </a:avLst>
          </a:prstGeom>
          <a:solidFill>
            <a:srgbClr val="F1E3D6"/>
          </a:solidFill>
          <a:ln w="9525">
            <a:solidFill>
              <a:srgbClr val="8A7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7906893" y="2310765"/>
            <a:ext cx="0" cy="365760"/>
          </a:xfrm>
          <a:prstGeom prst="line">
            <a:avLst/>
          </a:prstGeom>
          <a:ln w="33337">
            <a:solidFill>
              <a:srgbClr val="B0560C"/>
            </a:solidFill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7440549" y="2452497"/>
            <a:ext cx="365760" cy="100584"/>
          </a:xfrm>
          <a:prstGeom prst="roundRect">
            <a:avLst>
              <a:gd name="adj" fmla="val 28409"/>
            </a:avLst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7623429" y="2196465"/>
            <a:ext cx="0" cy="237744"/>
          </a:xfrm>
          <a:prstGeom prst="line">
            <a:avLst/>
          </a:prstGeom>
          <a:ln w="28575">
            <a:solidFill>
              <a:srgbClr val="A6A6A6"/>
            </a:solidFill>
            <a:tailEnd type="triangle" w="med" len="med"/>
          </a:ln>
        </p:spPr>
      </p:cxnSp>
      <p:sp>
        <p:nvSpPr>
          <p:cNvPr id="37" name="TextBox 36"/>
          <p:cNvSpPr txBox="1"/>
          <p:nvPr/>
        </p:nvSpPr>
        <p:spPr>
          <a:xfrm>
            <a:off x="6617589" y="2214753"/>
            <a:ext cx="937260" cy="155448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12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他の人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7900" y="3272790"/>
            <a:ext cx="238125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相手の指を握りながら
手のひら側へ曲げる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7900" y="3857625"/>
            <a:ext cx="2381250" cy="1428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腕を浮かせた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どう比べたか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8096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・確認動作 ＝ 誰も押さえず、手首を反らしきる（疲れる前の最初に取る）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・確認動作 ÷ 課題の MVC が 100% 以下なら、全力を出し切れている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381250"/>
            <a:ext cx="2381250" cy="4286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課題の MVC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2443162"/>
            <a:ext cx="3333750" cy="304800"/>
          </a:xfrm>
          <a:prstGeom prst="roundRect">
            <a:avLst>
              <a:gd name="adj" fmla="val 6250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0" y="2381250"/>
            <a:ext cx="2057400" cy="4286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＝ 100 %MVC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2905125"/>
            <a:ext cx="2381250" cy="4286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8000" y="2967038"/>
            <a:ext cx="1905000" cy="304800"/>
          </a:xfrm>
          <a:prstGeom prst="roundRect">
            <a:avLst>
              <a:gd name="adj" fmla="val 6250"/>
            </a:avLst>
          </a:prstGeom>
          <a:solidFill>
            <a:srgbClr val="9DB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8250" y="2905125"/>
            <a:ext cx="3486150" cy="4286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100% 以下　→　足りている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3381375"/>
            <a:ext cx="2381250" cy="4286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確認動作（足りない例）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0" y="3443288"/>
            <a:ext cx="4286250" cy="304800"/>
          </a:xfrm>
          <a:prstGeom prst="roundRect">
            <a:avLst>
              <a:gd name="adj" fmla="val 6250"/>
            </a:avLst>
          </a:prstGeom>
          <a:solidFill>
            <a:srgbClr val="F4F4F4"/>
          </a:solidFill>
          <a:ln w="9525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9500" y="3381375"/>
            <a:ext cx="1104900" cy="428625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超える
→ 足りない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81750" y="2333625"/>
            <a:ext cx="0" cy="1476375"/>
          </a:xfrm>
          <a:prstGeom prst="line">
            <a:avLst/>
          </a:prstGeom>
          <a:ln w="14287">
            <a:solidFill>
              <a:srgbClr val="1A1A1A"/>
            </a:solidFill>
            <a:prstDash val="das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伸展：B で足りた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8096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・腕を机に乗せ、上から押さえてもらう（B）で 56 %MVC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・確認動作は疲れる前に取った　→　疲れがあっても結論は同じ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143125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伸筋側：確認動作は MVC の何 %か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476500"/>
            <a:ext cx="2667000" cy="4381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09-29　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自分の反対の手で押さえる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0" y="2552700"/>
            <a:ext cx="4333875" cy="285750"/>
          </a:xfrm>
          <a:prstGeom prst="roundRect">
            <a:avLst>
              <a:gd name="adj" fmla="val 6666"/>
            </a:avLst>
          </a:prstGeom>
          <a:solidFill>
            <a:srgbClr val="9DB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3825" y="2476500"/>
            <a:ext cx="1428750" cy="4381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350 %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2914650"/>
            <a:ext cx="2667000" cy="4381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10-06　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同じやり方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750" y="2990850"/>
            <a:ext cx="1188720" cy="285750"/>
          </a:xfrm>
          <a:prstGeom prst="roundRect">
            <a:avLst>
              <a:gd name="adj" fmla="val 6666"/>
            </a:avLst>
          </a:prstGeom>
          <a:solidFill>
            <a:srgbClr val="9DB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8670" y="2914650"/>
            <a:ext cx="1428750" cy="4381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96 %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3352800"/>
            <a:ext cx="2667000" cy="4381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10-06　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他の人に上から押さえてもらう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750" y="3429000"/>
            <a:ext cx="693420" cy="285750"/>
          </a:xfrm>
          <a:prstGeom prst="roundRect">
            <a:avLst>
              <a:gd name="adj" fmla="val 6666"/>
            </a:avLst>
          </a:prstGeom>
          <a:solidFill>
            <a:srgbClr val="1F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03370" y="3352800"/>
            <a:ext cx="1428750" cy="4381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56 %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381250"/>
            <a:ext cx="0" cy="1428750"/>
          </a:xfrm>
          <a:prstGeom prst="line">
            <a:avLst/>
          </a:prstGeom>
          <a:ln w="14287">
            <a:solidFill>
              <a:srgbClr val="1A1A1A"/>
            </a:solidFill>
            <a:prstDash val="dash"/>
          </a:ln>
        </p:spPr>
      </p:cxnSp>
      <p:sp>
        <p:nvSpPr>
          <p:cNvPr id="16" name="TextBox 15"/>
          <p:cNvSpPr txBox="1"/>
          <p:nvPr/>
        </p:nvSpPr>
        <p:spPr>
          <a:xfrm>
            <a:off x="4095750" y="2171700"/>
            <a:ext cx="9525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100 %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0" y="2143125"/>
            <a:ext cx="32956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A が日で違う理由は未確定（センサの位置？押さえ方？）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伸展の MVC は B に決める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足りなかったこと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1238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5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・屈曲は、確認動作が 416 %MVC で足りない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5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・続けて取ったので、ほかの課題の差は疲れと分けられない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50"/>
              </a:spcAft>
            </a:pPr>
            <a:r>
              <a:rPr sz="15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・D 以降（屈曲の I・J も）は腕を浮かせた　→　うまくいかなそう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667000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屈筋側：確認動作は MVC の何 %か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3143250"/>
            <a:ext cx="266700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J　相手の手を握る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屈曲で一番大きい課題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0" y="3238500"/>
            <a:ext cx="4754880" cy="285750"/>
          </a:xfrm>
          <a:prstGeom prst="roundRect">
            <a:avLst>
              <a:gd name="adj" fmla="val 6666"/>
            </a:avLst>
          </a:prstGeom>
          <a:solidFill>
            <a:srgbClr val="E07B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64830" y="3143250"/>
            <a:ext cx="1428750" cy="476250"/>
          </a:xfrm>
          <a:prstGeom prst="rect">
            <a:avLst/>
          </a:prstGeom>
          <a:noFill/>
        </p:spPr>
        <p:txBody>
          <a:bodyPr wrap="square" tIns="0" rIns="0" bIns="0" l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416 %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76750" y="3048000"/>
            <a:ext cx="0" cy="590550"/>
          </a:xfrm>
          <a:prstGeom prst="line">
            <a:avLst/>
          </a:prstGeom>
          <a:ln w="14287">
            <a:solidFill>
              <a:srgbClr val="1A1A1A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4000500" y="2838450"/>
            <a:ext cx="95250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100 %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腕を浮かせず、休みをとって取り直す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次やること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190625"/>
            <a:ext cx="7962900" cy="3810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・腕は机に乗せる。疲れる前と後に確認動作を取る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2450" y="1762125"/>
            <a:ext cx="3905250" cy="809625"/>
          </a:xfrm>
          <a:prstGeom prst="roundRect">
            <a:avLst>
              <a:gd name="adj" fmla="val 7058"/>
            </a:avLst>
          </a:prstGeom>
          <a:solidFill>
            <a:srgbClr val="E8F0F8"/>
          </a:solidFill>
          <a:ln w="14287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伸展（決定）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手のひら下・握って、上から押さえてもらう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29150" y="1762125"/>
            <a:ext cx="3905250" cy="809625"/>
          </a:xfrm>
          <a:prstGeom prst="roundRect">
            <a:avLst>
              <a:gd name="adj" fmla="val 7058"/>
            </a:avLst>
          </a:prstGeom>
          <a:solidFill>
            <a:srgbClr val="FBEBDD"/>
          </a:solidFill>
          <a:ln w="14287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52400" bIns="114300" lIns="1524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B0560C"/>
                </a:solidFill>
                <a:latin typeface="Meiryo"/>
                <a:ea typeface="Meiryo"/>
                <a:cs typeface="Meiryo"/>
              </a:rPr>
              <a:t>屈曲（次回確かめる）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机に向かって押し下げる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809875"/>
            <a:ext cx="7981950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次回の記録の順番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2450" y="3095625"/>
            <a:ext cx="1762125" cy="762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 最初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3625" y="3476625"/>
            <a:ext cx="271463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0" name="Rounded Rectangle 9"/>
          <p:cNvSpPr/>
          <p:nvPr/>
        </p:nvSpPr>
        <p:spPr>
          <a:xfrm>
            <a:off x="2624138" y="3095625"/>
            <a:ext cx="1762125" cy="762000"/>
          </a:xfrm>
          <a:prstGeom prst="roundRect">
            <a:avLst>
              <a:gd name="adj" fmla="val 75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B・H
2 回ずつ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05312" y="3476625"/>
            <a:ext cx="271463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4695825" y="3095625"/>
            <a:ext cx="1762125" cy="762000"/>
          </a:xfrm>
          <a:prstGeom prst="roundRect">
            <a:avLst>
              <a:gd name="adj" fmla="val 7500"/>
            </a:avLst>
          </a:prstGeom>
          <a:solidFill>
            <a:srgbClr val="E8F0F8"/>
          </a:solidFill>
          <a:ln w="9525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3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屈曲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77000" y="3476625"/>
            <a:ext cx="271462" cy="0"/>
          </a:xfrm>
          <a:prstGeom prst="line">
            <a:avLst/>
          </a:prstGeom>
          <a:ln w="19050">
            <a:solidFill>
              <a:srgbClr val="6B6B6B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6767512" y="3095625"/>
            <a:ext cx="1762125" cy="762000"/>
          </a:xfrm>
          <a:prstGeom prst="roundRect">
            <a:avLst>
              <a:gd name="adj" fmla="val 7500"/>
            </a:avLst>
          </a:prstGeom>
          <a:solidFill>
            <a:srgbClr val="F4F4F4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14300" rIns="114300" bIns="114300" lIns="1143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7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4 最後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確認動作
＋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4048125"/>
            <a:ext cx="7981950" cy="23812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記録の前に、センサの番号と位置を sensors.json に書く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381000"/>
            <a:ext cx="7143750" cy="47625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3375" y="476250"/>
            <a:ext cx="581025" cy="190500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2450" y="1190625"/>
            <a:ext cx="3524250" cy="1190625"/>
          </a:xfrm>
          <a:prstGeom prst="roundRect">
            <a:avLst>
              <a:gd name="adj" fmla="val 64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BFD6EE"/>
                </a:solidFill>
                <a:latin typeface="Meiryo"/>
                <a:ea typeface="Meiryo"/>
                <a:cs typeface="Meiryo"/>
              </a:rPr>
              <a:t>大きな目標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EMG で、違いが出ている
データを確認する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171950" y="1809750"/>
            <a:ext cx="647700" cy="0"/>
          </a:xfrm>
          <a:prstGeom prst="line">
            <a:avLst/>
          </a:prstGeom>
          <a:ln w="28575">
            <a:solidFill>
              <a:srgbClr val="1F6FB4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4914900" y="1190625"/>
            <a:ext cx="3619500" cy="1190625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4287">
            <a:solidFill>
              <a:srgbClr val="1F6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71450" rIns="190500" bIns="171450" lIns="19050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50"/>
              </a:spcAft>
            </a:pPr>
            <a:r>
              <a:rPr sz="1125" b="1">
                <a:solidFill>
                  <a:srgbClr val="1F6FB4"/>
                </a:solidFill>
                <a:latin typeface="Meiryo"/>
                <a:ea typeface="Meiryo"/>
                <a:cs typeface="Meiryo"/>
              </a:rPr>
              <a:t>小さな目標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伸展の MVC を全力で
取れる方法を決める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450" y="2667000"/>
            <a:ext cx="2095500" cy="2667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B6B6B"/>
                </a:solidFill>
                <a:latin typeface="Meiryo"/>
                <a:ea typeface="Meiryo"/>
                <a:cs typeface="Meiryo"/>
              </a:rPr>
              <a:t>前腕 2 か所で新しく取った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048000"/>
            <a:ext cx="352425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・6 か所は、MVC を確かめてから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4900" y="2667000"/>
            <a:ext cx="2095500" cy="266700"/>
          </a:xfrm>
          <a:prstGeom prst="roundRect">
            <a:avLst>
              <a:gd name="adj" fmla="val 50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rIns="0" bIns="0" l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F4E79"/>
                </a:solidFill>
                <a:latin typeface="Meiryo"/>
                <a:ea typeface="Meiryo"/>
                <a:cs typeface="Meiryo"/>
              </a:rPr>
              <a:t>伸展は B に決定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3048000"/>
            <a:ext cx="3619500" cy="714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・屈曲は次回確かめる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75"/>
              </a:spcAft>
            </a:pPr>
            <a:r>
              <a:rPr sz="1350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・一人で取れるかも残った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738" y="3914775"/>
            <a:ext cx="7967662" cy="0"/>
          </a:xfrm>
          <a:prstGeom prst="line">
            <a:avLst/>
          </a:prstGeom>
          <a:ln w="9525">
            <a:solidFill>
              <a:srgbClr val="C8C8C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66738" y="4095750"/>
            <a:ext cx="7967662" cy="333375"/>
          </a:xfrm>
          <a:prstGeom prst="rect">
            <a:avLst/>
          </a:prstGeom>
          <a:noFill/>
        </p:spPr>
        <p:txBody>
          <a:bodyPr wrap="square" tIns="0" rIns="0" bIns="0" l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1A1A1A"/>
                </a:solidFill>
                <a:latin typeface="Meiryo"/>
                <a:ea typeface="Meiryo"/>
                <a:cs typeface="Meiryo"/>
              </a:rPr>
              <a:t>来週：MVC を確かめて、6 か所で本番データを取る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