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今週は、前回うまくいかなかった伸展の MVC の取り方を決めました。文献で取り方を調べ、研究室で候補を同じ日に試しました。結論から言うと、伸展は「腕を机に乗せ、他の人に上から押さえてもらう」やり方で足りました。屈曲はまだ足りていません。</a:t>
            </a:r>
          </a:p>
          <a:p/>
          <a:p>
            <a:r>
              <a:t>流れは、目標 → やったこと → わかったこと → 次やること → まとめ、の順で話します。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大きな目標は先週と同じで、EMG でデータを取り、実際に違いが出ているデータを確認することです。</a:t>
            </a:r>
          </a:p>
          <a:p/>
          <a:p>
            <a:r>
              <a:t>そのための小さな目標が、伸展の MVC を全力で取れる方法を決めることです。MVC は最大随意収縮、その筋で出せる全力のときの筋活動で、%MVC を出すときの分母になります。</a:t>
            </a:r>
          </a:p>
          <a:p/>
          <a:p>
            <a:r>
              <a:t>前回（09-29）は、机に固定した手を自分の反対の手で押さえて反らす方法で伸展の MVC を取りました。ところがデモで手首を自由に反らしきっただけで、伸筋側が約 350 %MVC になりました。分母の MVC が小さすぎると %MVC が 100% を超え、日をまたいだ比較の土台になりません。なので、本番データを取る前に MVC の取り方を固めます。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 つやりました。</a:t>
            </a:r>
          </a:p>
          <a:p/>
          <a:p>
            <a:r>
              <a:t>1 つ目は文献です。手持ちの 13 本を読み、MVC の手順が書いてあるかを確認しました。手順を別の論文に任せていたものは、引用をたどって元の手順まで読みました（Forman 2020 の 2 本、Forman 2019、Holmes 2022）。まとめは literature/notes/MVC_protocols.md にあります。</a:t>
            </a:r>
          </a:p>
          <a:p/>
          <a:p>
            <a:r>
              <a:t>2 つ目は研究室での比較です。10-06 に、前腕 2 か所（伸筋側・屈筋側）にセンサを付け、手伝ってくれる人 1 人と記録しました。9 つの課題を 1 回ずつ（前回のやり方 A だけ 2 回）と、確認動作（手首を自由に反らしきる・曲げきる）を 1 回ずつ取りました。比べるのは mvc-compare というコマンドで、確認動作がそれぞれの課題の MVC の何 % になるかを出します。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文献から言えることは 2 つです。</a:t>
            </a:r>
          </a:p>
          <a:p/>
          <a:p>
            <a:r>
              <a:t>1 つ目、抵抗はどの文献も実験者がかけています。前回の「自分の反対の手で押さえる」やり方はどこにもありませんでした。力センサで測る Forman 2020 も、使わない手は机の上に置かせていて、押さえるのには使わせていません。</a:t>
            </a:r>
          </a:p>
          <a:p/>
          <a:p>
            <a:r>
              <a:t>2 つ目、伸筋は伸展だけでなく、筋ごとに課題を分けています。握って伸展、伸展＋尺屈（小指側）、手を全力で開きながら伸展、などです。前腕の向きは文献で違い、Forman は親指が上、Lacelle は手のひら下です。また Lacelle は、ほかの全力課題のほうが EMG が大きければそちらで正規化していて、全課題の最大を MVC にする今のコードと同じ考え方です。</a:t>
            </a:r>
          </a:p>
          <a:p/>
          <a:p>
            <a:r>
              <a:t>【13 本の内訳（聞かれたら）】</a:t>
            </a:r>
          </a:p>
          <a:p>
            <a:r>
              <a:t>・筋ごとの手順まで書いてあった：Lacelle 2025。もう 1 本は、たどって行き着いた Forman 2019</a:t>
            </a:r>
          </a:p>
          <a:p>
            <a:r>
              <a:t>・手順を別の論文に任せている：Forman 2025 の 2 本と Forman 2023（博論）。たどると Forman 2019 の表に行き着く。Forman 2019 は有料だが、著者の博論（2020、Ontario Tech、公開）の 3 章が同じ論文で、表 3.1 に同じ表がある</a:t>
            </a:r>
          </a:p>
          <a:p>
            <a:r>
              <a:t>・Wang 2023：「解剖ガイド（Perotto 2011）に従った」とだけ書いている</a:t>
            </a:r>
          </a:p>
          <a:p>
            <a:r>
              <a:t>・MVC を使っていない 8 本：Park 2021、Prajapati 2024、Kuikkaniemi 2010（別の正規化）、Okinaka &amp; Wada 2023、Jeong 2024（RMS や周波数のみ）、Donovan 2022、Dupuy 2024、Dupuy 2025（EMG を測っていない）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10-06 に試した動作です。3 枚に分けて見せます。図は模式図で、手のひら下・手のひら上は横から、親指が上は上から見ています。</a:t>
            </a:r>
          </a:p>
          <a:p/>
          <a:p>
            <a:r>
              <a:t>まず確認動作。誰も押さえずに、手首を自由に反らしきる動きです。09-29 のデモで 350 %MVC になったのと同じ動きで、疲れる前の最大を見るため、記録の最初に取りました。</a:t>
            </a:r>
          </a:p>
          <a:p/>
          <a:p>
            <a:r>
              <a:t>A は前回までのやり方で、握って、自分の反対の手で手の甲を押さえて反らします。比べるための基準として 2 回取りました。</a:t>
            </a:r>
          </a:p>
          <a:p/>
          <a:p>
            <a:r>
              <a:t>B は、同じ姿勢で、手伝う人に手の甲を上から押さえてもらいます。A と B は押さえる人だけが違うので、差を見れば「他の人に押さえてもらう」効果がわかる、という組み方です。ここまでの 3 つは腕を机に乗せて取りました。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伸展のほかの候補です。文献の課題（Forman 2019、Lacelle 2025）から選びました。</a:t>
            </a:r>
          </a:p>
          <a:p/>
          <a:p>
            <a:r>
              <a:t>上の段は親指が上（Forman 2019）。C は握って手の甲側へ押す（ECR、橈側手根伸筋）、D はそれに小指側（机の方向）も加える（ECU、尺側手根伸筋）、E は手伝う人に両手で包んでもらい、手を開きながら反らす（ED、総指伸筋）。</a:t>
            </a:r>
          </a:p>
          <a:p/>
          <a:p>
            <a:r>
              <a:t>下の段は手のひら下。F は反らしながら親指側にも押す（Lacelle の ECR）、G は指を伸ばしたまま反らす（Lacelle の ED）、H は一人でできる方法として、机の天板の裏に手の甲を当てて押し上げる。</a:t>
            </a:r>
          </a:p>
          <a:p/>
          <a:p>
            <a:r>
              <a:t>D 以降は腕を机から浮かせて取りました。H は CSV を書き出しそこねたので、結果がありません。試行は 1 回ずつです。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屈曲です。</a:t>
            </a:r>
          </a:p>
          <a:p/>
          <a:p>
            <a:r>
              <a:t>確認動作は、誰も押さえずに手のひら側に曲げきる動きです。手首から先を机の端から出して取りました。</a:t>
            </a:r>
          </a:p>
          <a:p/>
          <a:p>
            <a:r>
              <a:t>課題は 2 つで、どちらも手のひら上（Forman 2019）。I は握って、こぶしを上から押さえてもらい、手のひら側に曲げる。J は手伝う人の指 2〜3 本を全力で握りながら曲げる。どちらも腕を机から浮かせて取りました。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比べ方です。</a:t>
            </a:r>
          </a:p>
          <a:p/>
          <a:p>
            <a:r>
              <a:t>確認動作は、誰も押さえずに手首を自由に反らしきる（曲げきる）動きで、09-29 のデモで 350% になったのと同じ動きです。これを記録の最初、疲れる前に取りました。</a:t>
            </a:r>
          </a:p>
          <a:p/>
          <a:p>
            <a:r>
              <a:t>各課題の MVC で確認動作のピークを割ります。100% 以下なら、その課題で確認動作より大きい力が出せている、つまり全力を出し切れているということです。100% を超えたら、その課題では足りません。</a:t>
            </a:r>
          </a:p>
          <a:p/>
          <a:p>
            <a:r>
              <a:t>MVC は、包絡線（筋電の大きさを表す線）の 0.5 秒移動平均の最大です。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小さな目標への答えです。</a:t>
            </a:r>
          </a:p>
          <a:p/>
          <a:p>
            <a:r>
              <a:t>手のひら下・握って、腕を机に乗せ、他の人に手の甲を上から押さえてもらうやり方（B）で、確認動作が 56 %MVC に収まりました。前回は 350% だったので、十分な余裕があります。</a:t>
            </a:r>
          </a:p>
          <a:p/>
          <a:p>
            <a:r>
              <a:t>この結論は疲れがあっても変わりません。確認動作は最初に、疲れる前に取っています。疲れると全力の EMG は小さく出るので、もし B に疲れが入っていたとしても、本当の B の MVC はもっと大きく、%MVC はもっと小さくなるだけです。</a:t>
            </a:r>
          </a:p>
          <a:p/>
          <a:p>
            <a:r>
              <a:t>前回までのやり方（A、自分の反対の手で押さえる）も、今回は 96 %MVC でぎりぎり 100% を下回りました。09-29 は同じやり方で約 350% だったので、日によって大きく違います。理由は今のデータでは決められません。考察の余地として、センサの位置が日によって安定していない（10-06 は記録中にセンサの上下がわからなくなった）、押さえ方が違った、確認動作の反らし方が違った、などが考えられます。どちらにしても、余裕のある B を使います。</a:t>
            </a:r>
          </a:p>
          <a:p/>
          <a:p>
            <a:r>
              <a:t>【10-06 の数値（伸筋側、包絡線、mV）】</a:t>
            </a:r>
          </a:p>
          <a:p>
            <a:r>
              <a:t>・B ext_fist_pron　MVC 0.154　確認動作 56%</a:t>
            </a:r>
          </a:p>
          <a:p>
            <a:r>
              <a:t>・A ext_self　　　 MVC 0.090　確認動作 96%</a:t>
            </a:r>
          </a:p>
          <a:p>
            <a:r>
              <a:t>・F ext_radial_pron MVC 0.080　確認動作 108%</a:t>
            </a:r>
          </a:p>
          <a:p>
            <a:r>
              <a:t>・E ext_open_neut　MVC 0.066　確認動作 132%</a:t>
            </a:r>
          </a:p>
          <a:p>
            <a:r>
              <a:t>・G ext_open_pron　MVC 0.054　確認動作 160%</a:t>
            </a:r>
          </a:p>
          <a:p>
            <a:r>
              <a:t>・C ext_fist_neut　MVC 0.051　確認動作 169%</a:t>
            </a:r>
          </a:p>
          <a:p>
            <a:r>
              <a:t>・D ext_ulnar_neut　MVC 0.044　確認動作 198%</a:t>
            </a:r>
          </a:p>
          <a:p>
            <a:r>
              <a:t>ほかの課題との差は、次のページのとおり疲れと分けられないので、課題の良し悪しとしては見ません。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うまくいかなかったことです。</a:t>
            </a:r>
          </a:p>
          <a:p/>
          <a:p>
            <a:r>
              <a:t>屈曲は足りませんでした。手首を曲げきる確認動作が、屈曲で一番大きい課題（J、相手の手を握って屈曲）の 416 %MVC になりました。I・J は手のひら上で、腕を机から浮かせて取っています。</a:t>
            </a:r>
          </a:p>
          <a:p/>
          <a:p>
            <a:r>
              <a:t>課題を、休みを十分とらずに続けて取ったので、疲れを考えに入れそこねました。後に取った課題ほど疲れて小さく出た可能性があり、「ほかの伸展の課題は B の 28〜59%」「A は B の 59%（他の人に押さえてもらうと約 2 倍）」は、課題の差とは言い切れません。疲れを確かめるはずだった B の 3 回目と最後の確認動作も取りそこねました。</a:t>
            </a:r>
          </a:p>
          <a:p/>
          <a:p>
            <a:r>
              <a:t>D 以降の課題は腕を机から浮かせて取りました。浮かせる取り方はうまくいかなそうなので、次からは腕を机に乗せます。</a:t>
            </a:r>
          </a:p>
          <a:p/>
          <a:p>
            <a:r>
              <a:t>ほかに、一人でやる方法（H、机の天板の裏を押し上げる）は取ったものの CSV を書き出しそこね、比べられませんでした。試行は 1 回ずつ（A だけ 2 回）なので、ばらつきも見られていません。</a:t>
            </a:r>
          </a:p>
          <a:p/>
          <a:p>
            <a:r>
              <a:t>【センサの上下】記録中にどちらが伸筋側かわからなくなりました。伸展の 7 試行すべてで、センサ 0 が 40〜140 μV、センサ 3 は安静と同じ 3〜5 μV だったので、センサ 0 を伸筋側としました（09-29 とは逆）。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MVC の取り方を次の 2 つにします。どちらも腕は机に乗せます。</a:t>
            </a:r>
          </a:p>
          <a:p>
            <a:r>
              <a:t>・伸展：手のひら下・握って、上から押さえてもらう（B）</a:t>
            </a:r>
          </a:p>
          <a:p>
            <a:r>
              <a:t>・屈曲：机に向かって押し下げる</a:t>
            </a:r>
          </a:p>
          <a:p/>
          <a:p>
            <a:r>
              <a:t>屈曲の新しいやり方はまだ試していないので、次回の記録で確かめます。順番は、確認動作を最初に取り、B と一人用（H）を 2 回ずつ、屈曲、最後に確認動作と B をもう 1 回です。最後の B が最初より小さければ疲れていたとわかります。課題のあいだは十分休みます。</a:t>
            </a:r>
          </a:p>
          <a:p/>
          <a:p>
            <a:r>
              <a:t>伸展・屈曲とも、確認動作が 100 %MVC 以下に収まれば決定として、calibration.py の DEFAULT_TASKS に入れます。</a:t>
            </a:r>
          </a:p>
          <a:p/>
          <a:p>
            <a:r>
              <a:t>記録の前に、センサ番号と貼った位置を sensors.json に書き、反らしてどちらが伸筋側か確かめます。今回センサの上下がわからなくなったのを防ぐためです。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まとめです。</a:t>
            </a:r>
          </a:p>
          <a:p/>
          <a:p>
            <a:r>
              <a:t>大きな目標は、前腕 2 か所で新しいデータを取りました。6 か所の本番データは、MVC の取り方を確かめてから取ります。</a:t>
            </a:r>
          </a:p>
          <a:p/>
          <a:p>
            <a:r>
              <a:t>小さな目標は、伸展の MVC は B（腕を机に乗せ、上から押さえてもらう）に決まりました。屈曲は「机に向かって押し下げる」に決めましたが、足りるかは次回確かめます。一人で取れるかも残っています。</a:t>
            </a:r>
          </a:p>
          <a:p/>
          <a:p>
            <a:r>
              <a:t>来週は、伸展・屈曲の MVC を確かめて、6 か所で本番データを取ります。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（予備）全課題の結果です。確認動作のピークが、それぞれの課題の MVC の何 % になったかを、小さい順に並べています。100% 以下なら、その課題で全力を出し切れています。</a:t>
            </a:r>
          </a:p>
          <a:p/>
          <a:p>
            <a:r>
              <a:t>伸筋側で 100% 以下に収まったのは B（56%）と A（96%）だけでした。屈筋側はどの課題も 400% 以上で、足りていません。</a:t>
            </a:r>
          </a:p>
          <a:p/>
          <a:p>
            <a:r>
              <a:t>ただし、課題を続けて取ったので、後に取った課題ほど疲れて MVC が小さく出た（%MVC が大きく出た）可能性があります。D 以降は腕を浮かせて取っています。なので、B 以外の課題が「だめだった」とは言い切れません。H は CSV を書き出しそこねたので、結果がありません。</a:t>
            </a:r>
          </a:p>
          <a:p/>
          <a:p>
            <a:r>
              <a:t>伸筋側に I・J（屈曲の課題）が入っているのは、屈曲の課題でも伸筋側が働いていて、その大きさで割ったときの値です。</a:t>
            </a:r>
          </a:p>
          <a:p/>
          <a:p>
            <a:r>
              <a:t>【数値（包絡線、mV）】</a:t>
            </a:r>
          </a:p>
          <a:p>
            <a:r>
              <a:t>伸筋側：B 0.154（最大比 100%、確認動作 56%）、A 0.090（59%、96%）、F 0.080（52%、108%）、J 0.075（49%、116%）、E 0.066（43%、132%）、G 0.054（35%、160%）、C 0.051（33%、169%）、I 0.051（33%、170%）、D 0.044（28%、198%）</a:t>
            </a:r>
          </a:p>
          <a:p>
            <a:r>
              <a:t>屈筋側：J 0.025（100%、416%）、D 0.018（74%、566%）、I 0.018（73%、568%）</a:t>
            </a:r>
          </a:p>
          <a:p>
            <a:r>
              <a:t>最大比は、その課題の MVC ÷ 全課題の最大です。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（予備）手持ちの 13 本です。右の列は、MVC をどう扱っていたかです。</a:t>
            </a:r>
          </a:p>
          <a:p/>
          <a:p>
            <a:r>
              <a:t>筋ごとの手順まで書いてあったのは Lacelle だけで、G. N. Forman の 3 本は手順を別の論文に任せていました。Wang は「解剖ガイド（Perotto 2011）に従った」とだけ書いています。残りの 8 本は MVC を使っていません（別の正規化か、EMG を測っていない）。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（予備）手順を任せていた論文の引用をたどって読んだものです。Forman 2025 → Forman 2020</a:t>
            </a:r>
          </a:p>
          <a:p>
            <a:r>
              <a:t>Sci Rep→ Forman 2019 の Table 1、の順にたどりました。</a:t>
            </a:r>
          </a:p>
          <a:p/>
          <a:p>
            <a:r>
              <a:t>Forman 2019 は有料でしたが、著者 D. A. Forman の博論（2020、公開）の 3 章が同じ論文で、表 3.1 に同じ表があります。</a:t>
            </a:r>
          </a:p>
          <a:p/>
          <a:p>
            <a:r>
              <a:t>Forman は 2 人います。G. N. Forman（Brock University）と D. A. Forman（博論は Ontario Tech University）です。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1666875"/>
            <a:ext cx="7772400" cy="523875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75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エイムスキル学習支援の研究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2543175"/>
            <a:ext cx="7772400" cy="28575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75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進捗報告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3128962"/>
            <a:ext cx="2009775" cy="0"/>
          </a:xfrm>
          <a:prstGeom prst="line">
            <a:avLst/>
          </a:prstGeom>
          <a:ln w="9525">
            <a:solidFill>
              <a:srgbClr val="C8C8C8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685800" y="3309938"/>
            <a:ext cx="7772400" cy="238125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12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2026年10月8日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52450" y="381000"/>
            <a:ext cx="7143750" cy="47625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今週の目標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3375" y="476250"/>
            <a:ext cx="581025" cy="19050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52450" y="1285875"/>
            <a:ext cx="3524250" cy="1190625"/>
          </a:xfrm>
          <a:prstGeom prst="roundRect">
            <a:avLst>
              <a:gd name="adj" fmla="val 64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71450" rIns="190500" bIns="171450" lIns="190500"/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50"/>
              </a:spcAft>
            </a:pPr>
            <a:r>
              <a:rPr sz="1125" b="1">
                <a:solidFill>
                  <a:srgbClr val="BFD6EE"/>
                </a:solidFill>
                <a:latin typeface="Meiryo"/>
                <a:ea typeface="Meiryo"/>
                <a:cs typeface="Meiryo"/>
              </a:rPr>
              <a:t>大きな目標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EMG で、違いが出ている
データを確認する</a:t>
            </a:r>
          </a:p>
        </p:txBody>
      </p:sp>
      <p:cxnSp>
        <p:nvCxnSpPr>
          <p:cNvPr id="5" name="Connector 4"/>
          <p:cNvCxnSpPr/>
          <p:nvPr/>
        </p:nvCxnSpPr>
        <p:spPr>
          <a:xfrm flipH="1">
            <a:off x="4171950" y="1905000"/>
            <a:ext cx="647700" cy="0"/>
          </a:xfrm>
          <a:prstGeom prst="line">
            <a:avLst/>
          </a:prstGeom>
          <a:ln w="28575">
            <a:solidFill>
              <a:srgbClr val="1F6FB4"/>
            </a:solidFill>
            <a:tailEnd type="triangle" w="med" len="med"/>
          </a:ln>
        </p:spPr>
      </p:cxnSp>
      <p:sp>
        <p:nvSpPr>
          <p:cNvPr id="6" name="Rounded Rectangle 5"/>
          <p:cNvSpPr/>
          <p:nvPr/>
        </p:nvSpPr>
        <p:spPr>
          <a:xfrm>
            <a:off x="4914900" y="1285875"/>
            <a:ext cx="3619500" cy="1190625"/>
          </a:xfrm>
          <a:prstGeom prst="roundRect">
            <a:avLst>
              <a:gd name="adj" fmla="val 6400"/>
            </a:avLst>
          </a:prstGeom>
          <a:solidFill>
            <a:srgbClr val="E8F0F8"/>
          </a:solidFill>
          <a:ln w="14287">
            <a:solidFill>
              <a:srgbClr val="1F6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71450" rIns="190500" bIns="171450" lIns="190500"/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50"/>
              </a:spcAft>
            </a:pPr>
            <a:r>
              <a:rPr sz="1125" b="1">
                <a:solidFill>
                  <a:srgbClr val="1F6FB4"/>
                </a:solidFill>
                <a:latin typeface="Meiryo"/>
                <a:ea typeface="Meiryo"/>
                <a:cs typeface="Meiryo"/>
              </a:rPr>
              <a:t>小さな目標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伸展の MVC を全力で
取れる方法を決める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33850" y="1514475"/>
            <a:ext cx="723900" cy="19050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>
                <a:solidFill>
                  <a:srgbClr val="1F6FB4"/>
                </a:solidFill>
                <a:latin typeface="Meiryo"/>
                <a:ea typeface="Meiryo"/>
                <a:cs typeface="Meiryo"/>
              </a:rPr>
              <a:t>そのために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1500" y="2952750"/>
            <a:ext cx="7962900" cy="95250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900"/>
              </a:spcAft>
            </a:pPr>
            <a:r>
              <a:rPr sz="1725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・前回：手首を反らしきると約 350 %MVC　→　MVC が小さすぎた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900"/>
              </a:spcAft>
            </a:pPr>
            <a:r>
              <a:rPr sz="1725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・本番データの前に、MVC の取り方を固める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52450" y="381000"/>
            <a:ext cx="7143750" cy="47625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やったこと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3375" y="476250"/>
            <a:ext cx="581025" cy="19050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1500" y="1190625"/>
            <a:ext cx="7962900" cy="809625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750"/>
              </a:spcAft>
            </a:pPr>
            <a:r>
              <a:rPr sz="1725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・MVC の取り方を文献で調べた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750"/>
              </a:spcAft>
            </a:pPr>
            <a:r>
              <a:rPr sz="1725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・候補の取り方を、研究室で同じ日に試した（10-06）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52450" y="2381250"/>
            <a:ext cx="2381250" cy="952500"/>
          </a:xfrm>
          <a:prstGeom prst="roundRect">
            <a:avLst>
              <a:gd name="adj" fmla="val 6000"/>
            </a:avLst>
          </a:prstGeom>
          <a:solidFill>
            <a:srgbClr val="E8F0F8"/>
          </a:solidFill>
          <a:ln w="9525">
            <a:solidFill>
              <a:srgbClr val="1F6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4300" rIns="114300" bIns="114300" lIns="114300"/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975" b="1">
                <a:solidFill>
                  <a:srgbClr val="1F6FB4"/>
                </a:solidFill>
                <a:latin typeface="Meiryo"/>
                <a:ea typeface="Meiryo"/>
                <a:cs typeface="Meiryo"/>
              </a:rPr>
              <a:t>① 文献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13 本を読み
手順をたどる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952750" y="2857500"/>
            <a:ext cx="381000" cy="0"/>
          </a:xfrm>
          <a:prstGeom prst="line">
            <a:avLst/>
          </a:prstGeom>
          <a:ln w="19050">
            <a:solidFill>
              <a:srgbClr val="6B6B6B"/>
            </a:solidFill>
            <a:tailEnd type="triangle" w="med" len="med"/>
          </a:ln>
        </p:spPr>
      </p:cxnSp>
      <p:sp>
        <p:nvSpPr>
          <p:cNvPr id="7" name="Rounded Rectangle 6"/>
          <p:cNvSpPr/>
          <p:nvPr/>
        </p:nvSpPr>
        <p:spPr>
          <a:xfrm>
            <a:off x="3352800" y="2381250"/>
            <a:ext cx="2381250" cy="952500"/>
          </a:xfrm>
          <a:prstGeom prst="roundRect">
            <a:avLst>
              <a:gd name="adj" fmla="val 6000"/>
            </a:avLst>
          </a:prstGeom>
          <a:solidFill>
            <a:srgbClr val="E8F0F8"/>
          </a:solidFill>
          <a:ln w="9525">
            <a:solidFill>
              <a:srgbClr val="1F6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4300" rIns="114300" bIns="114300" lIns="114300"/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975" b="1">
                <a:solidFill>
                  <a:srgbClr val="1F6FB4"/>
                </a:solidFill>
                <a:latin typeface="Meiryo"/>
                <a:ea typeface="Meiryo"/>
                <a:cs typeface="Meiryo"/>
              </a:rPr>
              <a:t>② 研究室で試す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9 課題 ＋
確認動作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753100" y="2857500"/>
            <a:ext cx="381000" cy="0"/>
          </a:xfrm>
          <a:prstGeom prst="line">
            <a:avLst/>
          </a:prstGeom>
          <a:ln w="19050">
            <a:solidFill>
              <a:srgbClr val="6B6B6B"/>
            </a:solidFill>
            <a:tailEnd type="triangle" w="med" len="med"/>
          </a:ln>
        </p:spPr>
      </p:cxnSp>
      <p:sp>
        <p:nvSpPr>
          <p:cNvPr id="9" name="Rounded Rectangle 8"/>
          <p:cNvSpPr/>
          <p:nvPr/>
        </p:nvSpPr>
        <p:spPr>
          <a:xfrm>
            <a:off x="6153150" y="2381250"/>
            <a:ext cx="2381250" cy="95250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4300" rIns="114300" bIns="114300" lIns="114300"/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975" b="1">
                <a:solidFill>
                  <a:srgbClr val="6B6B6B"/>
                </a:solidFill>
                <a:latin typeface="Meiryo"/>
                <a:ea typeface="Meiryo"/>
                <a:cs typeface="Meiryo"/>
              </a:rPr>
              <a:t>③ 比べる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確認動作は
MVC の何 %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52450" y="381000"/>
            <a:ext cx="7143750" cy="47625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文献でわかったこと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3375" y="476250"/>
            <a:ext cx="581025" cy="19050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1500" y="1190625"/>
            <a:ext cx="7962900" cy="809625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725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・抵抗は、どの文献も実験者がかけている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725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・伸筋は、筋ごとに課題を分けている（握る・開く・小指側）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52450" y="2238375"/>
            <a:ext cx="7981950" cy="0"/>
          </a:xfrm>
          <a:prstGeom prst="line">
            <a:avLst/>
          </a:prstGeom>
          <a:ln w="7143">
            <a:solidFill>
              <a:srgbClr val="DDDDDD"/>
            </a:solidFill>
          </a:ln>
        </p:spPr>
      </p:cxnSp>
      <p:sp>
        <p:nvSpPr>
          <p:cNvPr id="6" name="TextBox 5"/>
          <p:cNvSpPr txBox="1"/>
          <p:nvPr/>
        </p:nvSpPr>
        <p:spPr>
          <a:xfrm>
            <a:off x="552450" y="2238375"/>
            <a:ext cx="2190750" cy="38100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筋ごとの手順あり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57500" y="2238375"/>
            <a:ext cx="5676900" cy="38100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Meiryo"/>
                <a:ea typeface="Meiryo"/>
                <a:cs typeface="Meiryo"/>
              </a:rPr>
              <a:t>Lacelle 2025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52450" y="2619375"/>
            <a:ext cx="7981950" cy="0"/>
          </a:xfrm>
          <a:prstGeom prst="line">
            <a:avLst/>
          </a:prstGeom>
          <a:ln w="7143">
            <a:solidFill>
              <a:srgbClr val="DDDDDD"/>
            </a:solidFill>
          </a:ln>
        </p:spPr>
      </p:cxnSp>
      <p:sp>
        <p:nvSpPr>
          <p:cNvPr id="9" name="TextBox 8"/>
          <p:cNvSpPr txBox="1"/>
          <p:nvPr/>
        </p:nvSpPr>
        <p:spPr>
          <a:xfrm>
            <a:off x="552450" y="2619375"/>
            <a:ext cx="2190750" cy="38100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別の論文に任せる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57500" y="2619375"/>
            <a:ext cx="5676900" cy="38100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Meiryo"/>
                <a:ea typeface="Meiryo"/>
                <a:cs typeface="Meiryo"/>
              </a:rPr>
              <a:t>Forman 2025 ×2・博論　→　たどると Forman 2019 の表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52450" y="3000375"/>
            <a:ext cx="7981950" cy="0"/>
          </a:xfrm>
          <a:prstGeom prst="line">
            <a:avLst/>
          </a:prstGeom>
          <a:ln w="7143">
            <a:solidFill>
              <a:srgbClr val="DDDDDD"/>
            </a:solidFill>
          </a:ln>
        </p:spPr>
      </p:cxnSp>
      <p:sp>
        <p:nvSpPr>
          <p:cNvPr id="12" name="TextBox 11"/>
          <p:cNvSpPr txBox="1"/>
          <p:nvPr/>
        </p:nvSpPr>
        <p:spPr>
          <a:xfrm>
            <a:off x="552450" y="3000375"/>
            <a:ext cx="2190750" cy="38100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B6B6B"/>
                </a:solidFill>
                <a:latin typeface="Meiryo"/>
                <a:ea typeface="Meiryo"/>
                <a:cs typeface="Meiryo"/>
              </a:rPr>
              <a:t>一言だけ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57500" y="3000375"/>
            <a:ext cx="5676900" cy="38100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Wang 2023（解剖ガイドに従った）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52450" y="3381375"/>
            <a:ext cx="7981950" cy="0"/>
          </a:xfrm>
          <a:prstGeom prst="line">
            <a:avLst/>
          </a:prstGeom>
          <a:ln w="7143">
            <a:solidFill>
              <a:srgbClr val="DDDDDD"/>
            </a:solidFill>
          </a:ln>
        </p:spPr>
      </p:cxnSp>
      <p:sp>
        <p:nvSpPr>
          <p:cNvPr id="15" name="TextBox 14"/>
          <p:cNvSpPr txBox="1"/>
          <p:nvPr/>
        </p:nvSpPr>
        <p:spPr>
          <a:xfrm>
            <a:off x="552450" y="3381375"/>
            <a:ext cx="2190750" cy="38100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B6B6B"/>
                </a:solidFill>
                <a:latin typeface="Meiryo"/>
                <a:ea typeface="Meiryo"/>
                <a:cs typeface="Meiryo"/>
              </a:rPr>
              <a:t>MVC を使っていない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57500" y="3381375"/>
            <a:ext cx="5676900" cy="38100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8 本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52450" y="3762375"/>
            <a:ext cx="7981950" cy="0"/>
          </a:xfrm>
          <a:prstGeom prst="line">
            <a:avLst/>
          </a:prstGeom>
          <a:ln w="7143">
            <a:solidFill>
              <a:srgbClr val="DDDDDD"/>
            </a:solidFill>
          </a:ln>
        </p:spPr>
      </p:cxnSp>
      <p:cxnSp>
        <p:nvCxnSpPr>
          <p:cNvPr id="18" name="Connector 17"/>
          <p:cNvCxnSpPr/>
          <p:nvPr/>
        </p:nvCxnSpPr>
        <p:spPr>
          <a:xfrm>
            <a:off x="566738" y="3914775"/>
            <a:ext cx="7967662" cy="0"/>
          </a:xfrm>
          <a:prstGeom prst="line">
            <a:avLst/>
          </a:prstGeom>
          <a:ln w="9525">
            <a:solidFill>
              <a:srgbClr val="C8C8C8"/>
            </a:solidFill>
          </a:ln>
        </p:spPr>
      </p:cxnSp>
      <p:sp>
        <p:nvSpPr>
          <p:cNvPr id="19" name="TextBox 18"/>
          <p:cNvSpPr txBox="1"/>
          <p:nvPr/>
        </p:nvSpPr>
        <p:spPr>
          <a:xfrm>
            <a:off x="566738" y="4095750"/>
            <a:ext cx="7967662" cy="333375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25" b="1">
                <a:solidFill>
                  <a:srgbClr val="B0560C"/>
                </a:solidFill>
                <a:latin typeface="Meiryo"/>
                <a:ea typeface="Meiryo"/>
                <a:cs typeface="Meiryo"/>
              </a:rPr>
              <a:t>自分の手で押さえるやり方は、どの文献にもない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52450" y="381000"/>
            <a:ext cx="7143750" cy="47625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試した動作：確認動作と A・B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3375" y="476250"/>
            <a:ext cx="581025" cy="19050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1500" y="1095375"/>
            <a:ext cx="7962900" cy="714375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375"/>
              </a:spcAft>
            </a:pPr>
            <a:r>
              <a:rPr sz="1500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・確認動作は誰も押さえない。疲れる前の最初に取った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375"/>
              </a:spcAft>
            </a:pPr>
            <a:r>
              <a:rPr sz="1500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・A と B は、押さえる人だけが違う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52450" y="1905000"/>
            <a:ext cx="2571750" cy="2143125"/>
          </a:xfrm>
          <a:prstGeom prst="roundRect">
            <a:avLst>
              <a:gd name="adj" fmla="val 2666"/>
            </a:avLst>
          </a:prstGeom>
          <a:solidFill>
            <a:srgbClr val="FFFFFF"/>
          </a:solidFill>
          <a:ln w="9525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7700" y="1971675"/>
            <a:ext cx="2381250" cy="238125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F6FB4"/>
                </a:solidFill>
                <a:latin typeface="Meiryo"/>
                <a:ea typeface="Meiryo"/>
                <a:cs typeface="Meiryo"/>
              </a:rPr>
              <a:t>確認　</a:t>
            </a:r>
            <a:r>
              <a:rPr sz="900" b="1">
                <a:solidFill>
                  <a:srgbClr val="6B6B6B"/>
                </a:solidFill>
                <a:latin typeface="Meiryo"/>
                <a:ea typeface="Meiryo"/>
                <a:cs typeface="Meiryo"/>
              </a:rPr>
              <a:t>手のひら下</a:t>
            </a:r>
          </a:p>
        </p:txBody>
      </p:sp>
      <p:sp>
        <p:nvSpPr>
          <p:cNvPr id="7" name="Rectangle 6"/>
          <p:cNvSpPr/>
          <p:nvPr/>
        </p:nvSpPr>
        <p:spPr>
          <a:xfrm>
            <a:off x="695325" y="2996565"/>
            <a:ext cx="1371600" cy="228600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901" y="3023997"/>
            <a:ext cx="914400" cy="18288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86765" y="2767965"/>
            <a:ext cx="1289304" cy="228600"/>
          </a:xfrm>
          <a:prstGeom prst="roundRect">
            <a:avLst>
              <a:gd name="adj" fmla="val 25000"/>
            </a:avLst>
          </a:prstGeom>
          <a:solidFill>
            <a:srgbClr val="F1E3D6"/>
          </a:solidFill>
          <a:ln w="9525">
            <a:solidFill>
              <a:srgbClr val="8A7A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 rot="18600000">
            <a:off x="2021205" y="2594229"/>
            <a:ext cx="685800" cy="155448"/>
          </a:xfrm>
          <a:prstGeom prst="roundRect">
            <a:avLst>
              <a:gd name="adj" fmla="val 42892"/>
            </a:avLst>
          </a:prstGeom>
          <a:solidFill>
            <a:srgbClr val="F1E3D6"/>
          </a:solidFill>
          <a:ln w="9525">
            <a:solidFill>
              <a:srgbClr val="8A7A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 flipV="1">
            <a:off x="2707005" y="2447925"/>
            <a:ext cx="0" cy="365760"/>
          </a:xfrm>
          <a:prstGeom prst="line">
            <a:avLst/>
          </a:prstGeom>
          <a:ln w="33337">
            <a:solidFill>
              <a:srgbClr val="1F6FB4"/>
            </a:solidFill>
            <a:tailEnd type="triangle" w="med" len="med"/>
          </a:ln>
        </p:spPr>
      </p:cxnSp>
      <p:sp>
        <p:nvSpPr>
          <p:cNvPr id="12" name="TextBox 11"/>
          <p:cNvSpPr txBox="1"/>
          <p:nvPr/>
        </p:nvSpPr>
        <p:spPr>
          <a:xfrm>
            <a:off x="2204085" y="3042285"/>
            <a:ext cx="777240" cy="155448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12" b="1">
                <a:solidFill>
                  <a:srgbClr val="1F6FB4"/>
                </a:solidFill>
                <a:latin typeface="Meiryo"/>
                <a:ea typeface="Meiryo"/>
                <a:cs typeface="Meiryo"/>
              </a:rPr>
              <a:t>誰も押さえない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7700" y="3272790"/>
            <a:ext cx="2381250" cy="38100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手首を自由に反らしきる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57550" y="1905000"/>
            <a:ext cx="2571750" cy="2143125"/>
          </a:xfrm>
          <a:prstGeom prst="roundRect">
            <a:avLst>
              <a:gd name="adj" fmla="val 2666"/>
            </a:avLst>
          </a:prstGeom>
          <a:solidFill>
            <a:srgbClr val="FFFFFF"/>
          </a:solidFill>
          <a:ln w="9525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52800" y="1971675"/>
            <a:ext cx="2381250" cy="238125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F6FB4"/>
                </a:solidFill>
                <a:latin typeface="Meiryo"/>
                <a:ea typeface="Meiryo"/>
                <a:cs typeface="Meiryo"/>
              </a:rPr>
              <a:t>A　</a:t>
            </a:r>
            <a:r>
              <a:rPr sz="900" b="1">
                <a:solidFill>
                  <a:srgbClr val="6B6B6B"/>
                </a:solidFill>
                <a:latin typeface="Meiryo"/>
                <a:ea typeface="Meiryo"/>
                <a:cs typeface="Meiryo"/>
              </a:rPr>
              <a:t>手のひら下・握る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400425" y="2996565"/>
            <a:ext cx="1371600" cy="228600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37001" y="3023997"/>
            <a:ext cx="914400" cy="18288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91865" y="2767965"/>
            <a:ext cx="1289304" cy="228600"/>
          </a:xfrm>
          <a:prstGeom prst="roundRect">
            <a:avLst>
              <a:gd name="adj" fmla="val 25000"/>
            </a:avLst>
          </a:prstGeom>
          <a:solidFill>
            <a:srgbClr val="F1E3D6"/>
          </a:solidFill>
          <a:ln w="9525">
            <a:solidFill>
              <a:srgbClr val="8A7A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753737" y="2745105"/>
            <a:ext cx="329184" cy="274320"/>
          </a:xfrm>
          <a:prstGeom prst="roundRect">
            <a:avLst>
              <a:gd name="adj" fmla="val 24305"/>
            </a:avLst>
          </a:prstGeom>
          <a:solidFill>
            <a:srgbClr val="F1E3D6"/>
          </a:solidFill>
          <a:ln w="9525">
            <a:solidFill>
              <a:srgbClr val="8A7A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 flipV="1">
            <a:off x="5201793" y="2493645"/>
            <a:ext cx="0" cy="365760"/>
          </a:xfrm>
          <a:prstGeom prst="line">
            <a:avLst/>
          </a:prstGeom>
          <a:ln w="33337">
            <a:solidFill>
              <a:srgbClr val="1F6FB4"/>
            </a:solidFill>
            <a:tailEnd type="triangle" w="med" len="med"/>
          </a:ln>
        </p:spPr>
      </p:cxnSp>
      <p:sp>
        <p:nvSpPr>
          <p:cNvPr id="21" name="Rounded Rectangle 20"/>
          <p:cNvSpPr/>
          <p:nvPr/>
        </p:nvSpPr>
        <p:spPr>
          <a:xfrm>
            <a:off x="4735449" y="2635377"/>
            <a:ext cx="365760" cy="100584"/>
          </a:xfrm>
          <a:prstGeom prst="roundRect">
            <a:avLst>
              <a:gd name="adj" fmla="val 28409"/>
            </a:avLst>
          </a:prstGeom>
          <a:solidFill>
            <a:srgbClr val="A6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2" name="Connector 21"/>
          <p:cNvCxnSpPr/>
          <p:nvPr/>
        </p:nvCxnSpPr>
        <p:spPr>
          <a:xfrm>
            <a:off x="4918329" y="2379345"/>
            <a:ext cx="0" cy="237744"/>
          </a:xfrm>
          <a:prstGeom prst="line">
            <a:avLst/>
          </a:prstGeom>
          <a:ln w="28575">
            <a:solidFill>
              <a:srgbClr val="A6A6A6"/>
            </a:solidFill>
            <a:tailEnd type="triangle" w="med" len="med"/>
          </a:ln>
        </p:spPr>
      </p:cxnSp>
      <p:sp>
        <p:nvSpPr>
          <p:cNvPr id="23" name="TextBox 22"/>
          <p:cNvSpPr txBox="1"/>
          <p:nvPr/>
        </p:nvSpPr>
        <p:spPr>
          <a:xfrm>
            <a:off x="3912489" y="2397633"/>
            <a:ext cx="937260" cy="155448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12" b="1">
                <a:solidFill>
                  <a:srgbClr val="6B6B6B"/>
                </a:solidFill>
                <a:latin typeface="Meiryo"/>
                <a:ea typeface="Meiryo"/>
                <a:cs typeface="Meiryo"/>
              </a:rPr>
              <a:t>自分の手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52800" y="3272790"/>
            <a:ext cx="2381250" cy="38100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自分の反対の手で押さえる
（前回までのやり方）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962650" y="1905000"/>
            <a:ext cx="2571750" cy="2143125"/>
          </a:xfrm>
          <a:prstGeom prst="roundRect">
            <a:avLst>
              <a:gd name="adj" fmla="val 2666"/>
            </a:avLst>
          </a:prstGeom>
          <a:solidFill>
            <a:srgbClr val="E8F0F8"/>
          </a:solidFill>
          <a:ln w="19050">
            <a:solidFill>
              <a:srgbClr val="1F6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057900" y="1971675"/>
            <a:ext cx="2381250" cy="238125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F6FB4"/>
                </a:solidFill>
                <a:latin typeface="Meiryo"/>
                <a:ea typeface="Meiryo"/>
                <a:cs typeface="Meiryo"/>
              </a:rPr>
              <a:t>B　</a:t>
            </a:r>
            <a:r>
              <a:rPr sz="900" b="1">
                <a:solidFill>
                  <a:srgbClr val="6B6B6B"/>
                </a:solidFill>
                <a:latin typeface="Meiryo"/>
                <a:ea typeface="Meiryo"/>
                <a:cs typeface="Meiryo"/>
              </a:rPr>
              <a:t>手のひら下・握る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05525" y="2996565"/>
            <a:ext cx="1371600" cy="228600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42101" y="3023997"/>
            <a:ext cx="914400" cy="18288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机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96965" y="2767965"/>
            <a:ext cx="1289304" cy="228600"/>
          </a:xfrm>
          <a:prstGeom prst="roundRect">
            <a:avLst>
              <a:gd name="adj" fmla="val 25000"/>
            </a:avLst>
          </a:prstGeom>
          <a:solidFill>
            <a:srgbClr val="F1E3D6"/>
          </a:solidFill>
          <a:ln w="9525">
            <a:solidFill>
              <a:srgbClr val="8A7A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458837" y="2745105"/>
            <a:ext cx="329184" cy="274320"/>
          </a:xfrm>
          <a:prstGeom prst="roundRect">
            <a:avLst>
              <a:gd name="adj" fmla="val 24305"/>
            </a:avLst>
          </a:prstGeom>
          <a:solidFill>
            <a:srgbClr val="F1E3D6"/>
          </a:solidFill>
          <a:ln w="9525">
            <a:solidFill>
              <a:srgbClr val="8A7A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1" name="Connector 30"/>
          <p:cNvCxnSpPr/>
          <p:nvPr/>
        </p:nvCxnSpPr>
        <p:spPr>
          <a:xfrm flipV="1">
            <a:off x="7906893" y="2493645"/>
            <a:ext cx="0" cy="365760"/>
          </a:xfrm>
          <a:prstGeom prst="line">
            <a:avLst/>
          </a:prstGeom>
          <a:ln w="33337">
            <a:solidFill>
              <a:srgbClr val="1F6FB4"/>
            </a:solidFill>
            <a:tailEnd type="triangle" w="med" len="med"/>
          </a:ln>
        </p:spPr>
      </p:cxnSp>
      <p:sp>
        <p:nvSpPr>
          <p:cNvPr id="32" name="Rounded Rectangle 31"/>
          <p:cNvSpPr/>
          <p:nvPr/>
        </p:nvSpPr>
        <p:spPr>
          <a:xfrm>
            <a:off x="7440549" y="2635377"/>
            <a:ext cx="365760" cy="100584"/>
          </a:xfrm>
          <a:prstGeom prst="roundRect">
            <a:avLst>
              <a:gd name="adj" fmla="val 28409"/>
            </a:avLst>
          </a:prstGeom>
          <a:solidFill>
            <a:srgbClr val="A6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3" name="Connector 32"/>
          <p:cNvCxnSpPr/>
          <p:nvPr/>
        </p:nvCxnSpPr>
        <p:spPr>
          <a:xfrm>
            <a:off x="7623429" y="2379345"/>
            <a:ext cx="0" cy="237744"/>
          </a:xfrm>
          <a:prstGeom prst="line">
            <a:avLst/>
          </a:prstGeom>
          <a:ln w="28575">
            <a:solidFill>
              <a:srgbClr val="A6A6A6"/>
            </a:solidFill>
            <a:tailEnd type="triangle" w="med" len="med"/>
          </a:ln>
        </p:spPr>
      </p:cxnSp>
      <p:sp>
        <p:nvSpPr>
          <p:cNvPr id="34" name="TextBox 33"/>
          <p:cNvSpPr txBox="1"/>
          <p:nvPr/>
        </p:nvSpPr>
        <p:spPr>
          <a:xfrm>
            <a:off x="6617589" y="2397633"/>
            <a:ext cx="937260" cy="155448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12" b="1">
                <a:solidFill>
                  <a:srgbClr val="6B6B6B"/>
                </a:solidFill>
                <a:latin typeface="Meiryo"/>
                <a:ea typeface="Meiryo"/>
                <a:cs typeface="Meiryo"/>
              </a:rPr>
              <a:t>他の人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57900" y="3272790"/>
            <a:ext cx="2381250" cy="38100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他の人に上から押さえてもらう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52450" y="381000"/>
            <a:ext cx="7143750" cy="47625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試した動作：伸展のほかの候補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3375" y="476250"/>
            <a:ext cx="581025" cy="19050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1500" y="1047750"/>
            <a:ext cx="7962900" cy="333375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750"/>
              </a:spcAft>
            </a:pPr>
            <a:r>
              <a:rPr sz="1500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・文献の課題から、前腕の向き・握る／開く・横方向を変えた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52450" y="1428750"/>
            <a:ext cx="2571750" cy="17145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9525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7700" y="1495425"/>
            <a:ext cx="2381250" cy="238125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F6FB4"/>
                </a:solidFill>
                <a:latin typeface="Meiryo"/>
                <a:ea typeface="Meiryo"/>
                <a:cs typeface="Meiryo"/>
              </a:rPr>
              <a:t>C　</a:t>
            </a:r>
            <a:r>
              <a:rPr sz="900" b="1">
                <a:solidFill>
                  <a:srgbClr val="6B6B6B"/>
                </a:solidFill>
                <a:latin typeface="Meiryo"/>
                <a:ea typeface="Meiryo"/>
                <a:cs typeface="Meiryo"/>
              </a:rPr>
              <a:t>親指が上・握る</a:t>
            </a:r>
          </a:p>
        </p:txBody>
      </p:sp>
      <p:sp>
        <p:nvSpPr>
          <p:cNvPr id="7" name="Rectangle 6"/>
          <p:cNvSpPr/>
          <p:nvPr/>
        </p:nvSpPr>
        <p:spPr>
          <a:xfrm>
            <a:off x="766762" y="1743075"/>
            <a:ext cx="2143125" cy="942975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1052" y="2540318"/>
            <a:ext cx="1714500" cy="145732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675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机（上から見た図）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2488" y="2150269"/>
            <a:ext cx="1071562" cy="214312"/>
          </a:xfrm>
          <a:prstGeom prst="roundRect">
            <a:avLst>
              <a:gd name="adj" fmla="val 26666"/>
            </a:avLst>
          </a:prstGeom>
          <a:solidFill>
            <a:srgbClr val="F1E3D6"/>
          </a:solidFill>
          <a:ln w="9525">
            <a:solidFill>
              <a:srgbClr val="8A7A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889760" y="2055971"/>
            <a:ext cx="445770" cy="402908"/>
          </a:xfrm>
          <a:prstGeom prst="roundRect">
            <a:avLst>
              <a:gd name="adj" fmla="val 16548"/>
            </a:avLst>
          </a:prstGeom>
          <a:solidFill>
            <a:srgbClr val="F1E3D6"/>
          </a:solidFill>
          <a:ln w="9525">
            <a:solidFill>
              <a:srgbClr val="8A7A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2198370" y="2090261"/>
            <a:ext cx="0" cy="120015"/>
          </a:xfrm>
          <a:prstGeom prst="line">
            <a:avLst/>
          </a:prstGeom>
          <a:ln w="7143">
            <a:solidFill>
              <a:srgbClr val="8A7A6C"/>
            </a:solidFill>
          </a:ln>
        </p:spPr>
      </p:cxnSp>
      <p:cxnSp>
        <p:nvCxnSpPr>
          <p:cNvPr id="12" name="Connector 11"/>
          <p:cNvCxnSpPr/>
          <p:nvPr/>
        </p:nvCxnSpPr>
        <p:spPr>
          <a:xfrm>
            <a:off x="2245519" y="2090261"/>
            <a:ext cx="0" cy="120015"/>
          </a:xfrm>
          <a:prstGeom prst="line">
            <a:avLst/>
          </a:prstGeom>
          <a:ln w="7143">
            <a:solidFill>
              <a:srgbClr val="8A7A6C"/>
            </a:solidFill>
          </a:ln>
        </p:spPr>
      </p:cxnSp>
      <p:cxnSp>
        <p:nvCxnSpPr>
          <p:cNvPr id="13" name="Connector 12"/>
          <p:cNvCxnSpPr/>
          <p:nvPr/>
        </p:nvCxnSpPr>
        <p:spPr>
          <a:xfrm>
            <a:off x="2292668" y="2090261"/>
            <a:ext cx="0" cy="120015"/>
          </a:xfrm>
          <a:prstGeom prst="line">
            <a:avLst/>
          </a:prstGeom>
          <a:ln w="7143">
            <a:solidFill>
              <a:srgbClr val="8A7A6C"/>
            </a:solidFill>
          </a:ln>
        </p:spPr>
      </p:cxnSp>
      <p:sp>
        <p:nvSpPr>
          <p:cNvPr id="14" name="Rounded Rectangle 13"/>
          <p:cNvSpPr/>
          <p:nvPr/>
        </p:nvSpPr>
        <p:spPr>
          <a:xfrm>
            <a:off x="1924050" y="2235994"/>
            <a:ext cx="334328" cy="120015"/>
          </a:xfrm>
          <a:prstGeom prst="roundRect">
            <a:avLst>
              <a:gd name="adj" fmla="val 50000"/>
            </a:avLst>
          </a:prstGeom>
          <a:solidFill>
            <a:srgbClr val="E2C8B0"/>
          </a:solidFill>
          <a:ln w="9525">
            <a:solidFill>
              <a:srgbClr val="8A7A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2164080" y="2257425"/>
            <a:ext cx="68580" cy="77152"/>
          </a:xfrm>
          <a:prstGeom prst="roundRect">
            <a:avLst>
              <a:gd name="adj" fmla="val 27777"/>
            </a:avLst>
          </a:prstGeom>
          <a:solidFill>
            <a:srgbClr val="FFF7EF"/>
          </a:solidFill>
          <a:ln w="4762">
            <a:solidFill>
              <a:srgbClr val="8A7A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581150" y="2381726"/>
            <a:ext cx="282892" cy="128588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12" b="1">
                <a:solidFill>
                  <a:srgbClr val="8A7A6C"/>
                </a:solidFill>
                <a:latin typeface="Meiryo"/>
                <a:ea typeface="Meiryo"/>
                <a:cs typeface="Meiryo"/>
              </a:rPr>
              <a:t>親指</a:t>
            </a:r>
          </a:p>
        </p:txBody>
      </p:sp>
      <p:cxnSp>
        <p:nvCxnSpPr>
          <p:cNvPr id="17" name="Connector 16"/>
          <p:cNvCxnSpPr/>
          <p:nvPr/>
        </p:nvCxnSpPr>
        <p:spPr>
          <a:xfrm flipV="1">
            <a:off x="1872615" y="2296001"/>
            <a:ext cx="111443" cy="137160"/>
          </a:xfrm>
          <a:prstGeom prst="line">
            <a:avLst/>
          </a:prstGeom>
          <a:ln w="7143">
            <a:solidFill>
              <a:srgbClr val="8A7A6C"/>
            </a:solidFill>
          </a:ln>
        </p:spPr>
      </p:cxnSp>
      <p:sp>
        <p:nvSpPr>
          <p:cNvPr id="18" name="TextBox 17"/>
          <p:cNvSpPr txBox="1"/>
          <p:nvPr/>
        </p:nvSpPr>
        <p:spPr>
          <a:xfrm>
            <a:off x="869632" y="2004536"/>
            <a:ext cx="771525" cy="128588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675" b="1">
                <a:solidFill>
                  <a:srgbClr val="6B6B6B"/>
                </a:solidFill>
                <a:latin typeface="Meiryo"/>
                <a:ea typeface="Meiryo"/>
                <a:cs typeface="Meiryo"/>
              </a:rPr>
              <a:t>手の甲側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9632" y="2381726"/>
            <a:ext cx="771525" cy="128588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675" b="1">
                <a:solidFill>
                  <a:srgbClr val="6B6B6B"/>
                </a:solidFill>
                <a:latin typeface="Meiryo"/>
                <a:ea typeface="Meiryo"/>
                <a:cs typeface="Meiryo"/>
              </a:rPr>
              <a:t>手のひら側</a:t>
            </a:r>
          </a:p>
        </p:txBody>
      </p:sp>
      <p:cxnSp>
        <p:nvCxnSpPr>
          <p:cNvPr id="20" name="Connector 19"/>
          <p:cNvCxnSpPr/>
          <p:nvPr/>
        </p:nvCxnSpPr>
        <p:spPr>
          <a:xfrm flipV="1">
            <a:off x="2446972" y="1893094"/>
            <a:ext cx="0" cy="342900"/>
          </a:xfrm>
          <a:prstGeom prst="line">
            <a:avLst/>
          </a:prstGeom>
          <a:ln w="33337">
            <a:solidFill>
              <a:srgbClr val="1F6FB4"/>
            </a:solidFill>
            <a:tailEnd type="triangle" w="med" len="med"/>
          </a:ln>
        </p:spPr>
      </p:cxnSp>
      <p:sp>
        <p:nvSpPr>
          <p:cNvPr id="21" name="Rounded Rectangle 20"/>
          <p:cNvSpPr/>
          <p:nvPr/>
        </p:nvSpPr>
        <p:spPr>
          <a:xfrm>
            <a:off x="1941195" y="1953101"/>
            <a:ext cx="342900" cy="94298"/>
          </a:xfrm>
          <a:prstGeom prst="roundRect">
            <a:avLst>
              <a:gd name="adj" fmla="val 30303"/>
            </a:avLst>
          </a:prstGeom>
          <a:solidFill>
            <a:srgbClr val="A6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2" name="Connector 21"/>
          <p:cNvCxnSpPr/>
          <p:nvPr/>
        </p:nvCxnSpPr>
        <p:spPr>
          <a:xfrm>
            <a:off x="2112645" y="1713071"/>
            <a:ext cx="0" cy="222885"/>
          </a:xfrm>
          <a:prstGeom prst="line">
            <a:avLst/>
          </a:prstGeom>
          <a:ln w="28575">
            <a:solidFill>
              <a:srgbClr val="A6A6A6"/>
            </a:solidFill>
            <a:tailEnd type="triangle" w="med" len="med"/>
          </a:ln>
        </p:spPr>
      </p:cxnSp>
      <p:sp>
        <p:nvSpPr>
          <p:cNvPr id="23" name="TextBox 22"/>
          <p:cNvSpPr txBox="1"/>
          <p:nvPr/>
        </p:nvSpPr>
        <p:spPr>
          <a:xfrm>
            <a:off x="1169670" y="1730216"/>
            <a:ext cx="878681" cy="145732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12" b="1">
                <a:solidFill>
                  <a:srgbClr val="6B6B6B"/>
                </a:solidFill>
                <a:latin typeface="Meiryo"/>
                <a:ea typeface="Meiryo"/>
                <a:cs typeface="Meiryo"/>
              </a:rPr>
              <a:t>他の人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7700" y="2733675"/>
            <a:ext cx="2381250" cy="38100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手の甲側へ押す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257550" y="1428750"/>
            <a:ext cx="2571750" cy="17145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9525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352800" y="1495425"/>
            <a:ext cx="2381250" cy="238125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F6FB4"/>
                </a:solidFill>
                <a:latin typeface="Meiryo"/>
                <a:ea typeface="Meiryo"/>
                <a:cs typeface="Meiryo"/>
              </a:rPr>
              <a:t>D　</a:t>
            </a:r>
            <a:r>
              <a:rPr sz="900" b="1">
                <a:solidFill>
                  <a:srgbClr val="6B6B6B"/>
                </a:solidFill>
                <a:latin typeface="Meiryo"/>
                <a:ea typeface="Meiryo"/>
                <a:cs typeface="Meiryo"/>
              </a:rPr>
              <a:t>親指が上・握る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471862" y="1743075"/>
            <a:ext cx="2143125" cy="942975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506152" y="2540318"/>
            <a:ext cx="1714500" cy="145732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675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机（上から見た図）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557588" y="2150269"/>
            <a:ext cx="1071562" cy="214312"/>
          </a:xfrm>
          <a:prstGeom prst="roundRect">
            <a:avLst>
              <a:gd name="adj" fmla="val 26666"/>
            </a:avLst>
          </a:prstGeom>
          <a:solidFill>
            <a:srgbClr val="F1E3D6"/>
          </a:solidFill>
          <a:ln w="9525">
            <a:solidFill>
              <a:srgbClr val="8A7A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4594860" y="2055971"/>
            <a:ext cx="445770" cy="402908"/>
          </a:xfrm>
          <a:prstGeom prst="roundRect">
            <a:avLst>
              <a:gd name="adj" fmla="val 16548"/>
            </a:avLst>
          </a:prstGeom>
          <a:solidFill>
            <a:srgbClr val="F1E3D6"/>
          </a:solidFill>
          <a:ln w="9525">
            <a:solidFill>
              <a:srgbClr val="8A7A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1" name="Connector 30"/>
          <p:cNvCxnSpPr/>
          <p:nvPr/>
        </p:nvCxnSpPr>
        <p:spPr>
          <a:xfrm>
            <a:off x="4903470" y="2090261"/>
            <a:ext cx="0" cy="120015"/>
          </a:xfrm>
          <a:prstGeom prst="line">
            <a:avLst/>
          </a:prstGeom>
          <a:ln w="7143">
            <a:solidFill>
              <a:srgbClr val="8A7A6C"/>
            </a:solidFill>
          </a:ln>
        </p:spPr>
      </p:cxnSp>
      <p:cxnSp>
        <p:nvCxnSpPr>
          <p:cNvPr id="32" name="Connector 31"/>
          <p:cNvCxnSpPr/>
          <p:nvPr/>
        </p:nvCxnSpPr>
        <p:spPr>
          <a:xfrm>
            <a:off x="4950619" y="2090261"/>
            <a:ext cx="0" cy="120015"/>
          </a:xfrm>
          <a:prstGeom prst="line">
            <a:avLst/>
          </a:prstGeom>
          <a:ln w="7143">
            <a:solidFill>
              <a:srgbClr val="8A7A6C"/>
            </a:solidFill>
          </a:ln>
        </p:spPr>
      </p:cxnSp>
      <p:cxnSp>
        <p:nvCxnSpPr>
          <p:cNvPr id="33" name="Connector 32"/>
          <p:cNvCxnSpPr/>
          <p:nvPr/>
        </p:nvCxnSpPr>
        <p:spPr>
          <a:xfrm>
            <a:off x="4997768" y="2090261"/>
            <a:ext cx="0" cy="120015"/>
          </a:xfrm>
          <a:prstGeom prst="line">
            <a:avLst/>
          </a:prstGeom>
          <a:ln w="7143">
            <a:solidFill>
              <a:srgbClr val="8A7A6C"/>
            </a:solidFill>
          </a:ln>
        </p:spPr>
      </p:cxnSp>
      <p:sp>
        <p:nvSpPr>
          <p:cNvPr id="34" name="Rounded Rectangle 33"/>
          <p:cNvSpPr/>
          <p:nvPr/>
        </p:nvSpPr>
        <p:spPr>
          <a:xfrm>
            <a:off x="4629150" y="2235994"/>
            <a:ext cx="334328" cy="120015"/>
          </a:xfrm>
          <a:prstGeom prst="roundRect">
            <a:avLst>
              <a:gd name="adj" fmla="val 50000"/>
            </a:avLst>
          </a:prstGeom>
          <a:solidFill>
            <a:srgbClr val="E2C8B0"/>
          </a:solidFill>
          <a:ln w="9525">
            <a:solidFill>
              <a:srgbClr val="8A7A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4869180" y="2257425"/>
            <a:ext cx="68580" cy="77152"/>
          </a:xfrm>
          <a:prstGeom prst="roundRect">
            <a:avLst>
              <a:gd name="adj" fmla="val 27777"/>
            </a:avLst>
          </a:prstGeom>
          <a:solidFill>
            <a:srgbClr val="FFF7EF"/>
          </a:solidFill>
          <a:ln w="4762">
            <a:solidFill>
              <a:srgbClr val="8A7A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286250" y="2381726"/>
            <a:ext cx="282892" cy="128588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12" b="1">
                <a:solidFill>
                  <a:srgbClr val="8A7A6C"/>
                </a:solidFill>
                <a:latin typeface="Meiryo"/>
                <a:ea typeface="Meiryo"/>
                <a:cs typeface="Meiryo"/>
              </a:rPr>
              <a:t>親指</a:t>
            </a:r>
          </a:p>
        </p:txBody>
      </p:sp>
      <p:cxnSp>
        <p:nvCxnSpPr>
          <p:cNvPr id="37" name="Connector 36"/>
          <p:cNvCxnSpPr/>
          <p:nvPr/>
        </p:nvCxnSpPr>
        <p:spPr>
          <a:xfrm flipV="1">
            <a:off x="4577715" y="2296001"/>
            <a:ext cx="111443" cy="137160"/>
          </a:xfrm>
          <a:prstGeom prst="line">
            <a:avLst/>
          </a:prstGeom>
          <a:ln w="7143">
            <a:solidFill>
              <a:srgbClr val="8A7A6C"/>
            </a:solidFill>
          </a:ln>
        </p:spPr>
      </p:cxnSp>
      <p:sp>
        <p:nvSpPr>
          <p:cNvPr id="38" name="TextBox 37"/>
          <p:cNvSpPr txBox="1"/>
          <p:nvPr/>
        </p:nvSpPr>
        <p:spPr>
          <a:xfrm>
            <a:off x="3574732" y="2004536"/>
            <a:ext cx="771525" cy="128588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675" b="1">
                <a:solidFill>
                  <a:srgbClr val="6B6B6B"/>
                </a:solidFill>
                <a:latin typeface="Meiryo"/>
                <a:ea typeface="Meiryo"/>
                <a:cs typeface="Meiryo"/>
              </a:rPr>
              <a:t>手の甲側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74732" y="2381726"/>
            <a:ext cx="771525" cy="128588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675" b="1">
                <a:solidFill>
                  <a:srgbClr val="6B6B6B"/>
                </a:solidFill>
                <a:latin typeface="Meiryo"/>
                <a:ea typeface="Meiryo"/>
                <a:cs typeface="Meiryo"/>
              </a:rPr>
              <a:t>手のひら側</a:t>
            </a:r>
          </a:p>
        </p:txBody>
      </p:sp>
      <p:cxnSp>
        <p:nvCxnSpPr>
          <p:cNvPr id="40" name="Connector 39"/>
          <p:cNvCxnSpPr/>
          <p:nvPr/>
        </p:nvCxnSpPr>
        <p:spPr>
          <a:xfrm flipV="1">
            <a:off x="5152072" y="1893094"/>
            <a:ext cx="0" cy="342900"/>
          </a:xfrm>
          <a:prstGeom prst="line">
            <a:avLst/>
          </a:prstGeom>
          <a:ln w="33337">
            <a:solidFill>
              <a:srgbClr val="1F6FB4"/>
            </a:solidFill>
            <a:tailEnd type="triangle" w="med" len="med"/>
          </a:ln>
        </p:spPr>
      </p:cxnSp>
      <p:sp>
        <p:nvSpPr>
          <p:cNvPr id="41" name="TextBox 40"/>
          <p:cNvSpPr txBox="1"/>
          <p:nvPr/>
        </p:nvSpPr>
        <p:spPr>
          <a:xfrm>
            <a:off x="3909060" y="2527459"/>
            <a:ext cx="1371600" cy="17145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12" b="1">
                <a:solidFill>
                  <a:srgbClr val="1F6FB4"/>
                </a:solidFill>
                <a:latin typeface="Meiryo"/>
                <a:ea typeface="Meiryo"/>
                <a:cs typeface="Meiryo"/>
              </a:rPr>
              <a:t>＋小指側（机へ）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646295" y="1953101"/>
            <a:ext cx="342900" cy="94298"/>
          </a:xfrm>
          <a:prstGeom prst="roundRect">
            <a:avLst>
              <a:gd name="adj" fmla="val 30303"/>
            </a:avLst>
          </a:prstGeom>
          <a:solidFill>
            <a:srgbClr val="A6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3" name="Connector 42"/>
          <p:cNvCxnSpPr/>
          <p:nvPr/>
        </p:nvCxnSpPr>
        <p:spPr>
          <a:xfrm>
            <a:off x="4817745" y="1713071"/>
            <a:ext cx="0" cy="222885"/>
          </a:xfrm>
          <a:prstGeom prst="line">
            <a:avLst/>
          </a:prstGeom>
          <a:ln w="28575">
            <a:solidFill>
              <a:srgbClr val="A6A6A6"/>
            </a:solidFill>
            <a:tailEnd type="triangle" w="med" len="med"/>
          </a:ln>
        </p:spPr>
      </p:cxnSp>
      <p:sp>
        <p:nvSpPr>
          <p:cNvPr id="44" name="TextBox 43"/>
          <p:cNvSpPr txBox="1"/>
          <p:nvPr/>
        </p:nvSpPr>
        <p:spPr>
          <a:xfrm>
            <a:off x="3874770" y="1730216"/>
            <a:ext cx="878681" cy="145732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12" b="1">
                <a:solidFill>
                  <a:srgbClr val="6B6B6B"/>
                </a:solidFill>
                <a:latin typeface="Meiryo"/>
                <a:ea typeface="Meiryo"/>
                <a:cs typeface="Meiryo"/>
              </a:rPr>
              <a:t>他の人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352800" y="2733675"/>
            <a:ext cx="2381250" cy="38100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手の甲側＋小指側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52800" y="2952750"/>
            <a:ext cx="2381250" cy="142875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B0560C"/>
                </a:solidFill>
                <a:latin typeface="Meiryo"/>
                <a:ea typeface="Meiryo"/>
                <a:cs typeface="Meiryo"/>
              </a:rPr>
              <a:t>腕を浮かせた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962650" y="1428750"/>
            <a:ext cx="2571750" cy="17145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9525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057900" y="1495425"/>
            <a:ext cx="2381250" cy="238125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F6FB4"/>
                </a:solidFill>
                <a:latin typeface="Meiryo"/>
                <a:ea typeface="Meiryo"/>
                <a:cs typeface="Meiryo"/>
              </a:rPr>
              <a:t>E　</a:t>
            </a:r>
            <a:r>
              <a:rPr sz="900" b="1">
                <a:solidFill>
                  <a:srgbClr val="6B6B6B"/>
                </a:solidFill>
                <a:latin typeface="Meiryo"/>
                <a:ea typeface="Meiryo"/>
                <a:cs typeface="Meiryo"/>
              </a:rPr>
              <a:t>親指が上・開く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176962" y="1743075"/>
            <a:ext cx="2143125" cy="942975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211252" y="2540318"/>
            <a:ext cx="1714500" cy="145732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675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机（上から見た図）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262688" y="2150269"/>
            <a:ext cx="1071562" cy="214312"/>
          </a:xfrm>
          <a:prstGeom prst="roundRect">
            <a:avLst>
              <a:gd name="adj" fmla="val 26666"/>
            </a:avLst>
          </a:prstGeom>
          <a:solidFill>
            <a:srgbClr val="F1E3D6"/>
          </a:solidFill>
          <a:ln w="9525">
            <a:solidFill>
              <a:srgbClr val="8A7A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7299960" y="2133124"/>
            <a:ext cx="771525" cy="248602"/>
          </a:xfrm>
          <a:prstGeom prst="roundRect">
            <a:avLst>
              <a:gd name="adj" fmla="val 26819"/>
            </a:avLst>
          </a:prstGeom>
          <a:solidFill>
            <a:srgbClr val="F1E3D6"/>
          </a:solidFill>
          <a:ln w="9525">
            <a:solidFill>
              <a:srgbClr val="8A7A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3" name="Connector 52"/>
          <p:cNvCxnSpPr/>
          <p:nvPr/>
        </p:nvCxnSpPr>
        <p:spPr>
          <a:xfrm>
            <a:off x="7728585" y="2207704"/>
            <a:ext cx="300037" cy="0"/>
          </a:xfrm>
          <a:prstGeom prst="line">
            <a:avLst/>
          </a:prstGeom>
          <a:ln w="7143">
            <a:solidFill>
              <a:srgbClr val="8A7A6C"/>
            </a:solidFill>
          </a:ln>
        </p:spPr>
      </p:cxnSp>
      <p:cxnSp>
        <p:nvCxnSpPr>
          <p:cNvPr id="54" name="Connector 53"/>
          <p:cNvCxnSpPr/>
          <p:nvPr/>
        </p:nvCxnSpPr>
        <p:spPr>
          <a:xfrm>
            <a:off x="7728585" y="2257425"/>
            <a:ext cx="300037" cy="0"/>
          </a:xfrm>
          <a:prstGeom prst="line">
            <a:avLst/>
          </a:prstGeom>
          <a:ln w="7143">
            <a:solidFill>
              <a:srgbClr val="8A7A6C"/>
            </a:solidFill>
          </a:ln>
        </p:spPr>
      </p:cxnSp>
      <p:cxnSp>
        <p:nvCxnSpPr>
          <p:cNvPr id="55" name="Connector 54"/>
          <p:cNvCxnSpPr/>
          <p:nvPr/>
        </p:nvCxnSpPr>
        <p:spPr>
          <a:xfrm>
            <a:off x="7728585" y="2307146"/>
            <a:ext cx="300037" cy="0"/>
          </a:xfrm>
          <a:prstGeom prst="line">
            <a:avLst/>
          </a:prstGeom>
          <a:ln w="7143">
            <a:solidFill>
              <a:srgbClr val="8A7A6C"/>
            </a:solidFill>
          </a:ln>
        </p:spPr>
      </p:cxnSp>
      <p:sp>
        <p:nvSpPr>
          <p:cNvPr id="56" name="Rounded Rectangle 55"/>
          <p:cNvSpPr/>
          <p:nvPr/>
        </p:nvSpPr>
        <p:spPr>
          <a:xfrm>
            <a:off x="7334250" y="2193131"/>
            <a:ext cx="428625" cy="111443"/>
          </a:xfrm>
          <a:prstGeom prst="roundRect">
            <a:avLst>
              <a:gd name="adj" fmla="val 50000"/>
            </a:avLst>
          </a:prstGeom>
          <a:solidFill>
            <a:srgbClr val="E2C8B0"/>
          </a:solidFill>
          <a:ln w="9525">
            <a:solidFill>
              <a:srgbClr val="8A7A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7668578" y="2214562"/>
            <a:ext cx="68580" cy="68580"/>
          </a:xfrm>
          <a:prstGeom prst="roundRect">
            <a:avLst>
              <a:gd name="adj" fmla="val 27777"/>
            </a:avLst>
          </a:prstGeom>
          <a:solidFill>
            <a:srgbClr val="FFF7EF"/>
          </a:solidFill>
          <a:ln w="4762">
            <a:solidFill>
              <a:srgbClr val="8A7A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991350" y="2381726"/>
            <a:ext cx="282892" cy="128588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12" b="1">
                <a:solidFill>
                  <a:srgbClr val="8A7A6C"/>
                </a:solidFill>
                <a:latin typeface="Meiryo"/>
                <a:ea typeface="Meiryo"/>
                <a:cs typeface="Meiryo"/>
              </a:rPr>
              <a:t>親指</a:t>
            </a:r>
          </a:p>
        </p:txBody>
      </p:sp>
      <p:cxnSp>
        <p:nvCxnSpPr>
          <p:cNvPr id="59" name="Connector 58"/>
          <p:cNvCxnSpPr/>
          <p:nvPr/>
        </p:nvCxnSpPr>
        <p:spPr>
          <a:xfrm flipV="1">
            <a:off x="7282815" y="2248852"/>
            <a:ext cx="111443" cy="184309"/>
          </a:xfrm>
          <a:prstGeom prst="line">
            <a:avLst/>
          </a:prstGeom>
          <a:ln w="7143">
            <a:solidFill>
              <a:srgbClr val="8A7A6C"/>
            </a:solidFill>
          </a:ln>
        </p:spPr>
      </p:cxnSp>
      <p:sp>
        <p:nvSpPr>
          <p:cNvPr id="60" name="TextBox 59"/>
          <p:cNvSpPr txBox="1"/>
          <p:nvPr/>
        </p:nvSpPr>
        <p:spPr>
          <a:xfrm>
            <a:off x="6279832" y="2004536"/>
            <a:ext cx="771525" cy="128588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675" b="1">
                <a:solidFill>
                  <a:srgbClr val="6B6B6B"/>
                </a:solidFill>
                <a:latin typeface="Meiryo"/>
                <a:ea typeface="Meiryo"/>
                <a:cs typeface="Meiryo"/>
              </a:rPr>
              <a:t>手の甲側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279832" y="2381726"/>
            <a:ext cx="771525" cy="128588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675" b="1">
                <a:solidFill>
                  <a:srgbClr val="6B6B6B"/>
                </a:solidFill>
                <a:latin typeface="Meiryo"/>
                <a:ea typeface="Meiryo"/>
                <a:cs typeface="Meiryo"/>
              </a:rPr>
              <a:t>手のひら側</a:t>
            </a:r>
          </a:p>
        </p:txBody>
      </p:sp>
      <p:cxnSp>
        <p:nvCxnSpPr>
          <p:cNvPr id="62" name="Connector 61"/>
          <p:cNvCxnSpPr/>
          <p:nvPr/>
        </p:nvCxnSpPr>
        <p:spPr>
          <a:xfrm flipV="1">
            <a:off x="8182928" y="1893094"/>
            <a:ext cx="0" cy="342900"/>
          </a:xfrm>
          <a:prstGeom prst="line">
            <a:avLst/>
          </a:prstGeom>
          <a:ln w="33337">
            <a:solidFill>
              <a:srgbClr val="1F6FB4"/>
            </a:solidFill>
            <a:tailEnd type="triangle" w="med" len="med"/>
          </a:ln>
        </p:spPr>
      </p:cxnSp>
      <p:sp>
        <p:nvSpPr>
          <p:cNvPr id="63" name="Rounded Rectangle 62"/>
          <p:cNvSpPr/>
          <p:nvPr/>
        </p:nvSpPr>
        <p:spPr>
          <a:xfrm>
            <a:off x="7514272" y="2030254"/>
            <a:ext cx="342900" cy="94298"/>
          </a:xfrm>
          <a:prstGeom prst="roundRect">
            <a:avLst>
              <a:gd name="adj" fmla="val 30303"/>
            </a:avLst>
          </a:prstGeom>
          <a:solidFill>
            <a:srgbClr val="A6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>
            <a:off x="7685722" y="1790224"/>
            <a:ext cx="0" cy="222885"/>
          </a:xfrm>
          <a:prstGeom prst="line">
            <a:avLst/>
          </a:prstGeom>
          <a:ln w="28575">
            <a:solidFill>
              <a:srgbClr val="A6A6A6"/>
            </a:solidFill>
            <a:tailEnd type="triangle" w="med" len="med"/>
          </a:ln>
        </p:spPr>
      </p:cxnSp>
      <p:sp>
        <p:nvSpPr>
          <p:cNvPr id="65" name="TextBox 64"/>
          <p:cNvSpPr txBox="1"/>
          <p:nvPr/>
        </p:nvSpPr>
        <p:spPr>
          <a:xfrm>
            <a:off x="6742748" y="1807369"/>
            <a:ext cx="878681" cy="145732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12" b="1">
                <a:solidFill>
                  <a:srgbClr val="6B6B6B"/>
                </a:solidFill>
                <a:latin typeface="Meiryo"/>
                <a:ea typeface="Meiryo"/>
                <a:cs typeface="Meiryo"/>
              </a:rPr>
              <a:t>両手で包む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057900" y="2733675"/>
            <a:ext cx="2381250" cy="38100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包まれた手を開きながら反らす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057900" y="2952750"/>
            <a:ext cx="2381250" cy="142875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B0560C"/>
                </a:solidFill>
                <a:latin typeface="Meiryo"/>
                <a:ea typeface="Meiryo"/>
                <a:cs typeface="Meiryo"/>
              </a:rPr>
              <a:t>腕を浮かせた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552450" y="3238500"/>
            <a:ext cx="2571750" cy="17145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9525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7700" y="3305175"/>
            <a:ext cx="2381250" cy="238125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F6FB4"/>
                </a:solidFill>
                <a:latin typeface="Meiryo"/>
                <a:ea typeface="Meiryo"/>
                <a:cs typeface="Meiryo"/>
              </a:rPr>
              <a:t>F　</a:t>
            </a:r>
            <a:r>
              <a:rPr sz="900" b="1">
                <a:solidFill>
                  <a:srgbClr val="6B6B6B"/>
                </a:solidFill>
                <a:latin typeface="Meiryo"/>
                <a:ea typeface="Meiryo"/>
                <a:cs typeface="Meiryo"/>
              </a:rPr>
              <a:t>手のひら下・握る</a:t>
            </a:r>
          </a:p>
        </p:txBody>
      </p:sp>
      <p:sp>
        <p:nvSpPr>
          <p:cNvPr id="70" name="Rectangle 69"/>
          <p:cNvSpPr/>
          <p:nvPr/>
        </p:nvSpPr>
        <p:spPr>
          <a:xfrm>
            <a:off x="766762" y="4281488"/>
            <a:ext cx="1285875" cy="214312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801052" y="4307205"/>
            <a:ext cx="857250" cy="17145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机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66800" y="4127182"/>
            <a:ext cx="985838" cy="145732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6B6B6B"/>
                </a:solidFill>
                <a:latin typeface="Meiryo"/>
                <a:ea typeface="Meiryo"/>
                <a:cs typeface="Meiryo"/>
              </a:rPr>
              <a:t>↕ 浮かせた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852488" y="3895725"/>
            <a:ext cx="1208722" cy="214312"/>
          </a:xfrm>
          <a:prstGeom prst="roundRect">
            <a:avLst>
              <a:gd name="adj" fmla="val 26666"/>
            </a:avLst>
          </a:prstGeom>
          <a:solidFill>
            <a:srgbClr val="F1E3D6"/>
          </a:solidFill>
          <a:ln w="9525">
            <a:solidFill>
              <a:srgbClr val="8A7A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ounded Rectangle 73"/>
          <p:cNvSpPr/>
          <p:nvPr/>
        </p:nvSpPr>
        <p:spPr>
          <a:xfrm>
            <a:off x="2035493" y="3874294"/>
            <a:ext cx="308610" cy="257175"/>
          </a:xfrm>
          <a:prstGeom prst="roundRect">
            <a:avLst>
              <a:gd name="adj" fmla="val 25925"/>
            </a:avLst>
          </a:prstGeom>
          <a:solidFill>
            <a:srgbClr val="F1E3D6"/>
          </a:solidFill>
          <a:ln w="9525">
            <a:solidFill>
              <a:srgbClr val="8A7A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5" name="Connector 74"/>
          <p:cNvCxnSpPr/>
          <p:nvPr/>
        </p:nvCxnSpPr>
        <p:spPr>
          <a:xfrm flipV="1">
            <a:off x="2455545" y="3638550"/>
            <a:ext cx="0" cy="342900"/>
          </a:xfrm>
          <a:prstGeom prst="line">
            <a:avLst/>
          </a:prstGeom>
          <a:ln w="33337">
            <a:solidFill>
              <a:srgbClr val="1F6FB4"/>
            </a:solidFill>
            <a:tailEnd type="triangle" w="med" len="med"/>
          </a:ln>
        </p:spPr>
      </p:cxnSp>
      <p:sp>
        <p:nvSpPr>
          <p:cNvPr id="76" name="TextBox 75"/>
          <p:cNvSpPr txBox="1"/>
          <p:nvPr/>
        </p:nvSpPr>
        <p:spPr>
          <a:xfrm>
            <a:off x="1212533" y="4118610"/>
            <a:ext cx="1371600" cy="17145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12" b="1">
                <a:solidFill>
                  <a:srgbClr val="1F6FB4"/>
                </a:solidFill>
                <a:latin typeface="Meiryo"/>
                <a:ea typeface="Meiryo"/>
                <a:cs typeface="Meiryo"/>
              </a:rPr>
              <a:t>＋親指側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2018348" y="3771424"/>
            <a:ext cx="342900" cy="94298"/>
          </a:xfrm>
          <a:prstGeom prst="roundRect">
            <a:avLst>
              <a:gd name="adj" fmla="val 30303"/>
            </a:avLst>
          </a:prstGeom>
          <a:solidFill>
            <a:srgbClr val="A6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8" name="Connector 77"/>
          <p:cNvCxnSpPr/>
          <p:nvPr/>
        </p:nvCxnSpPr>
        <p:spPr>
          <a:xfrm>
            <a:off x="2189798" y="3531394"/>
            <a:ext cx="0" cy="222885"/>
          </a:xfrm>
          <a:prstGeom prst="line">
            <a:avLst/>
          </a:prstGeom>
          <a:ln w="28575">
            <a:solidFill>
              <a:srgbClr val="A6A6A6"/>
            </a:solidFill>
            <a:tailEnd type="triangle" w="med" len="med"/>
          </a:ln>
        </p:spPr>
      </p:cxnSp>
      <p:sp>
        <p:nvSpPr>
          <p:cNvPr id="79" name="TextBox 78"/>
          <p:cNvSpPr txBox="1"/>
          <p:nvPr/>
        </p:nvSpPr>
        <p:spPr>
          <a:xfrm>
            <a:off x="1246822" y="3548539"/>
            <a:ext cx="878681" cy="145732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12" b="1">
                <a:solidFill>
                  <a:srgbClr val="6B6B6B"/>
                </a:solidFill>
                <a:latin typeface="Meiryo"/>
                <a:ea typeface="Meiryo"/>
                <a:cs typeface="Meiryo"/>
              </a:rPr>
              <a:t>他の人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47700" y="4543425"/>
            <a:ext cx="2381250" cy="38100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反らす＋親指側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47700" y="4762500"/>
            <a:ext cx="2381250" cy="142875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B0560C"/>
                </a:solidFill>
                <a:latin typeface="Meiryo"/>
                <a:ea typeface="Meiryo"/>
                <a:cs typeface="Meiryo"/>
              </a:rPr>
              <a:t>腕を浮かせた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3257550" y="3238500"/>
            <a:ext cx="2571750" cy="17145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9525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352800" y="3305175"/>
            <a:ext cx="2381250" cy="238125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F6FB4"/>
                </a:solidFill>
                <a:latin typeface="Meiryo"/>
                <a:ea typeface="Meiryo"/>
                <a:cs typeface="Meiryo"/>
              </a:rPr>
              <a:t>G　</a:t>
            </a:r>
            <a:r>
              <a:rPr sz="900" b="1">
                <a:solidFill>
                  <a:srgbClr val="6B6B6B"/>
                </a:solidFill>
                <a:latin typeface="Meiryo"/>
                <a:ea typeface="Meiryo"/>
                <a:cs typeface="Meiryo"/>
              </a:rPr>
              <a:t>手のひら下・開く</a:t>
            </a:r>
          </a:p>
        </p:txBody>
      </p:sp>
      <p:sp>
        <p:nvSpPr>
          <p:cNvPr id="84" name="Rectangle 83"/>
          <p:cNvSpPr/>
          <p:nvPr/>
        </p:nvSpPr>
        <p:spPr>
          <a:xfrm>
            <a:off x="3471862" y="4281488"/>
            <a:ext cx="1285875" cy="214312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3506152" y="4307205"/>
            <a:ext cx="857250" cy="17145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机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771900" y="4127182"/>
            <a:ext cx="985838" cy="145732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6B6B6B"/>
                </a:solidFill>
                <a:latin typeface="Meiryo"/>
                <a:ea typeface="Meiryo"/>
                <a:cs typeface="Meiryo"/>
              </a:rPr>
              <a:t>↕ 浮かせた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3557588" y="3895725"/>
            <a:ext cx="1208722" cy="214312"/>
          </a:xfrm>
          <a:prstGeom prst="roundRect">
            <a:avLst>
              <a:gd name="adj" fmla="val 26666"/>
            </a:avLst>
          </a:prstGeom>
          <a:solidFill>
            <a:srgbClr val="F1E3D6"/>
          </a:solidFill>
          <a:ln w="9525">
            <a:solidFill>
              <a:srgbClr val="8A7A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ounded Rectangle 87"/>
          <p:cNvSpPr/>
          <p:nvPr/>
        </p:nvSpPr>
        <p:spPr>
          <a:xfrm>
            <a:off x="4740593" y="3930015"/>
            <a:ext cx="642938" cy="145732"/>
          </a:xfrm>
          <a:prstGeom prst="roundRect">
            <a:avLst>
              <a:gd name="adj" fmla="val 45751"/>
            </a:avLst>
          </a:prstGeom>
          <a:solidFill>
            <a:srgbClr val="F1E3D6"/>
          </a:solidFill>
          <a:ln w="9525">
            <a:solidFill>
              <a:srgbClr val="8A7A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9" name="Connector 88"/>
          <p:cNvCxnSpPr/>
          <p:nvPr/>
        </p:nvCxnSpPr>
        <p:spPr>
          <a:xfrm flipV="1">
            <a:off x="5486400" y="3638550"/>
            <a:ext cx="0" cy="342900"/>
          </a:xfrm>
          <a:prstGeom prst="line">
            <a:avLst/>
          </a:prstGeom>
          <a:ln w="33337">
            <a:solidFill>
              <a:srgbClr val="1F6FB4"/>
            </a:solidFill>
            <a:tailEnd type="triangle" w="med" len="med"/>
          </a:ln>
        </p:spPr>
      </p:cxnSp>
      <p:sp>
        <p:nvSpPr>
          <p:cNvPr id="90" name="Rounded Rectangle 89"/>
          <p:cNvSpPr/>
          <p:nvPr/>
        </p:nvSpPr>
        <p:spPr>
          <a:xfrm>
            <a:off x="4890611" y="3827145"/>
            <a:ext cx="342900" cy="94298"/>
          </a:xfrm>
          <a:prstGeom prst="roundRect">
            <a:avLst>
              <a:gd name="adj" fmla="val 30303"/>
            </a:avLst>
          </a:prstGeom>
          <a:solidFill>
            <a:srgbClr val="A6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1" name="Connector 90"/>
          <p:cNvCxnSpPr/>
          <p:nvPr/>
        </p:nvCxnSpPr>
        <p:spPr>
          <a:xfrm>
            <a:off x="5062061" y="3587115"/>
            <a:ext cx="0" cy="222885"/>
          </a:xfrm>
          <a:prstGeom prst="line">
            <a:avLst/>
          </a:prstGeom>
          <a:ln w="28575">
            <a:solidFill>
              <a:srgbClr val="A6A6A6"/>
            </a:solidFill>
            <a:tailEnd type="triangle" w="med" len="med"/>
          </a:ln>
        </p:spPr>
      </p:cxnSp>
      <p:sp>
        <p:nvSpPr>
          <p:cNvPr id="92" name="TextBox 91"/>
          <p:cNvSpPr txBox="1"/>
          <p:nvPr/>
        </p:nvSpPr>
        <p:spPr>
          <a:xfrm>
            <a:off x="4119086" y="3604260"/>
            <a:ext cx="878681" cy="145732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12" b="1">
                <a:solidFill>
                  <a:srgbClr val="6B6B6B"/>
                </a:solidFill>
                <a:latin typeface="Meiryo"/>
                <a:ea typeface="Meiryo"/>
                <a:cs typeface="Meiryo"/>
              </a:rPr>
              <a:t>他の人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352800" y="4543425"/>
            <a:ext cx="2381250" cy="38100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指を伸ばしたまま反らす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3352800" y="4762500"/>
            <a:ext cx="2381250" cy="142875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B0560C"/>
                </a:solidFill>
                <a:latin typeface="Meiryo"/>
                <a:ea typeface="Meiryo"/>
                <a:cs typeface="Meiryo"/>
              </a:rPr>
              <a:t>腕を浮かせた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5962650" y="3238500"/>
            <a:ext cx="2571750" cy="17145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9525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6057900" y="3305175"/>
            <a:ext cx="2381250" cy="238125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F6FB4"/>
                </a:solidFill>
                <a:latin typeface="Meiryo"/>
                <a:ea typeface="Meiryo"/>
                <a:cs typeface="Meiryo"/>
              </a:rPr>
              <a:t>H　</a:t>
            </a:r>
            <a:r>
              <a:rPr sz="900" b="1">
                <a:solidFill>
                  <a:srgbClr val="6B6B6B"/>
                </a:solidFill>
                <a:latin typeface="Meiryo"/>
                <a:ea typeface="Meiryo"/>
                <a:cs typeface="Meiryo"/>
              </a:rPr>
              <a:t>手のひら下・握る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176962" y="4281488"/>
            <a:ext cx="1285875" cy="214312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211252" y="4307205"/>
            <a:ext cx="857250" cy="17145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机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6477000" y="4127182"/>
            <a:ext cx="985838" cy="145732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6B6B6B"/>
                </a:solidFill>
                <a:latin typeface="Meiryo"/>
                <a:ea typeface="Meiryo"/>
                <a:cs typeface="Meiryo"/>
              </a:rPr>
              <a:t>↕ 浮かせた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6262688" y="3895725"/>
            <a:ext cx="1208722" cy="214312"/>
          </a:xfrm>
          <a:prstGeom prst="roundRect">
            <a:avLst>
              <a:gd name="adj" fmla="val 26666"/>
            </a:avLst>
          </a:prstGeom>
          <a:solidFill>
            <a:srgbClr val="F1E3D6"/>
          </a:solidFill>
          <a:ln w="9525">
            <a:solidFill>
              <a:srgbClr val="8A7A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ounded Rectangle 100"/>
          <p:cNvSpPr/>
          <p:nvPr/>
        </p:nvSpPr>
        <p:spPr>
          <a:xfrm>
            <a:off x="7445692" y="3874294"/>
            <a:ext cx="308610" cy="257175"/>
          </a:xfrm>
          <a:prstGeom prst="roundRect">
            <a:avLst>
              <a:gd name="adj" fmla="val 25925"/>
            </a:avLst>
          </a:prstGeom>
          <a:solidFill>
            <a:srgbClr val="F1E3D6"/>
          </a:solidFill>
          <a:ln w="9525">
            <a:solidFill>
              <a:srgbClr val="8A7A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2" name="Connector 101"/>
          <p:cNvCxnSpPr/>
          <p:nvPr/>
        </p:nvCxnSpPr>
        <p:spPr>
          <a:xfrm flipV="1">
            <a:off x="7865745" y="3638550"/>
            <a:ext cx="0" cy="342900"/>
          </a:xfrm>
          <a:prstGeom prst="line">
            <a:avLst/>
          </a:prstGeom>
          <a:ln w="33337">
            <a:solidFill>
              <a:srgbClr val="1F6FB4"/>
            </a:solidFill>
            <a:tailEnd type="triangle" w="med" len="med"/>
          </a:ln>
        </p:spPr>
      </p:cxnSp>
      <p:sp>
        <p:nvSpPr>
          <p:cNvPr id="103" name="Rectangle 102"/>
          <p:cNvSpPr/>
          <p:nvPr/>
        </p:nvSpPr>
        <p:spPr>
          <a:xfrm>
            <a:off x="7162800" y="3762851"/>
            <a:ext cx="857250" cy="94298"/>
          </a:xfrm>
          <a:prstGeom prst="rect">
            <a:avLst/>
          </a:prstGeom>
          <a:solidFill>
            <a:srgbClr val="8A7A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6605588" y="3728561"/>
            <a:ext cx="535781" cy="128588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12" b="1">
                <a:solidFill>
                  <a:srgbClr val="6B6B6B"/>
                </a:solidFill>
                <a:latin typeface="Meiryo"/>
                <a:ea typeface="Meiryo"/>
                <a:cs typeface="Meiryo"/>
              </a:rPr>
              <a:t>天板の裏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6057900" y="4543425"/>
            <a:ext cx="2381250" cy="38100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一人で、天板の裏を押し上げる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6057900" y="4762500"/>
            <a:ext cx="2381250" cy="142875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B0560C"/>
                </a:solidFill>
                <a:latin typeface="Meiryo"/>
                <a:ea typeface="Meiryo"/>
                <a:cs typeface="Meiryo"/>
              </a:rPr>
              <a:t>腕を浮かせた　CSV なし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52450" y="381000"/>
            <a:ext cx="7143750" cy="47625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試した動作：屈曲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3375" y="476250"/>
            <a:ext cx="581025" cy="19050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1500" y="1095375"/>
            <a:ext cx="7962900" cy="714375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375"/>
              </a:spcAft>
            </a:pPr>
            <a:r>
              <a:rPr sz="1500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・確認動作は、手首から先を机の端から出して曲げきる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375"/>
              </a:spcAft>
            </a:pPr>
            <a:r>
              <a:rPr sz="1500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・課題は手のひら上の 2 つ。どちらも腕を浮かせた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52450" y="1905000"/>
            <a:ext cx="2571750" cy="2143125"/>
          </a:xfrm>
          <a:prstGeom prst="roundRect">
            <a:avLst>
              <a:gd name="adj" fmla="val 2666"/>
            </a:avLst>
          </a:prstGeom>
          <a:solidFill>
            <a:srgbClr val="FFFFFF"/>
          </a:solidFill>
          <a:ln w="9525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7700" y="1971675"/>
            <a:ext cx="2381250" cy="238125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B0560C"/>
                </a:solidFill>
                <a:latin typeface="Meiryo"/>
                <a:ea typeface="Meiryo"/>
                <a:cs typeface="Meiryo"/>
              </a:rPr>
              <a:t>確認　</a:t>
            </a:r>
            <a:r>
              <a:rPr sz="900" b="1">
                <a:solidFill>
                  <a:srgbClr val="6B6B6B"/>
                </a:solidFill>
                <a:latin typeface="Meiryo"/>
                <a:ea typeface="Meiryo"/>
                <a:cs typeface="Meiryo"/>
              </a:rPr>
              <a:t>手のひら下</a:t>
            </a:r>
          </a:p>
        </p:txBody>
      </p:sp>
      <p:sp>
        <p:nvSpPr>
          <p:cNvPr id="7" name="Rectangle 6"/>
          <p:cNvSpPr/>
          <p:nvPr/>
        </p:nvSpPr>
        <p:spPr>
          <a:xfrm>
            <a:off x="695325" y="2996565"/>
            <a:ext cx="1371600" cy="228600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901" y="3023997"/>
            <a:ext cx="914400" cy="18288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86765" y="2767965"/>
            <a:ext cx="1289304" cy="228600"/>
          </a:xfrm>
          <a:prstGeom prst="roundRect">
            <a:avLst>
              <a:gd name="adj" fmla="val 25000"/>
            </a:avLst>
          </a:prstGeom>
          <a:solidFill>
            <a:srgbClr val="F1E3D6"/>
          </a:solidFill>
          <a:ln w="9525">
            <a:solidFill>
              <a:srgbClr val="8A7A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 rot="3000000">
            <a:off x="2021205" y="2895981"/>
            <a:ext cx="685800" cy="155448"/>
          </a:xfrm>
          <a:prstGeom prst="roundRect">
            <a:avLst>
              <a:gd name="adj" fmla="val 42892"/>
            </a:avLst>
          </a:prstGeom>
          <a:solidFill>
            <a:srgbClr val="F1E3D6"/>
          </a:solidFill>
          <a:ln w="9525">
            <a:solidFill>
              <a:srgbClr val="8A7A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2707005" y="2905125"/>
            <a:ext cx="0" cy="320040"/>
          </a:xfrm>
          <a:prstGeom prst="line">
            <a:avLst/>
          </a:prstGeom>
          <a:ln w="33337">
            <a:solidFill>
              <a:srgbClr val="B0560C"/>
            </a:solidFill>
            <a:tailEnd type="triangle" w="med" len="med"/>
          </a:ln>
        </p:spPr>
      </p:cxnSp>
      <p:sp>
        <p:nvSpPr>
          <p:cNvPr id="12" name="TextBox 11"/>
          <p:cNvSpPr txBox="1"/>
          <p:nvPr/>
        </p:nvSpPr>
        <p:spPr>
          <a:xfrm>
            <a:off x="2204085" y="2585085"/>
            <a:ext cx="777240" cy="155448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12" b="1">
                <a:solidFill>
                  <a:srgbClr val="B0560C"/>
                </a:solidFill>
                <a:latin typeface="Meiryo"/>
                <a:ea typeface="Meiryo"/>
                <a:cs typeface="Meiryo"/>
              </a:rPr>
              <a:t>誰も押さえない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7700" y="3272790"/>
            <a:ext cx="2381250" cy="38100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手首を自由に曲げきる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57550" y="1905000"/>
            <a:ext cx="2571750" cy="2143125"/>
          </a:xfrm>
          <a:prstGeom prst="roundRect">
            <a:avLst>
              <a:gd name="adj" fmla="val 2666"/>
            </a:avLst>
          </a:prstGeom>
          <a:solidFill>
            <a:srgbClr val="FFFFFF"/>
          </a:solidFill>
          <a:ln w="9525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52800" y="1971675"/>
            <a:ext cx="2381250" cy="238125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B0560C"/>
                </a:solidFill>
                <a:latin typeface="Meiryo"/>
                <a:ea typeface="Meiryo"/>
                <a:cs typeface="Meiryo"/>
              </a:rPr>
              <a:t>I　</a:t>
            </a:r>
            <a:r>
              <a:rPr sz="900" b="1">
                <a:solidFill>
                  <a:srgbClr val="6B6B6B"/>
                </a:solidFill>
                <a:latin typeface="Meiryo"/>
                <a:ea typeface="Meiryo"/>
                <a:cs typeface="Meiryo"/>
              </a:rPr>
              <a:t>手のひら上・握る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400425" y="2996565"/>
            <a:ext cx="1371600" cy="228600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37001" y="3023997"/>
            <a:ext cx="914400" cy="18288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20465" y="2831973"/>
            <a:ext cx="1051560" cy="155448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6B6B6B"/>
                </a:solidFill>
                <a:latin typeface="Meiryo"/>
                <a:ea typeface="Meiryo"/>
                <a:cs typeface="Meiryo"/>
              </a:rPr>
              <a:t>↕ 浮かせた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491865" y="2585085"/>
            <a:ext cx="1289304" cy="228600"/>
          </a:xfrm>
          <a:prstGeom prst="roundRect">
            <a:avLst>
              <a:gd name="adj" fmla="val 25000"/>
            </a:avLst>
          </a:prstGeom>
          <a:solidFill>
            <a:srgbClr val="F1E3D6"/>
          </a:solidFill>
          <a:ln w="9525">
            <a:solidFill>
              <a:srgbClr val="8A7A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753737" y="2562225"/>
            <a:ext cx="329184" cy="274320"/>
          </a:xfrm>
          <a:prstGeom prst="roundRect">
            <a:avLst>
              <a:gd name="adj" fmla="val 24305"/>
            </a:avLst>
          </a:prstGeom>
          <a:solidFill>
            <a:srgbClr val="F1E3D6"/>
          </a:solidFill>
          <a:ln w="9525">
            <a:solidFill>
              <a:srgbClr val="8A7A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 flipV="1">
            <a:off x="5201793" y="2310765"/>
            <a:ext cx="0" cy="365760"/>
          </a:xfrm>
          <a:prstGeom prst="line">
            <a:avLst/>
          </a:prstGeom>
          <a:ln w="33337">
            <a:solidFill>
              <a:srgbClr val="B0560C"/>
            </a:solidFill>
            <a:tailEnd type="triangle" w="med" len="med"/>
          </a:ln>
        </p:spPr>
      </p:cxnSp>
      <p:sp>
        <p:nvSpPr>
          <p:cNvPr id="22" name="Rounded Rectangle 21"/>
          <p:cNvSpPr/>
          <p:nvPr/>
        </p:nvSpPr>
        <p:spPr>
          <a:xfrm>
            <a:off x="4735449" y="2452497"/>
            <a:ext cx="365760" cy="100584"/>
          </a:xfrm>
          <a:prstGeom prst="roundRect">
            <a:avLst>
              <a:gd name="adj" fmla="val 28409"/>
            </a:avLst>
          </a:prstGeom>
          <a:solidFill>
            <a:srgbClr val="A6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4918329" y="2196465"/>
            <a:ext cx="0" cy="237744"/>
          </a:xfrm>
          <a:prstGeom prst="line">
            <a:avLst/>
          </a:prstGeom>
          <a:ln w="28575">
            <a:solidFill>
              <a:srgbClr val="A6A6A6"/>
            </a:solidFill>
            <a:tailEnd type="triangle" w="med" len="med"/>
          </a:ln>
        </p:spPr>
      </p:cxnSp>
      <p:sp>
        <p:nvSpPr>
          <p:cNvPr id="24" name="TextBox 23"/>
          <p:cNvSpPr txBox="1"/>
          <p:nvPr/>
        </p:nvSpPr>
        <p:spPr>
          <a:xfrm>
            <a:off x="3912489" y="2214753"/>
            <a:ext cx="937260" cy="155448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12" b="1">
                <a:solidFill>
                  <a:srgbClr val="6B6B6B"/>
                </a:solidFill>
                <a:latin typeface="Meiryo"/>
                <a:ea typeface="Meiryo"/>
                <a:cs typeface="Meiryo"/>
              </a:rPr>
              <a:t>他の人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352800" y="3272790"/>
            <a:ext cx="2381250" cy="38100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こぶしを押さえてもらい
手のひら側へ曲げる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352800" y="3857625"/>
            <a:ext cx="2381250" cy="142875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B0560C"/>
                </a:solidFill>
                <a:latin typeface="Meiryo"/>
                <a:ea typeface="Meiryo"/>
                <a:cs typeface="Meiryo"/>
              </a:rPr>
              <a:t>腕を浮かせた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962650" y="1905000"/>
            <a:ext cx="2571750" cy="2143125"/>
          </a:xfrm>
          <a:prstGeom prst="roundRect">
            <a:avLst>
              <a:gd name="adj" fmla="val 2666"/>
            </a:avLst>
          </a:prstGeom>
          <a:solidFill>
            <a:srgbClr val="FFFFFF"/>
          </a:solidFill>
          <a:ln w="9525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057900" y="1971675"/>
            <a:ext cx="2381250" cy="238125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B0560C"/>
                </a:solidFill>
                <a:latin typeface="Meiryo"/>
                <a:ea typeface="Meiryo"/>
                <a:cs typeface="Meiryo"/>
              </a:rPr>
              <a:t>J　</a:t>
            </a:r>
            <a:r>
              <a:rPr sz="900" b="1">
                <a:solidFill>
                  <a:srgbClr val="6B6B6B"/>
                </a:solidFill>
                <a:latin typeface="Meiryo"/>
                <a:ea typeface="Meiryo"/>
                <a:cs typeface="Meiryo"/>
              </a:rPr>
              <a:t>手のひら上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05525" y="2996565"/>
            <a:ext cx="1371600" cy="228600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142101" y="3023997"/>
            <a:ext cx="914400" cy="18288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25565" y="2831973"/>
            <a:ext cx="1051560" cy="155448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6B6B6B"/>
                </a:solidFill>
                <a:latin typeface="Meiryo"/>
                <a:ea typeface="Meiryo"/>
                <a:cs typeface="Meiryo"/>
              </a:rPr>
              <a:t>↕ 浮かせた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196965" y="2585085"/>
            <a:ext cx="1289304" cy="228600"/>
          </a:xfrm>
          <a:prstGeom prst="roundRect">
            <a:avLst>
              <a:gd name="adj" fmla="val 25000"/>
            </a:avLst>
          </a:prstGeom>
          <a:solidFill>
            <a:srgbClr val="F1E3D6"/>
          </a:solidFill>
          <a:ln w="9525">
            <a:solidFill>
              <a:srgbClr val="8A7A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7458837" y="2562225"/>
            <a:ext cx="329184" cy="274320"/>
          </a:xfrm>
          <a:prstGeom prst="roundRect">
            <a:avLst>
              <a:gd name="adj" fmla="val 24305"/>
            </a:avLst>
          </a:prstGeom>
          <a:solidFill>
            <a:srgbClr val="F1E3D6"/>
          </a:solidFill>
          <a:ln w="9525">
            <a:solidFill>
              <a:srgbClr val="8A7A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4" name="Connector 33"/>
          <p:cNvCxnSpPr/>
          <p:nvPr/>
        </p:nvCxnSpPr>
        <p:spPr>
          <a:xfrm flipV="1">
            <a:off x="7906893" y="2310765"/>
            <a:ext cx="0" cy="365760"/>
          </a:xfrm>
          <a:prstGeom prst="line">
            <a:avLst/>
          </a:prstGeom>
          <a:ln w="33337">
            <a:solidFill>
              <a:srgbClr val="B0560C"/>
            </a:solidFill>
            <a:tailEnd type="triangle" w="med" len="med"/>
          </a:ln>
        </p:spPr>
      </p:cxnSp>
      <p:sp>
        <p:nvSpPr>
          <p:cNvPr id="35" name="Rounded Rectangle 34"/>
          <p:cNvSpPr/>
          <p:nvPr/>
        </p:nvSpPr>
        <p:spPr>
          <a:xfrm>
            <a:off x="7440549" y="2452497"/>
            <a:ext cx="365760" cy="100584"/>
          </a:xfrm>
          <a:prstGeom prst="roundRect">
            <a:avLst>
              <a:gd name="adj" fmla="val 28409"/>
            </a:avLst>
          </a:prstGeom>
          <a:solidFill>
            <a:srgbClr val="A6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6" name="Connector 35"/>
          <p:cNvCxnSpPr/>
          <p:nvPr/>
        </p:nvCxnSpPr>
        <p:spPr>
          <a:xfrm>
            <a:off x="7623429" y="2196465"/>
            <a:ext cx="0" cy="237744"/>
          </a:xfrm>
          <a:prstGeom prst="line">
            <a:avLst/>
          </a:prstGeom>
          <a:ln w="28575">
            <a:solidFill>
              <a:srgbClr val="A6A6A6"/>
            </a:solidFill>
            <a:tailEnd type="triangle" w="med" len="med"/>
          </a:ln>
        </p:spPr>
      </p:cxnSp>
      <p:sp>
        <p:nvSpPr>
          <p:cNvPr id="37" name="TextBox 36"/>
          <p:cNvSpPr txBox="1"/>
          <p:nvPr/>
        </p:nvSpPr>
        <p:spPr>
          <a:xfrm>
            <a:off x="6617589" y="2214753"/>
            <a:ext cx="937260" cy="155448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12" b="1">
                <a:solidFill>
                  <a:srgbClr val="6B6B6B"/>
                </a:solidFill>
                <a:latin typeface="Meiryo"/>
                <a:ea typeface="Meiryo"/>
                <a:cs typeface="Meiryo"/>
              </a:rPr>
              <a:t>他の人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57900" y="3272790"/>
            <a:ext cx="2381250" cy="38100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相手の指を握りながら
手のひら側へ曲げる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57900" y="3857625"/>
            <a:ext cx="2381250" cy="142875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B0560C"/>
                </a:solidFill>
                <a:latin typeface="Meiryo"/>
                <a:ea typeface="Meiryo"/>
                <a:cs typeface="Meiryo"/>
              </a:rPr>
              <a:t>腕を浮かせた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52450" y="381000"/>
            <a:ext cx="7143750" cy="47625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どう比べたか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3375" y="476250"/>
            <a:ext cx="581025" cy="19050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1500" y="1190625"/>
            <a:ext cx="7962900" cy="809625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・確認動作 ＝ 誰も押さえず、手首を反らしきる（疲れる前の最初に取る）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・確認動作 ÷ 課題の MVC が 100% 以下なら、全力を出し切れている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52450" y="2381250"/>
            <a:ext cx="2381250" cy="428625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課題の MVC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048000" y="2443162"/>
            <a:ext cx="3333750" cy="304800"/>
          </a:xfrm>
          <a:prstGeom prst="roundRect">
            <a:avLst>
              <a:gd name="adj" fmla="val 6250"/>
            </a:avLst>
          </a:prstGeom>
          <a:solidFill>
            <a:srgbClr val="1F6F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77000" y="2381250"/>
            <a:ext cx="2057400" cy="428625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F4E79"/>
                </a:solidFill>
                <a:latin typeface="Meiryo"/>
                <a:ea typeface="Meiryo"/>
                <a:cs typeface="Meiryo"/>
              </a:rPr>
              <a:t>＝ 100 %MVC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2450" y="2905125"/>
            <a:ext cx="2381250" cy="428625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確認動作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048000" y="2967038"/>
            <a:ext cx="1905000" cy="304800"/>
          </a:xfrm>
          <a:prstGeom prst="roundRect">
            <a:avLst>
              <a:gd name="adj" fmla="val 6250"/>
            </a:avLst>
          </a:prstGeom>
          <a:solidFill>
            <a:srgbClr val="9DB8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48250" y="2905125"/>
            <a:ext cx="3486150" cy="428625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F6FB4"/>
                </a:solidFill>
                <a:latin typeface="Meiryo"/>
                <a:ea typeface="Meiryo"/>
                <a:cs typeface="Meiryo"/>
              </a:rPr>
              <a:t>100% 以下　→　足りている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2450" y="3381375"/>
            <a:ext cx="2381250" cy="428625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確認動作（足りない例）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048000" y="3443288"/>
            <a:ext cx="4286250" cy="304800"/>
          </a:xfrm>
          <a:prstGeom prst="roundRect">
            <a:avLst>
              <a:gd name="adj" fmla="val 6250"/>
            </a:avLst>
          </a:prstGeom>
          <a:solidFill>
            <a:srgbClr val="F4F4F4"/>
          </a:solidFill>
          <a:ln w="9525">
            <a:solidFill>
              <a:srgbClr val="6B6B6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29500" y="3381375"/>
            <a:ext cx="1104900" cy="428625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B0560C"/>
                </a:solidFill>
                <a:latin typeface="Meiryo"/>
                <a:ea typeface="Meiryo"/>
                <a:cs typeface="Meiryo"/>
              </a:rPr>
              <a:t>超える
→ 足りない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381750" y="2333625"/>
            <a:ext cx="0" cy="1476375"/>
          </a:xfrm>
          <a:prstGeom prst="line">
            <a:avLst/>
          </a:prstGeom>
          <a:ln w="14287">
            <a:solidFill>
              <a:srgbClr val="1A1A1A"/>
            </a:solidFill>
            <a:prstDash val="dash"/>
          </a:ln>
        </p:spPr>
      </p:cxn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52450" y="381000"/>
            <a:ext cx="7143750" cy="47625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伸展：B で足りた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3375" y="476250"/>
            <a:ext cx="581025" cy="19050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1500" y="1190625"/>
            <a:ext cx="7962900" cy="809625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575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・腕を机に乗せ、上から押さえてもらう（B）で 56 %MVC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575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・確認動作は疲れる前に取った　→　疲れがあっても結論は同じ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52450" y="2143125"/>
            <a:ext cx="7981950" cy="19050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6B6B6B"/>
                </a:solidFill>
                <a:latin typeface="Meiryo"/>
                <a:ea typeface="Meiryo"/>
                <a:cs typeface="Meiryo"/>
              </a:rPr>
              <a:t>伸筋側：確認動作は MVC の何 %か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2450" y="2476500"/>
            <a:ext cx="2667000" cy="4381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09-29　A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自分の反対の手で押さえる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33750" y="2552700"/>
            <a:ext cx="4333875" cy="285750"/>
          </a:xfrm>
          <a:prstGeom prst="roundRect">
            <a:avLst>
              <a:gd name="adj" fmla="val 6666"/>
            </a:avLst>
          </a:prstGeom>
          <a:solidFill>
            <a:srgbClr val="9DB8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43825" y="2476500"/>
            <a:ext cx="1428750" cy="4381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350 %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2450" y="2914650"/>
            <a:ext cx="2667000" cy="4381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10-06　A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同じやり方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33750" y="2990850"/>
            <a:ext cx="1188720" cy="285750"/>
          </a:xfrm>
          <a:prstGeom prst="roundRect">
            <a:avLst>
              <a:gd name="adj" fmla="val 6666"/>
            </a:avLst>
          </a:prstGeom>
          <a:solidFill>
            <a:srgbClr val="9DB8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98670" y="2914650"/>
            <a:ext cx="1428750" cy="4381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96 %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2450" y="3352800"/>
            <a:ext cx="2667000" cy="4381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10-06　B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他の人に上から押さえてもらう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33750" y="3429000"/>
            <a:ext cx="693420" cy="285750"/>
          </a:xfrm>
          <a:prstGeom prst="roundRect">
            <a:avLst>
              <a:gd name="adj" fmla="val 6666"/>
            </a:avLst>
          </a:prstGeom>
          <a:solidFill>
            <a:srgbClr val="1F6F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03370" y="3352800"/>
            <a:ext cx="1428750" cy="4381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56 %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572000" y="2381250"/>
            <a:ext cx="0" cy="1428750"/>
          </a:xfrm>
          <a:prstGeom prst="line">
            <a:avLst/>
          </a:prstGeom>
          <a:ln w="14287">
            <a:solidFill>
              <a:srgbClr val="1A1A1A"/>
            </a:solidFill>
            <a:prstDash val="dash"/>
          </a:ln>
        </p:spPr>
      </p:cxnSp>
      <p:sp>
        <p:nvSpPr>
          <p:cNvPr id="16" name="TextBox 15"/>
          <p:cNvSpPr txBox="1"/>
          <p:nvPr/>
        </p:nvSpPr>
        <p:spPr>
          <a:xfrm>
            <a:off x="4095750" y="2171700"/>
            <a:ext cx="952500" cy="19050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100 %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38750" y="2143125"/>
            <a:ext cx="3295650" cy="19050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A が日で違う理由は未確定（センサの位置？押さえ方？）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66738" y="3914775"/>
            <a:ext cx="7967662" cy="0"/>
          </a:xfrm>
          <a:prstGeom prst="line">
            <a:avLst/>
          </a:prstGeom>
          <a:ln w="9525">
            <a:solidFill>
              <a:srgbClr val="C8C8C8"/>
            </a:solidFill>
          </a:ln>
        </p:spPr>
      </p:cxnSp>
      <p:sp>
        <p:nvSpPr>
          <p:cNvPr id="19" name="TextBox 18"/>
          <p:cNvSpPr txBox="1"/>
          <p:nvPr/>
        </p:nvSpPr>
        <p:spPr>
          <a:xfrm>
            <a:off x="566738" y="4095750"/>
            <a:ext cx="7967662" cy="333375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25" b="1">
                <a:solidFill>
                  <a:srgbClr val="1F6FB4"/>
                </a:solidFill>
                <a:latin typeface="Meiryo"/>
                <a:ea typeface="Meiryo"/>
                <a:cs typeface="Meiryo"/>
              </a:rPr>
              <a:t>伸展の MVC は B に決める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52450" y="381000"/>
            <a:ext cx="7143750" cy="47625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足りなかったこと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3375" y="476250"/>
            <a:ext cx="581025" cy="19050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1500" y="1190625"/>
            <a:ext cx="7962900" cy="123825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50"/>
              </a:spcAft>
            </a:pPr>
            <a:r>
              <a:rPr sz="1575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・屈曲は、確認動作が 416 %MVC で足りない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50"/>
              </a:spcAft>
            </a:pPr>
            <a:r>
              <a:rPr sz="1575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・続けて取ったので、ほかの課題の差は疲れと分けられない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50"/>
              </a:spcAft>
            </a:pPr>
            <a:r>
              <a:rPr sz="1575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・D 以降（屈曲の I・J も）は腕を浮かせた　→　うまくいかなそう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52450" y="2667000"/>
            <a:ext cx="7981950" cy="19050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6B6B6B"/>
                </a:solidFill>
                <a:latin typeface="Meiryo"/>
                <a:ea typeface="Meiryo"/>
                <a:cs typeface="Meiryo"/>
              </a:rPr>
              <a:t>屈筋側：確認動作は MVC の何 %か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2450" y="3143250"/>
            <a:ext cx="2667000" cy="4762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J　相手の手を握る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屈曲で一番大きい課題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33750" y="3238500"/>
            <a:ext cx="4754880" cy="285750"/>
          </a:xfrm>
          <a:prstGeom prst="roundRect">
            <a:avLst>
              <a:gd name="adj" fmla="val 6666"/>
            </a:avLst>
          </a:prstGeom>
          <a:solidFill>
            <a:srgbClr val="E07B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64830" y="3143250"/>
            <a:ext cx="1428750" cy="4762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416 %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476750" y="3048000"/>
            <a:ext cx="0" cy="590550"/>
          </a:xfrm>
          <a:prstGeom prst="line">
            <a:avLst/>
          </a:prstGeom>
          <a:ln w="14287">
            <a:solidFill>
              <a:srgbClr val="1A1A1A"/>
            </a:solidFill>
            <a:prstDash val="dash"/>
          </a:ln>
        </p:spPr>
      </p:cxnSp>
      <p:sp>
        <p:nvSpPr>
          <p:cNvPr id="10" name="TextBox 9"/>
          <p:cNvSpPr txBox="1"/>
          <p:nvPr/>
        </p:nvSpPr>
        <p:spPr>
          <a:xfrm>
            <a:off x="4000500" y="2838450"/>
            <a:ext cx="952500" cy="19050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100 %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66738" y="3914775"/>
            <a:ext cx="7967662" cy="0"/>
          </a:xfrm>
          <a:prstGeom prst="line">
            <a:avLst/>
          </a:prstGeom>
          <a:ln w="9525">
            <a:solidFill>
              <a:srgbClr val="C8C8C8"/>
            </a:solidFill>
          </a:ln>
        </p:spPr>
      </p:cxnSp>
      <p:sp>
        <p:nvSpPr>
          <p:cNvPr id="12" name="TextBox 11"/>
          <p:cNvSpPr txBox="1"/>
          <p:nvPr/>
        </p:nvSpPr>
        <p:spPr>
          <a:xfrm>
            <a:off x="566738" y="4095750"/>
            <a:ext cx="7967662" cy="333375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25" b="1">
                <a:solidFill>
                  <a:srgbClr val="B0560C"/>
                </a:solidFill>
                <a:latin typeface="Meiryo"/>
                <a:ea typeface="Meiryo"/>
                <a:cs typeface="Meiryo"/>
              </a:rPr>
              <a:t>腕を浮かせず、休みをとって取り直す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52450" y="381000"/>
            <a:ext cx="7143750" cy="47625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次やること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3375" y="476250"/>
            <a:ext cx="581025" cy="19050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1500" y="1190625"/>
            <a:ext cx="7962900" cy="38100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750"/>
              </a:spcAft>
            </a:pPr>
            <a:r>
              <a:rPr sz="1725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・腕は机に乗せる。疲れる前と後に確認動作を取る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52450" y="1762125"/>
            <a:ext cx="3905250" cy="809625"/>
          </a:xfrm>
          <a:prstGeom prst="roundRect">
            <a:avLst>
              <a:gd name="adj" fmla="val 7058"/>
            </a:avLst>
          </a:prstGeom>
          <a:solidFill>
            <a:srgbClr val="E8F0F8"/>
          </a:solidFill>
          <a:ln w="14287">
            <a:solidFill>
              <a:srgbClr val="1F6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4300" rIns="152400" bIns="114300" lIns="152400"/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1F6FB4"/>
                </a:solidFill>
                <a:latin typeface="Meiryo"/>
                <a:ea typeface="Meiryo"/>
                <a:cs typeface="Meiryo"/>
              </a:rPr>
              <a:t>伸展（決定）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手のひら下・握って、上から押さえてもらう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629150" y="1762125"/>
            <a:ext cx="3905250" cy="809625"/>
          </a:xfrm>
          <a:prstGeom prst="roundRect">
            <a:avLst>
              <a:gd name="adj" fmla="val 7058"/>
            </a:avLst>
          </a:prstGeom>
          <a:solidFill>
            <a:srgbClr val="FBEBDD"/>
          </a:solidFill>
          <a:ln w="14287">
            <a:solidFill>
              <a:srgbClr val="E07B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4300" rIns="152400" bIns="114300" lIns="152400"/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B0560C"/>
                </a:solidFill>
                <a:latin typeface="Meiryo"/>
                <a:ea typeface="Meiryo"/>
                <a:cs typeface="Meiryo"/>
              </a:rPr>
              <a:t>屈曲（次回確かめる）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机に向かって押し下げる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2450" y="2809875"/>
            <a:ext cx="7981950" cy="19050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6B6B6B"/>
                </a:solidFill>
                <a:latin typeface="Meiryo"/>
                <a:ea typeface="Meiryo"/>
                <a:cs typeface="Meiryo"/>
              </a:rPr>
              <a:t>次回の記録の順番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52450" y="3095625"/>
            <a:ext cx="1762125" cy="762000"/>
          </a:xfrm>
          <a:prstGeom prst="roundRect">
            <a:avLst>
              <a:gd name="adj" fmla="val 7500"/>
            </a:avLst>
          </a:prstGeom>
          <a:solidFill>
            <a:srgbClr val="F4F4F4"/>
          </a:solidFill>
          <a:ln w="9525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4300" rIns="114300" bIns="114300" lIns="114300"/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975" b="1">
                <a:solidFill>
                  <a:srgbClr val="6B6B6B"/>
                </a:solidFill>
                <a:latin typeface="Meiryo"/>
                <a:ea typeface="Meiryo"/>
                <a:cs typeface="Meiryo"/>
              </a:rPr>
              <a:t>1 最初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確認動作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333625" y="3476625"/>
            <a:ext cx="271463" cy="0"/>
          </a:xfrm>
          <a:prstGeom prst="line">
            <a:avLst/>
          </a:prstGeom>
          <a:ln w="19050">
            <a:solidFill>
              <a:srgbClr val="6B6B6B"/>
            </a:solidFill>
            <a:tailEnd type="triangle" w="med" len="med"/>
          </a:ln>
        </p:spPr>
      </p:cxnSp>
      <p:sp>
        <p:nvSpPr>
          <p:cNvPr id="10" name="Rounded Rectangle 9"/>
          <p:cNvSpPr/>
          <p:nvPr/>
        </p:nvSpPr>
        <p:spPr>
          <a:xfrm>
            <a:off x="2624138" y="3095625"/>
            <a:ext cx="1762125" cy="762000"/>
          </a:xfrm>
          <a:prstGeom prst="roundRect">
            <a:avLst>
              <a:gd name="adj" fmla="val 7500"/>
            </a:avLst>
          </a:prstGeom>
          <a:solidFill>
            <a:srgbClr val="E8F0F8"/>
          </a:solidFill>
          <a:ln w="9525">
            <a:solidFill>
              <a:srgbClr val="1F6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4300" rIns="114300" bIns="114300" lIns="114300"/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975" b="1">
                <a:solidFill>
                  <a:srgbClr val="1F6FB4"/>
                </a:solidFill>
                <a:latin typeface="Meiryo"/>
                <a:ea typeface="Meiryo"/>
                <a:cs typeface="Meiryo"/>
              </a:rPr>
              <a:t>2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B・H
2 回ずつ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405312" y="3476625"/>
            <a:ext cx="271463" cy="0"/>
          </a:xfrm>
          <a:prstGeom prst="line">
            <a:avLst/>
          </a:prstGeom>
          <a:ln w="19050">
            <a:solidFill>
              <a:srgbClr val="6B6B6B"/>
            </a:solidFill>
            <a:tailEnd type="triangle" w="med" len="med"/>
          </a:ln>
        </p:spPr>
      </p:cxnSp>
      <p:sp>
        <p:nvSpPr>
          <p:cNvPr id="12" name="Rounded Rectangle 11"/>
          <p:cNvSpPr/>
          <p:nvPr/>
        </p:nvSpPr>
        <p:spPr>
          <a:xfrm>
            <a:off x="4695825" y="3095625"/>
            <a:ext cx="1762125" cy="762000"/>
          </a:xfrm>
          <a:prstGeom prst="roundRect">
            <a:avLst>
              <a:gd name="adj" fmla="val 7500"/>
            </a:avLst>
          </a:prstGeom>
          <a:solidFill>
            <a:srgbClr val="E8F0F8"/>
          </a:solidFill>
          <a:ln w="9525">
            <a:solidFill>
              <a:srgbClr val="1F6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4300" rIns="114300" bIns="114300" lIns="114300"/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975" b="1">
                <a:solidFill>
                  <a:srgbClr val="1F6FB4"/>
                </a:solidFill>
                <a:latin typeface="Meiryo"/>
                <a:ea typeface="Meiryo"/>
                <a:cs typeface="Meiryo"/>
              </a:rPr>
              <a:t>3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屈曲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477000" y="3476625"/>
            <a:ext cx="271462" cy="0"/>
          </a:xfrm>
          <a:prstGeom prst="line">
            <a:avLst/>
          </a:prstGeom>
          <a:ln w="19050">
            <a:solidFill>
              <a:srgbClr val="6B6B6B"/>
            </a:solidFill>
            <a:tailEnd type="triangle" w="med" len="med"/>
          </a:ln>
        </p:spPr>
      </p:cxnSp>
      <p:sp>
        <p:nvSpPr>
          <p:cNvPr id="14" name="Rounded Rectangle 13"/>
          <p:cNvSpPr/>
          <p:nvPr/>
        </p:nvSpPr>
        <p:spPr>
          <a:xfrm>
            <a:off x="6767512" y="3095625"/>
            <a:ext cx="1762125" cy="762000"/>
          </a:xfrm>
          <a:prstGeom prst="roundRect">
            <a:avLst>
              <a:gd name="adj" fmla="val 7500"/>
            </a:avLst>
          </a:prstGeom>
          <a:solidFill>
            <a:srgbClr val="F4F4F4"/>
          </a:solidFill>
          <a:ln w="9525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4300" rIns="114300" bIns="114300" lIns="114300"/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975" b="1">
                <a:solidFill>
                  <a:srgbClr val="6B6B6B"/>
                </a:solidFill>
                <a:latin typeface="Meiryo"/>
                <a:ea typeface="Meiryo"/>
                <a:cs typeface="Meiryo"/>
              </a:rPr>
              <a:t>4 最後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確認動作
＋ 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2450" y="4048125"/>
            <a:ext cx="7981950" cy="238125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記録の前に、センサの番号と位置を sensors.json に書く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52450" y="381000"/>
            <a:ext cx="7143750" cy="47625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まとめ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3375" y="476250"/>
            <a:ext cx="581025" cy="19050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11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52450" y="1190625"/>
            <a:ext cx="3524250" cy="1190625"/>
          </a:xfrm>
          <a:prstGeom prst="roundRect">
            <a:avLst>
              <a:gd name="adj" fmla="val 64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71450" rIns="190500" bIns="171450" lIns="190500"/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50"/>
              </a:spcAft>
            </a:pPr>
            <a:r>
              <a:rPr sz="1125" b="1">
                <a:solidFill>
                  <a:srgbClr val="BFD6EE"/>
                </a:solidFill>
                <a:latin typeface="Meiryo"/>
                <a:ea typeface="Meiryo"/>
                <a:cs typeface="Meiryo"/>
              </a:rPr>
              <a:t>大きな目標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EMG で、違いが出ている
データを確認する</a:t>
            </a:r>
          </a:p>
        </p:txBody>
      </p:sp>
      <p:cxnSp>
        <p:nvCxnSpPr>
          <p:cNvPr id="5" name="Connector 4"/>
          <p:cNvCxnSpPr/>
          <p:nvPr/>
        </p:nvCxnSpPr>
        <p:spPr>
          <a:xfrm flipH="1">
            <a:off x="4171950" y="1809750"/>
            <a:ext cx="647700" cy="0"/>
          </a:xfrm>
          <a:prstGeom prst="line">
            <a:avLst/>
          </a:prstGeom>
          <a:ln w="28575">
            <a:solidFill>
              <a:srgbClr val="1F6FB4"/>
            </a:solidFill>
            <a:tailEnd type="triangle" w="med" len="med"/>
          </a:ln>
        </p:spPr>
      </p:cxnSp>
      <p:sp>
        <p:nvSpPr>
          <p:cNvPr id="6" name="Rounded Rectangle 5"/>
          <p:cNvSpPr/>
          <p:nvPr/>
        </p:nvSpPr>
        <p:spPr>
          <a:xfrm>
            <a:off x="4914900" y="1190625"/>
            <a:ext cx="3619500" cy="1190625"/>
          </a:xfrm>
          <a:prstGeom prst="roundRect">
            <a:avLst>
              <a:gd name="adj" fmla="val 6400"/>
            </a:avLst>
          </a:prstGeom>
          <a:solidFill>
            <a:srgbClr val="E8F0F8"/>
          </a:solidFill>
          <a:ln w="14287">
            <a:solidFill>
              <a:srgbClr val="1F6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71450" rIns="190500" bIns="171450" lIns="190500"/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50"/>
              </a:spcAft>
            </a:pPr>
            <a:r>
              <a:rPr sz="1125" b="1">
                <a:solidFill>
                  <a:srgbClr val="1F6FB4"/>
                </a:solidFill>
                <a:latin typeface="Meiryo"/>
                <a:ea typeface="Meiryo"/>
                <a:cs typeface="Meiryo"/>
              </a:rPr>
              <a:t>小さな目標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伸展の MVC を全力で
取れる方法を決める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52450" y="2667000"/>
            <a:ext cx="2095500" cy="266700"/>
          </a:xfrm>
          <a:prstGeom prst="roundRect">
            <a:avLst>
              <a:gd name="adj" fmla="val 50000"/>
            </a:avLst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rIns="0" bIns="0" lIns="0"/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>
                <a:solidFill>
                  <a:srgbClr val="6B6B6B"/>
                </a:solidFill>
                <a:latin typeface="Meiryo"/>
                <a:ea typeface="Meiryo"/>
                <a:cs typeface="Meiryo"/>
              </a:rPr>
              <a:t>前腕 2 か所で新しく取った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2450" y="3048000"/>
            <a:ext cx="3524250" cy="714375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375"/>
              </a:spcAft>
            </a:pPr>
            <a:r>
              <a:rPr sz="1350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・6 か所は、MVC を確かめてから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914900" y="2667000"/>
            <a:ext cx="2095500" cy="266700"/>
          </a:xfrm>
          <a:prstGeom prst="roundRect">
            <a:avLst>
              <a:gd name="adj" fmla="val 50000"/>
            </a:avLst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rIns="0" bIns="0" lIns="0"/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>
                <a:solidFill>
                  <a:srgbClr val="1F4E79"/>
                </a:solidFill>
                <a:latin typeface="Meiryo"/>
                <a:ea typeface="Meiryo"/>
                <a:cs typeface="Meiryo"/>
              </a:rPr>
              <a:t>伸展は B に決定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14900" y="3048000"/>
            <a:ext cx="3619500" cy="714375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375"/>
              </a:spcAft>
            </a:pPr>
            <a:r>
              <a:rPr sz="1350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・屈曲は次回確かめる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375"/>
              </a:spcAft>
            </a:pPr>
            <a:r>
              <a:rPr sz="1350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・一人で取れるかも残った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66738" y="3914775"/>
            <a:ext cx="7967662" cy="0"/>
          </a:xfrm>
          <a:prstGeom prst="line">
            <a:avLst/>
          </a:prstGeom>
          <a:ln w="9525">
            <a:solidFill>
              <a:srgbClr val="C8C8C8"/>
            </a:solidFill>
          </a:ln>
        </p:spPr>
      </p:cxnSp>
      <p:sp>
        <p:nvSpPr>
          <p:cNvPr id="12" name="TextBox 11"/>
          <p:cNvSpPr txBox="1"/>
          <p:nvPr/>
        </p:nvSpPr>
        <p:spPr>
          <a:xfrm>
            <a:off x="566738" y="4095750"/>
            <a:ext cx="7967662" cy="333375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25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来週：MVC を確かめて、6 か所で本番データを取る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52450" y="381000"/>
            <a:ext cx="7143750" cy="47625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予備：全課題の結果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3375" y="476250"/>
            <a:ext cx="581025" cy="19050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52450" y="952500"/>
            <a:ext cx="7981950" cy="19050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>
                <a:solidFill>
                  <a:srgbClr val="6B6B6B"/>
                </a:solidFill>
                <a:latin typeface="Meiryo"/>
                <a:ea typeface="Meiryo"/>
                <a:cs typeface="Meiryo"/>
              </a:rPr>
              <a:t>確認動作は、その課題の MVC の何 %か（小さい順）。H は CSV なし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52450" y="1247775"/>
            <a:ext cx="2857500" cy="19050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F6FB4"/>
                </a:solidFill>
                <a:latin typeface="Meiryo"/>
                <a:ea typeface="Meiryo"/>
                <a:cs typeface="Meiryo"/>
              </a:rPr>
              <a:t>伸筋側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2450" y="1476375"/>
            <a:ext cx="285750" cy="2476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F6FB4"/>
                </a:solidFill>
                <a:latin typeface="Meiryo"/>
                <a:ea typeface="Meiryo"/>
                <a:cs typeface="Meiryo"/>
              </a:rPr>
              <a:t>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9625" y="1476375"/>
            <a:ext cx="2095500" cy="2476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25" b="0">
                <a:solidFill>
                  <a:srgbClr val="1A1A1A"/>
                </a:solidFill>
                <a:latin typeface="Meiryo"/>
                <a:ea typeface="Meiryo"/>
                <a:cs typeface="Meiryo"/>
              </a:rPr>
              <a:t>手のひら下・上から押さえてもらう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19500" y="1528762"/>
            <a:ext cx="960120" cy="142875"/>
          </a:xfrm>
          <a:prstGeom prst="roundRect">
            <a:avLst>
              <a:gd name="adj" fmla="val 10000"/>
            </a:avLst>
          </a:prstGeom>
          <a:solidFill>
            <a:srgbClr val="1F6F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10200" y="1476375"/>
            <a:ext cx="762000" cy="2476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56 %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2450" y="1724025"/>
            <a:ext cx="285750" cy="2476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F6FB4"/>
                </a:solidFill>
                <a:latin typeface="Meiryo"/>
                <a:ea typeface="Meiryo"/>
                <a:cs typeface="Meiryo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625" y="1724025"/>
            <a:ext cx="2095500" cy="2476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25" b="0">
                <a:solidFill>
                  <a:srgbClr val="1A1A1A"/>
                </a:solidFill>
                <a:latin typeface="Meiryo"/>
                <a:ea typeface="Meiryo"/>
                <a:cs typeface="Meiryo"/>
              </a:rPr>
              <a:t>手のひら下・自分の手で押さえる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19500" y="1776412"/>
            <a:ext cx="1645920" cy="142875"/>
          </a:xfrm>
          <a:prstGeom prst="roundRect">
            <a:avLst>
              <a:gd name="adj" fmla="val 10000"/>
            </a:avLst>
          </a:prstGeom>
          <a:solidFill>
            <a:srgbClr val="1F6F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10200" y="1724025"/>
            <a:ext cx="762000" cy="2476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96 %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2450" y="1971675"/>
            <a:ext cx="285750" cy="2476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F6FB4"/>
                </a:solidFill>
                <a:latin typeface="Meiryo"/>
                <a:ea typeface="Meiryo"/>
                <a:cs typeface="Meiryo"/>
              </a:rPr>
              <a:t>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9625" y="1971675"/>
            <a:ext cx="2095500" cy="2476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25" b="0">
                <a:solidFill>
                  <a:srgbClr val="1A1A1A"/>
                </a:solidFill>
                <a:latin typeface="Meiryo"/>
                <a:ea typeface="Meiryo"/>
                <a:cs typeface="Meiryo"/>
              </a:rPr>
              <a:t>手のひら下・反らす＋親指側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57500" y="1971675"/>
            <a:ext cx="714375" cy="2476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675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腕を浮かせた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19500" y="2024062"/>
            <a:ext cx="1851660" cy="142875"/>
          </a:xfrm>
          <a:prstGeom prst="roundRect">
            <a:avLst>
              <a:gd name="adj" fmla="val 10000"/>
            </a:avLst>
          </a:prstGeom>
          <a:solidFill>
            <a:srgbClr val="9DB8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28310" y="1971675"/>
            <a:ext cx="762000" cy="2476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108 %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2450" y="2219325"/>
            <a:ext cx="285750" cy="2476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F6FB4"/>
                </a:solidFill>
                <a:latin typeface="Meiryo"/>
                <a:ea typeface="Meiryo"/>
                <a:cs typeface="Meiryo"/>
              </a:rPr>
              <a:t>J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9625" y="2219325"/>
            <a:ext cx="2095500" cy="2476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25" b="0">
                <a:solidFill>
                  <a:srgbClr val="1A1A1A"/>
                </a:solidFill>
                <a:latin typeface="Meiryo"/>
                <a:ea typeface="Meiryo"/>
                <a:cs typeface="Meiryo"/>
              </a:rPr>
              <a:t>手のひら上・相手の指を握って曲げる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57500" y="2219325"/>
            <a:ext cx="714375" cy="2476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675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腕を浮かせた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19500" y="2271712"/>
            <a:ext cx="1988820" cy="142875"/>
          </a:xfrm>
          <a:prstGeom prst="roundRect">
            <a:avLst>
              <a:gd name="adj" fmla="val 10000"/>
            </a:avLst>
          </a:prstGeom>
          <a:solidFill>
            <a:srgbClr val="9DB8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5470" y="2219325"/>
            <a:ext cx="762000" cy="2476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116 %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2450" y="2466975"/>
            <a:ext cx="285750" cy="2476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F6FB4"/>
                </a:solidFill>
                <a:latin typeface="Meiryo"/>
                <a:ea typeface="Meiryo"/>
                <a:cs typeface="Meiryo"/>
              </a:rPr>
              <a:t>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9625" y="2466975"/>
            <a:ext cx="2095500" cy="2476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25" b="0">
                <a:solidFill>
                  <a:srgbClr val="1A1A1A"/>
                </a:solidFill>
                <a:latin typeface="Meiryo"/>
                <a:ea typeface="Meiryo"/>
                <a:cs typeface="Meiryo"/>
              </a:rPr>
              <a:t>親指が上・開きながら反らす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857500" y="2466975"/>
            <a:ext cx="714375" cy="2476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675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腕を浮かせた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619500" y="2519362"/>
            <a:ext cx="2263140" cy="142875"/>
          </a:xfrm>
          <a:prstGeom prst="roundRect">
            <a:avLst>
              <a:gd name="adj" fmla="val 10000"/>
            </a:avLst>
          </a:prstGeom>
          <a:solidFill>
            <a:srgbClr val="9DB8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39790" y="2466975"/>
            <a:ext cx="762000" cy="2476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132 %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52450" y="2714625"/>
            <a:ext cx="285750" cy="2476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F6FB4"/>
                </a:solidFill>
                <a:latin typeface="Meiryo"/>
                <a:ea typeface="Meiryo"/>
                <a:cs typeface="Meiryo"/>
              </a:rPr>
              <a:t>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9625" y="2714625"/>
            <a:ext cx="2095500" cy="2476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25" b="0">
                <a:solidFill>
                  <a:srgbClr val="1A1A1A"/>
                </a:solidFill>
                <a:latin typeface="Meiryo"/>
                <a:ea typeface="Meiryo"/>
                <a:cs typeface="Meiryo"/>
              </a:rPr>
              <a:t>手のひら下・指を伸ばして反らす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57500" y="2714625"/>
            <a:ext cx="714375" cy="2476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675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腕を浮かせた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619500" y="2767012"/>
            <a:ext cx="2743200" cy="142875"/>
          </a:xfrm>
          <a:prstGeom prst="roundRect">
            <a:avLst>
              <a:gd name="adj" fmla="val 10000"/>
            </a:avLst>
          </a:prstGeom>
          <a:solidFill>
            <a:srgbClr val="9DB8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19850" y="2714625"/>
            <a:ext cx="762000" cy="2476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160 %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52450" y="2962275"/>
            <a:ext cx="285750" cy="2476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F6FB4"/>
                </a:solidFill>
                <a:latin typeface="Meiryo"/>
                <a:ea typeface="Meiryo"/>
                <a:cs typeface="Meiryo"/>
              </a:rPr>
              <a:t>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9625" y="2962275"/>
            <a:ext cx="2095500" cy="2476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25" b="0">
                <a:solidFill>
                  <a:srgbClr val="1A1A1A"/>
                </a:solidFill>
                <a:latin typeface="Meiryo"/>
                <a:ea typeface="Meiryo"/>
                <a:cs typeface="Meiryo"/>
              </a:rPr>
              <a:t>親指が上・握って手の甲側へ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619500" y="3014662"/>
            <a:ext cx="2897505" cy="142875"/>
          </a:xfrm>
          <a:prstGeom prst="roundRect">
            <a:avLst>
              <a:gd name="adj" fmla="val 10000"/>
            </a:avLst>
          </a:prstGeom>
          <a:solidFill>
            <a:srgbClr val="9DB8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74155" y="2962275"/>
            <a:ext cx="762000" cy="2476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169 %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52450" y="3209925"/>
            <a:ext cx="285750" cy="2476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F6FB4"/>
                </a:solidFill>
                <a:latin typeface="Meiryo"/>
                <a:ea typeface="Meiryo"/>
                <a:cs typeface="Meiryo"/>
              </a:rPr>
              <a:t>I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09625" y="3209925"/>
            <a:ext cx="2095500" cy="2476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25" b="0">
                <a:solidFill>
                  <a:srgbClr val="1A1A1A"/>
                </a:solidFill>
                <a:latin typeface="Meiryo"/>
                <a:ea typeface="Meiryo"/>
                <a:cs typeface="Meiryo"/>
              </a:rPr>
              <a:t>手のひら上・握って曲げる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857500" y="3209925"/>
            <a:ext cx="714375" cy="2476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675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腕を浮かせた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619500" y="3262312"/>
            <a:ext cx="2914650" cy="142875"/>
          </a:xfrm>
          <a:prstGeom prst="roundRect">
            <a:avLst>
              <a:gd name="adj" fmla="val 10000"/>
            </a:avLst>
          </a:prstGeom>
          <a:solidFill>
            <a:srgbClr val="9DB8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591300" y="3209925"/>
            <a:ext cx="762000" cy="2476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170 %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52450" y="3457575"/>
            <a:ext cx="285750" cy="2476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F6FB4"/>
                </a:solidFill>
                <a:latin typeface="Meiryo"/>
                <a:ea typeface="Meiryo"/>
                <a:cs typeface="Meiryo"/>
              </a:rPr>
              <a:t>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09625" y="3457575"/>
            <a:ext cx="2095500" cy="2476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25" b="0">
                <a:solidFill>
                  <a:srgbClr val="1A1A1A"/>
                </a:solidFill>
                <a:latin typeface="Meiryo"/>
                <a:ea typeface="Meiryo"/>
                <a:cs typeface="Meiryo"/>
              </a:rPr>
              <a:t>親指が上・手の甲側＋小指側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857500" y="3457575"/>
            <a:ext cx="714375" cy="2476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675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腕を浮かせた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619500" y="3509962"/>
            <a:ext cx="3394710" cy="142875"/>
          </a:xfrm>
          <a:prstGeom prst="roundRect">
            <a:avLst>
              <a:gd name="adj" fmla="val 10000"/>
            </a:avLst>
          </a:prstGeom>
          <a:solidFill>
            <a:srgbClr val="9DB8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071360" y="3457575"/>
            <a:ext cx="762000" cy="2476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198 %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5334000" y="1447800"/>
            <a:ext cx="0" cy="2286000"/>
          </a:xfrm>
          <a:prstGeom prst="line">
            <a:avLst/>
          </a:prstGeom>
          <a:ln w="11906">
            <a:solidFill>
              <a:srgbClr val="1A1A1A"/>
            </a:solidFill>
            <a:prstDash val="dash"/>
          </a:ln>
        </p:spPr>
      </p:cxnSp>
      <p:sp>
        <p:nvSpPr>
          <p:cNvPr id="49" name="TextBox 48"/>
          <p:cNvSpPr txBox="1"/>
          <p:nvPr/>
        </p:nvSpPr>
        <p:spPr>
          <a:xfrm>
            <a:off x="4953000" y="1285875"/>
            <a:ext cx="762000" cy="15240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100 %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52450" y="3762375"/>
            <a:ext cx="2857500" cy="19050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B0560C"/>
                </a:solidFill>
                <a:latin typeface="Meiryo"/>
                <a:ea typeface="Meiryo"/>
                <a:cs typeface="Meiryo"/>
              </a:rPr>
              <a:t>屈筋側</a:t>
            </a:r>
            <a:r>
              <a:rPr sz="75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　棒の縮尺は伸筋側の約半分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52450" y="3990975"/>
            <a:ext cx="285750" cy="2476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B0560C"/>
                </a:solidFill>
                <a:latin typeface="Meiryo"/>
                <a:ea typeface="Meiryo"/>
                <a:cs typeface="Meiryo"/>
              </a:rPr>
              <a:t>J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09625" y="3990975"/>
            <a:ext cx="2095500" cy="2476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25" b="0">
                <a:solidFill>
                  <a:srgbClr val="1A1A1A"/>
                </a:solidFill>
                <a:latin typeface="Meiryo"/>
                <a:ea typeface="Meiryo"/>
                <a:cs typeface="Meiryo"/>
              </a:rPr>
              <a:t>手のひら上・相手の指を握って曲げる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857500" y="3990975"/>
            <a:ext cx="714375" cy="2476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675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腕を浮かせた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3619500" y="4043362"/>
            <a:ext cx="2971800" cy="142875"/>
          </a:xfrm>
          <a:prstGeom prst="roundRect">
            <a:avLst>
              <a:gd name="adj" fmla="val 10000"/>
            </a:avLst>
          </a:prstGeom>
          <a:solidFill>
            <a:srgbClr val="F2C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648450" y="3990975"/>
            <a:ext cx="762000" cy="2476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416 %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52450" y="4238625"/>
            <a:ext cx="285750" cy="2476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B0560C"/>
                </a:solidFill>
                <a:latin typeface="Meiryo"/>
                <a:ea typeface="Meiryo"/>
                <a:cs typeface="Meiryo"/>
              </a:rPr>
              <a:t>D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09625" y="4238625"/>
            <a:ext cx="2095500" cy="2476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25" b="0">
                <a:solidFill>
                  <a:srgbClr val="1A1A1A"/>
                </a:solidFill>
                <a:latin typeface="Meiryo"/>
                <a:ea typeface="Meiryo"/>
                <a:cs typeface="Meiryo"/>
              </a:rPr>
              <a:t>親指が上・手の甲側＋小指側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857500" y="4238625"/>
            <a:ext cx="714375" cy="2476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675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腕を浮かせた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3619500" y="4291012"/>
            <a:ext cx="4043362" cy="142875"/>
          </a:xfrm>
          <a:prstGeom prst="roundRect">
            <a:avLst>
              <a:gd name="adj" fmla="val 10000"/>
            </a:avLst>
          </a:prstGeom>
          <a:solidFill>
            <a:srgbClr val="F2C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720012" y="4238625"/>
            <a:ext cx="762000" cy="2476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566 %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52450" y="4486275"/>
            <a:ext cx="285750" cy="2476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B0560C"/>
                </a:solidFill>
                <a:latin typeface="Meiryo"/>
                <a:ea typeface="Meiryo"/>
                <a:cs typeface="Meiryo"/>
              </a:rPr>
              <a:t>I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09625" y="4486275"/>
            <a:ext cx="2095500" cy="2476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25" b="0">
                <a:solidFill>
                  <a:srgbClr val="1A1A1A"/>
                </a:solidFill>
                <a:latin typeface="Meiryo"/>
                <a:ea typeface="Meiryo"/>
                <a:cs typeface="Meiryo"/>
              </a:rPr>
              <a:t>手のひら上・握って曲げる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857500" y="4486275"/>
            <a:ext cx="714375" cy="2476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675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腕を浮かせた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3619500" y="4538662"/>
            <a:ext cx="4057650" cy="142875"/>
          </a:xfrm>
          <a:prstGeom prst="roundRect">
            <a:avLst>
              <a:gd name="adj" fmla="val 10000"/>
            </a:avLst>
          </a:prstGeom>
          <a:solidFill>
            <a:srgbClr val="F2C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734300" y="4486275"/>
            <a:ext cx="762000" cy="2476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568 %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4333875" y="3962400"/>
            <a:ext cx="0" cy="800100"/>
          </a:xfrm>
          <a:prstGeom prst="line">
            <a:avLst/>
          </a:prstGeom>
          <a:ln w="11906">
            <a:solidFill>
              <a:srgbClr val="1A1A1A"/>
            </a:solidFill>
            <a:prstDash val="dash"/>
          </a:ln>
        </p:spPr>
      </p:cxnSp>
      <p:sp>
        <p:nvSpPr>
          <p:cNvPr id="67" name="TextBox 66"/>
          <p:cNvSpPr txBox="1"/>
          <p:nvPr/>
        </p:nvSpPr>
        <p:spPr>
          <a:xfrm>
            <a:off x="3952875" y="3800475"/>
            <a:ext cx="762000" cy="15240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100 %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52450" y="4762500"/>
            <a:ext cx="7981950" cy="19050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25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続けて取ったので、後の課題ほど疲れで %MVC が大きく出た可能性がある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52450" y="381000"/>
            <a:ext cx="7143750" cy="47625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予備：読んだ文献（手持ちの 13 本）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3375" y="476250"/>
            <a:ext cx="581025" cy="19050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52450" y="981075"/>
            <a:ext cx="1571625" cy="17145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25" b="1">
                <a:solidFill>
                  <a:srgbClr val="6B6B6B"/>
                </a:solidFill>
                <a:latin typeface="Meiryo"/>
                <a:ea typeface="Meiryo"/>
                <a:cs typeface="Meiryo"/>
              </a:rPr>
              <a:t>著者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52650" y="981075"/>
            <a:ext cx="381000" cy="17145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25" b="1">
                <a:solidFill>
                  <a:srgbClr val="6B6B6B"/>
                </a:solidFill>
                <a:latin typeface="Meiryo"/>
                <a:ea typeface="Meiryo"/>
                <a:cs typeface="Meiryo"/>
              </a:rPr>
              <a:t>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71750" y="981075"/>
            <a:ext cx="4762500" cy="17145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25" b="1">
                <a:solidFill>
                  <a:srgbClr val="6B6B6B"/>
                </a:solidFill>
                <a:latin typeface="Meiryo"/>
                <a:ea typeface="Meiryo"/>
                <a:cs typeface="Meiryo"/>
              </a:rPr>
              <a:t>タイトル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10450" y="981075"/>
            <a:ext cx="1123950" cy="17145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25" b="1">
                <a:solidFill>
                  <a:srgbClr val="6B6B6B"/>
                </a:solidFill>
                <a:latin typeface="Meiryo"/>
                <a:ea typeface="Meiryo"/>
                <a:cs typeface="Meiryo"/>
              </a:rPr>
              <a:t>MVC の扱い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52450" y="1190625"/>
            <a:ext cx="7981950" cy="0"/>
          </a:xfrm>
          <a:prstGeom prst="line">
            <a:avLst/>
          </a:prstGeom>
          <a:ln w="7143">
            <a:solidFill>
              <a:srgbClr val="DDDDDD"/>
            </a:solidFill>
          </a:ln>
        </p:spPr>
      </p:cxnSp>
      <p:sp>
        <p:nvSpPr>
          <p:cNvPr id="9" name="TextBox 8"/>
          <p:cNvSpPr txBox="1"/>
          <p:nvPr/>
        </p:nvSpPr>
        <p:spPr>
          <a:xfrm>
            <a:off x="552450" y="1190625"/>
            <a:ext cx="1514475" cy="2857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1A1A1A"/>
                </a:solidFill>
                <a:latin typeface="Meiryo"/>
                <a:ea typeface="Meiryo"/>
                <a:cs typeface="Meiryo"/>
              </a:rPr>
              <a:t>Lacelle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52650" y="1190625"/>
            <a:ext cx="323850" cy="2857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1A1A1A"/>
                </a:solidFill>
                <a:latin typeface="Meiryo"/>
                <a:ea typeface="Meiryo"/>
                <a:cs typeface="Meiryo"/>
              </a:rPr>
              <a:t>2025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71750" y="1190625"/>
            <a:ext cx="4705350" cy="2857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1A1A1A"/>
                </a:solidFill>
                <a:latin typeface="Meiryo"/>
                <a:ea typeface="Meiryo"/>
                <a:cs typeface="Meiryo"/>
              </a:rPr>
              <a:t>Vertical computer mice and gaming: effect of mouse orientation on muscle activation and performance（修士論文）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10450" y="1190625"/>
            <a:ext cx="1066800" cy="2857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1A1A1A"/>
                </a:solidFill>
                <a:latin typeface="Meiryo"/>
                <a:ea typeface="Meiryo"/>
                <a:cs typeface="Meiryo"/>
              </a:rPr>
              <a:t>筋ごとの手順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52450" y="1476375"/>
            <a:ext cx="7981950" cy="0"/>
          </a:xfrm>
          <a:prstGeom prst="line">
            <a:avLst/>
          </a:prstGeom>
          <a:ln w="7143">
            <a:solidFill>
              <a:srgbClr val="DDDDDD"/>
            </a:solidFill>
          </a:ln>
        </p:spPr>
      </p:cxnSp>
      <p:sp>
        <p:nvSpPr>
          <p:cNvPr id="14" name="TextBox 13"/>
          <p:cNvSpPr txBox="1"/>
          <p:nvPr/>
        </p:nvSpPr>
        <p:spPr>
          <a:xfrm>
            <a:off x="552450" y="1476375"/>
            <a:ext cx="1514475" cy="2857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1A1A1A"/>
                </a:solidFill>
                <a:latin typeface="Meiryo"/>
                <a:ea typeface="Meiryo"/>
                <a:cs typeface="Meiryo"/>
              </a:rPr>
              <a:t>Forman, G. 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52650" y="1476375"/>
            <a:ext cx="323850" cy="2857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1A1A1A"/>
                </a:solidFill>
                <a:latin typeface="Meiryo"/>
                <a:ea typeface="Meiryo"/>
                <a:cs typeface="Meiryo"/>
              </a:rPr>
              <a:t>2023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71750" y="1476375"/>
            <a:ext cx="4705350" cy="2857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1A1A1A"/>
                </a:solidFill>
                <a:latin typeface="Meiryo"/>
                <a:ea typeface="Meiryo"/>
                <a:cs typeface="Meiryo"/>
              </a:rPr>
              <a:t>On the Physical Demands of Gaming: Quantifying Pain, Muscle Activity, Kinematics, and Performance Changes（博士論文）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10450" y="1476375"/>
            <a:ext cx="1066800" cy="2857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1A1A1A"/>
                </a:solidFill>
                <a:latin typeface="Meiryo"/>
                <a:ea typeface="Meiryo"/>
                <a:cs typeface="Meiryo"/>
              </a:rPr>
              <a:t>別の論文へ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52450" y="1762125"/>
            <a:ext cx="7981950" cy="0"/>
          </a:xfrm>
          <a:prstGeom prst="line">
            <a:avLst/>
          </a:prstGeom>
          <a:ln w="7143">
            <a:solidFill>
              <a:srgbClr val="DDDDDD"/>
            </a:solidFill>
          </a:ln>
        </p:spPr>
      </p:cxnSp>
      <p:sp>
        <p:nvSpPr>
          <p:cNvPr id="19" name="TextBox 18"/>
          <p:cNvSpPr txBox="1"/>
          <p:nvPr/>
        </p:nvSpPr>
        <p:spPr>
          <a:xfrm>
            <a:off x="552450" y="1762125"/>
            <a:ext cx="1514475" cy="2857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1A1A1A"/>
                </a:solidFill>
                <a:latin typeface="Meiryo"/>
                <a:ea typeface="Meiryo"/>
                <a:cs typeface="Meiryo"/>
              </a:rPr>
              <a:t>Forman, G. N. ほか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52650" y="1762125"/>
            <a:ext cx="323850" cy="2857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1A1A1A"/>
                </a:solidFill>
                <a:latin typeface="Meiryo"/>
                <a:ea typeface="Meiryo"/>
                <a:cs typeface="Meiryo"/>
              </a:rPr>
              <a:t>2025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71750" y="1762125"/>
            <a:ext cx="4705350" cy="2857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1A1A1A"/>
                </a:solidFill>
                <a:latin typeface="Meiryo"/>
                <a:ea typeface="Meiryo"/>
                <a:cs typeface="Meiryo"/>
              </a:rPr>
              <a:t>Impact of repetitive mouse aiming on muscle fatigue and fine motor performance of the distal upper limb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10450" y="1762125"/>
            <a:ext cx="1066800" cy="2857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1A1A1A"/>
                </a:solidFill>
                <a:latin typeface="Meiryo"/>
                <a:ea typeface="Meiryo"/>
                <a:cs typeface="Meiryo"/>
              </a:rPr>
              <a:t>別の論文へ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52450" y="2047875"/>
            <a:ext cx="7981950" cy="0"/>
          </a:xfrm>
          <a:prstGeom prst="line">
            <a:avLst/>
          </a:prstGeom>
          <a:ln w="7143">
            <a:solidFill>
              <a:srgbClr val="DDDDDD"/>
            </a:solidFill>
          </a:ln>
        </p:spPr>
      </p:cxnSp>
      <p:sp>
        <p:nvSpPr>
          <p:cNvPr id="24" name="TextBox 23"/>
          <p:cNvSpPr txBox="1"/>
          <p:nvPr/>
        </p:nvSpPr>
        <p:spPr>
          <a:xfrm>
            <a:off x="552450" y="2047875"/>
            <a:ext cx="1514475" cy="2857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1A1A1A"/>
                </a:solidFill>
                <a:latin typeface="Meiryo"/>
                <a:ea typeface="Meiryo"/>
                <a:cs typeface="Meiryo"/>
              </a:rPr>
              <a:t>Forman, G. N. ほか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52650" y="2047875"/>
            <a:ext cx="323850" cy="2857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1A1A1A"/>
                </a:solidFill>
                <a:latin typeface="Meiryo"/>
                <a:ea typeface="Meiryo"/>
                <a:cs typeface="Meiryo"/>
              </a:rPr>
              <a:t>2025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571750" y="2047875"/>
            <a:ext cx="4705350" cy="2857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1A1A1A"/>
                </a:solidFill>
                <a:latin typeface="Meiryo"/>
                <a:ea typeface="Meiryo"/>
                <a:cs typeface="Meiryo"/>
              </a:rPr>
              <a:t>Quantifying the Physical Demands of Tactical First-Person Shooter Gameplay: Muscle Activity and Movement Characteristics During Competitive Valorant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10450" y="2047875"/>
            <a:ext cx="1066800" cy="2857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1A1A1A"/>
                </a:solidFill>
                <a:latin typeface="Meiryo"/>
                <a:ea typeface="Meiryo"/>
                <a:cs typeface="Meiryo"/>
              </a:rPr>
              <a:t>別の論文へ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552450" y="2333625"/>
            <a:ext cx="7981950" cy="0"/>
          </a:xfrm>
          <a:prstGeom prst="line">
            <a:avLst/>
          </a:prstGeom>
          <a:ln w="7143">
            <a:solidFill>
              <a:srgbClr val="DDDDDD"/>
            </a:solidFill>
          </a:ln>
        </p:spPr>
      </p:cxnSp>
      <p:sp>
        <p:nvSpPr>
          <p:cNvPr id="29" name="TextBox 28"/>
          <p:cNvSpPr txBox="1"/>
          <p:nvPr/>
        </p:nvSpPr>
        <p:spPr>
          <a:xfrm>
            <a:off x="552450" y="2333625"/>
            <a:ext cx="1514475" cy="2857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1A1A1A"/>
                </a:solidFill>
                <a:latin typeface="Meiryo"/>
                <a:ea typeface="Meiryo"/>
                <a:cs typeface="Meiryo"/>
              </a:rPr>
              <a:t>Wang ほか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52650" y="2333625"/>
            <a:ext cx="323850" cy="2857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1A1A1A"/>
                </a:solidFill>
                <a:latin typeface="Meiryo"/>
                <a:ea typeface="Meiryo"/>
                <a:cs typeface="Meiryo"/>
              </a:rPr>
              <a:t>2023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571750" y="2333625"/>
            <a:ext cx="4705350" cy="2857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1A1A1A"/>
                </a:solidFill>
                <a:latin typeface="Meiryo"/>
                <a:ea typeface="Meiryo"/>
                <a:cs typeface="Meiryo"/>
              </a:rPr>
              <a:t>The effects of mouse weight and connection type on performance, muscle activity, and preferences among professional gamers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10450" y="2333625"/>
            <a:ext cx="1066800" cy="2857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1A1A1A"/>
                </a:solidFill>
                <a:latin typeface="Meiryo"/>
                <a:ea typeface="Meiryo"/>
                <a:cs typeface="Meiryo"/>
              </a:rPr>
              <a:t>解剖ガイドのみ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552450" y="2619375"/>
            <a:ext cx="7981950" cy="0"/>
          </a:xfrm>
          <a:prstGeom prst="line">
            <a:avLst/>
          </a:prstGeom>
          <a:ln w="7143">
            <a:solidFill>
              <a:srgbClr val="DDDDDD"/>
            </a:solidFill>
          </a:ln>
        </p:spPr>
      </p:cxnSp>
      <p:sp>
        <p:nvSpPr>
          <p:cNvPr id="34" name="TextBox 33"/>
          <p:cNvSpPr txBox="1"/>
          <p:nvPr/>
        </p:nvSpPr>
        <p:spPr>
          <a:xfrm>
            <a:off x="552450" y="2619375"/>
            <a:ext cx="1514475" cy="2857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Park ほか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52650" y="2619375"/>
            <a:ext cx="323850" cy="2857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2021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571750" y="2619375"/>
            <a:ext cx="4705350" cy="2857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Secrets of Gosu: Understanding Physical Combat Skills of Professional Players in First-Person Shooters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10450" y="2619375"/>
            <a:ext cx="1066800" cy="2857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MVC なし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552450" y="2905125"/>
            <a:ext cx="7981950" cy="0"/>
          </a:xfrm>
          <a:prstGeom prst="line">
            <a:avLst/>
          </a:prstGeom>
          <a:ln w="7143">
            <a:solidFill>
              <a:srgbClr val="DDDDDD"/>
            </a:solidFill>
          </a:ln>
        </p:spPr>
      </p:cxnSp>
      <p:sp>
        <p:nvSpPr>
          <p:cNvPr id="39" name="TextBox 38"/>
          <p:cNvSpPr txBox="1"/>
          <p:nvPr/>
        </p:nvSpPr>
        <p:spPr>
          <a:xfrm>
            <a:off x="552450" y="2905125"/>
            <a:ext cx="1514475" cy="2857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Prajapati ほか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152650" y="2905125"/>
            <a:ext cx="323850" cy="2857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2024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571750" y="2905125"/>
            <a:ext cx="4705350" cy="2857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Relating Muscle Activity and Mouse Sensitivity in FPS Game Players Using Surface EMG Signals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410450" y="2905125"/>
            <a:ext cx="1066800" cy="2857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MVC なし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552450" y="3190875"/>
            <a:ext cx="7981950" cy="0"/>
          </a:xfrm>
          <a:prstGeom prst="line">
            <a:avLst/>
          </a:prstGeom>
          <a:ln w="7143">
            <a:solidFill>
              <a:srgbClr val="DDDDDD"/>
            </a:solidFill>
          </a:ln>
        </p:spPr>
      </p:cxnSp>
      <p:sp>
        <p:nvSpPr>
          <p:cNvPr id="44" name="TextBox 43"/>
          <p:cNvSpPr txBox="1"/>
          <p:nvPr/>
        </p:nvSpPr>
        <p:spPr>
          <a:xfrm>
            <a:off x="552450" y="3190875"/>
            <a:ext cx="1514475" cy="2857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Kuikkaniemi ほか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152650" y="3190875"/>
            <a:ext cx="323850" cy="2857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2010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571750" y="3190875"/>
            <a:ext cx="4705350" cy="2857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The influence of implicit and explicit biofeedback in first-person shooter games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410450" y="3190875"/>
            <a:ext cx="1066800" cy="2857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MVC なし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552450" y="3476625"/>
            <a:ext cx="7981950" cy="0"/>
          </a:xfrm>
          <a:prstGeom prst="line">
            <a:avLst/>
          </a:prstGeom>
          <a:ln w="7143">
            <a:solidFill>
              <a:srgbClr val="DDDDDD"/>
            </a:solidFill>
          </a:ln>
        </p:spPr>
      </p:cxnSp>
      <p:sp>
        <p:nvSpPr>
          <p:cNvPr id="49" name="TextBox 48"/>
          <p:cNvSpPr txBox="1"/>
          <p:nvPr/>
        </p:nvSpPr>
        <p:spPr>
          <a:xfrm>
            <a:off x="552450" y="3476625"/>
            <a:ext cx="1514475" cy="2857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Okinaka &amp; Wada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152650" y="3476625"/>
            <a:ext cx="323850" cy="2857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2023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571750" y="3476625"/>
            <a:ext cx="4705350" cy="2857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Evaluation of performance of key hits using input data, electromyography, and video analysis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410450" y="3476625"/>
            <a:ext cx="1066800" cy="2857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MVC なし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552450" y="3762375"/>
            <a:ext cx="7981950" cy="0"/>
          </a:xfrm>
          <a:prstGeom prst="line">
            <a:avLst/>
          </a:prstGeom>
          <a:ln w="7143">
            <a:solidFill>
              <a:srgbClr val="DDDDDD"/>
            </a:solidFill>
          </a:ln>
        </p:spPr>
      </p:cxnSp>
      <p:sp>
        <p:nvSpPr>
          <p:cNvPr id="54" name="TextBox 53"/>
          <p:cNvSpPr txBox="1"/>
          <p:nvPr/>
        </p:nvSpPr>
        <p:spPr>
          <a:xfrm>
            <a:off x="552450" y="3762375"/>
            <a:ext cx="1514475" cy="2857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Jeong ほか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152650" y="3762375"/>
            <a:ext cx="323850" cy="2857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2024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571750" y="3762375"/>
            <a:ext cx="4705350" cy="2857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e スポーツプレイヤーのパフォーマンスと筋活動の相関関係について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410450" y="3762375"/>
            <a:ext cx="1066800" cy="2857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MVC なし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552450" y="4048125"/>
            <a:ext cx="7981950" cy="0"/>
          </a:xfrm>
          <a:prstGeom prst="line">
            <a:avLst/>
          </a:prstGeom>
          <a:ln w="7143">
            <a:solidFill>
              <a:srgbClr val="DDDDDD"/>
            </a:solidFill>
          </a:ln>
        </p:spPr>
      </p:cxnSp>
      <p:sp>
        <p:nvSpPr>
          <p:cNvPr id="59" name="TextBox 58"/>
          <p:cNvSpPr txBox="1"/>
          <p:nvPr/>
        </p:nvSpPr>
        <p:spPr>
          <a:xfrm>
            <a:off x="552450" y="4048125"/>
            <a:ext cx="1514475" cy="2857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Donovan &amp; Heeger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152650" y="4048125"/>
            <a:ext cx="323850" cy="2857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2022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571750" y="4048125"/>
            <a:ext cx="4705350" cy="2857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Assessment of human expertise and movement kinematics in first-person shooter games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410450" y="4048125"/>
            <a:ext cx="1066800" cy="2857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EMG なし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552450" y="4333875"/>
            <a:ext cx="7981950" cy="0"/>
          </a:xfrm>
          <a:prstGeom prst="line">
            <a:avLst/>
          </a:prstGeom>
          <a:ln w="7143">
            <a:solidFill>
              <a:srgbClr val="DDDDDD"/>
            </a:solidFill>
          </a:ln>
        </p:spPr>
      </p:cxnSp>
      <p:sp>
        <p:nvSpPr>
          <p:cNvPr id="64" name="TextBox 63"/>
          <p:cNvSpPr txBox="1"/>
          <p:nvPr/>
        </p:nvSpPr>
        <p:spPr>
          <a:xfrm>
            <a:off x="552450" y="4333875"/>
            <a:ext cx="1514475" cy="2857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Dupuy ほか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152650" y="4333875"/>
            <a:ext cx="323850" cy="2857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2024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571750" y="4333875"/>
            <a:ext cx="4705350" cy="2857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On the necessity for biomechanics research in esports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410450" y="4333875"/>
            <a:ext cx="1066800" cy="2857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EMG なし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552450" y="4619625"/>
            <a:ext cx="7981950" cy="0"/>
          </a:xfrm>
          <a:prstGeom prst="line">
            <a:avLst/>
          </a:prstGeom>
          <a:ln w="7143">
            <a:solidFill>
              <a:srgbClr val="DDDDDD"/>
            </a:solidFill>
          </a:ln>
        </p:spPr>
      </p:cxnSp>
      <p:sp>
        <p:nvSpPr>
          <p:cNvPr id="69" name="TextBox 68"/>
          <p:cNvSpPr txBox="1"/>
          <p:nvPr/>
        </p:nvSpPr>
        <p:spPr>
          <a:xfrm>
            <a:off x="552450" y="4619625"/>
            <a:ext cx="1514475" cy="2857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Dupuy ほか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152650" y="4619625"/>
            <a:ext cx="323850" cy="2857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2025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571750" y="4619625"/>
            <a:ext cx="4705350" cy="2857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Differentiating right upper limb movements of esports players who play different game genres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410450" y="4619625"/>
            <a:ext cx="1066800" cy="2857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EMG なし</a:t>
            </a:r>
          </a:p>
        </p:txBody>
      </p:sp>
      <p:cxnSp>
        <p:nvCxnSpPr>
          <p:cNvPr id="73" name="Connector 72"/>
          <p:cNvCxnSpPr/>
          <p:nvPr/>
        </p:nvCxnSpPr>
        <p:spPr>
          <a:xfrm>
            <a:off x="552450" y="4905375"/>
            <a:ext cx="7981950" cy="0"/>
          </a:xfrm>
          <a:prstGeom prst="line">
            <a:avLst/>
          </a:prstGeom>
          <a:ln w="7143">
            <a:solidFill>
              <a:srgbClr val="DDDDDD"/>
            </a:solidFill>
          </a:ln>
        </p:spPr>
      </p:cxn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52450" y="381000"/>
            <a:ext cx="7143750" cy="47625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予備：引用をたどって読んだ文献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3375" y="476250"/>
            <a:ext cx="581025" cy="19050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52450" y="1171575"/>
            <a:ext cx="1571625" cy="17145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25" b="1">
                <a:solidFill>
                  <a:srgbClr val="6B6B6B"/>
                </a:solidFill>
                <a:latin typeface="Meiryo"/>
                <a:ea typeface="Meiryo"/>
                <a:cs typeface="Meiryo"/>
              </a:rPr>
              <a:t>著者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52650" y="1171575"/>
            <a:ext cx="381000" cy="17145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25" b="1">
                <a:solidFill>
                  <a:srgbClr val="6B6B6B"/>
                </a:solidFill>
                <a:latin typeface="Meiryo"/>
                <a:ea typeface="Meiryo"/>
                <a:cs typeface="Meiryo"/>
              </a:rPr>
              <a:t>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71750" y="1171575"/>
            <a:ext cx="5962650" cy="17145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25" b="1">
                <a:solidFill>
                  <a:srgbClr val="6B6B6B"/>
                </a:solidFill>
                <a:latin typeface="Meiryo"/>
                <a:ea typeface="Meiryo"/>
                <a:cs typeface="Meiryo"/>
              </a:rPr>
              <a:t>タイトル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52450" y="1381125"/>
            <a:ext cx="7981950" cy="0"/>
          </a:xfrm>
          <a:prstGeom prst="line">
            <a:avLst/>
          </a:prstGeom>
          <a:ln w="7143">
            <a:solidFill>
              <a:srgbClr val="DDDDDD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52450" y="1381125"/>
            <a:ext cx="1514475" cy="428625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1A1A1A"/>
                </a:solidFill>
                <a:latin typeface="Meiryo"/>
                <a:ea typeface="Meiryo"/>
                <a:cs typeface="Meiryo"/>
              </a:rPr>
              <a:t>Forman, D. A. ほか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52650" y="1381125"/>
            <a:ext cx="323850" cy="428625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1A1A1A"/>
                </a:solidFill>
                <a:latin typeface="Meiryo"/>
                <a:ea typeface="Meiryo"/>
                <a:cs typeface="Meiryo"/>
              </a:rPr>
              <a:t>2019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71750" y="1381125"/>
            <a:ext cx="5905500" cy="428625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1A1A1A"/>
                </a:solidFill>
                <a:latin typeface="Meiryo"/>
                <a:ea typeface="Meiryo"/>
                <a:cs typeface="Meiryo"/>
              </a:rPr>
              <a:t>The influence of simultaneous handgrip and wrist force on forearm muscle activity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52450" y="1809750"/>
            <a:ext cx="7981950" cy="0"/>
          </a:xfrm>
          <a:prstGeom prst="line">
            <a:avLst/>
          </a:prstGeom>
          <a:ln w="7143">
            <a:solidFill>
              <a:srgbClr val="DDDDDD"/>
            </a:solidFill>
          </a:ln>
        </p:spPr>
      </p:cxnSp>
      <p:sp>
        <p:nvSpPr>
          <p:cNvPr id="12" name="TextBox 11"/>
          <p:cNvSpPr txBox="1"/>
          <p:nvPr/>
        </p:nvSpPr>
        <p:spPr>
          <a:xfrm>
            <a:off x="552450" y="1809750"/>
            <a:ext cx="1514475" cy="428625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1A1A1A"/>
                </a:solidFill>
                <a:latin typeface="Meiryo"/>
                <a:ea typeface="Meiryo"/>
                <a:cs typeface="Meiryo"/>
              </a:rPr>
              <a:t>Forman, D. 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52650" y="1809750"/>
            <a:ext cx="323850" cy="428625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1A1A1A"/>
                </a:solidFill>
                <a:latin typeface="Meiryo"/>
                <a:ea typeface="Meiryo"/>
                <a:cs typeface="Meiryo"/>
              </a:rPr>
              <a:t>2020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71750" y="1809750"/>
            <a:ext cx="5905500" cy="428625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1A1A1A"/>
                </a:solidFill>
                <a:latin typeface="Meiryo"/>
                <a:ea typeface="Meiryo"/>
                <a:cs typeface="Meiryo"/>
              </a:rPr>
              <a:t>Muscle fatigue and other factors influencing forearm muscle activity（博士論文。3 章が Forman 2019）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52450" y="2238375"/>
            <a:ext cx="7981950" cy="0"/>
          </a:xfrm>
          <a:prstGeom prst="line">
            <a:avLst/>
          </a:prstGeom>
          <a:ln w="7143">
            <a:solidFill>
              <a:srgbClr val="DDDDDD"/>
            </a:solidFill>
          </a:ln>
        </p:spPr>
      </p:cxnSp>
      <p:sp>
        <p:nvSpPr>
          <p:cNvPr id="16" name="TextBox 15"/>
          <p:cNvSpPr txBox="1"/>
          <p:nvPr/>
        </p:nvSpPr>
        <p:spPr>
          <a:xfrm>
            <a:off x="552450" y="2238375"/>
            <a:ext cx="1514475" cy="428625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1A1A1A"/>
                </a:solidFill>
                <a:latin typeface="Meiryo"/>
                <a:ea typeface="Meiryo"/>
                <a:cs typeface="Meiryo"/>
              </a:rPr>
              <a:t>Forman, G. N. ほか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52650" y="2238375"/>
            <a:ext cx="323850" cy="428625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1A1A1A"/>
                </a:solidFill>
                <a:latin typeface="Meiryo"/>
                <a:ea typeface="Meiryo"/>
                <a:cs typeface="Meiryo"/>
              </a:rPr>
              <a:t>2020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71750" y="2238375"/>
            <a:ext cx="5905500" cy="428625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1A1A1A"/>
                </a:solidFill>
                <a:latin typeface="Meiryo"/>
                <a:ea typeface="Meiryo"/>
                <a:cs typeface="Meiryo"/>
              </a:rPr>
              <a:t>Investigating the Muscular and Kinematic Responses to Sudden Wrist Perturbations During a Dynamic Tracking Task
Sci Rep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52450" y="2667000"/>
            <a:ext cx="7981950" cy="0"/>
          </a:xfrm>
          <a:prstGeom prst="line">
            <a:avLst/>
          </a:prstGeom>
          <a:ln w="7143">
            <a:solidFill>
              <a:srgbClr val="DDDDDD"/>
            </a:solidFill>
          </a:ln>
        </p:spPr>
      </p:cxnSp>
      <p:sp>
        <p:nvSpPr>
          <p:cNvPr id="20" name="TextBox 19"/>
          <p:cNvSpPr txBox="1"/>
          <p:nvPr/>
        </p:nvSpPr>
        <p:spPr>
          <a:xfrm>
            <a:off x="552450" y="2667000"/>
            <a:ext cx="1514475" cy="428625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1A1A1A"/>
                </a:solidFill>
                <a:latin typeface="Meiryo"/>
                <a:ea typeface="Meiryo"/>
                <a:cs typeface="Meiryo"/>
              </a:rPr>
              <a:t>Forman, D. A. ほか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52650" y="2667000"/>
            <a:ext cx="323850" cy="428625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1A1A1A"/>
                </a:solidFill>
                <a:latin typeface="Meiryo"/>
                <a:ea typeface="Meiryo"/>
                <a:cs typeface="Meiryo"/>
              </a:rPr>
              <a:t>2020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71750" y="2667000"/>
            <a:ext cx="5905500" cy="428625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1A1A1A"/>
                </a:solidFill>
                <a:latin typeface="Meiryo"/>
                <a:ea typeface="Meiryo"/>
                <a:cs typeface="Meiryo"/>
              </a:rPr>
              <a:t>Sustained Isometric Wrist Flexion and Extension Maximal Voluntary Contractions Similarly Impair Hand-Tracking Accuracy in Young Adults Using a Wrist Robot
Front Sports Act Living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52450" y="3095625"/>
            <a:ext cx="7981950" cy="0"/>
          </a:xfrm>
          <a:prstGeom prst="line">
            <a:avLst/>
          </a:prstGeom>
          <a:ln w="7143">
            <a:solidFill>
              <a:srgbClr val="DDDDDD"/>
            </a:solidFill>
          </a:ln>
        </p:spPr>
      </p:cxnSp>
      <p:sp>
        <p:nvSpPr>
          <p:cNvPr id="24" name="TextBox 23"/>
          <p:cNvSpPr txBox="1"/>
          <p:nvPr/>
        </p:nvSpPr>
        <p:spPr>
          <a:xfrm>
            <a:off x="552450" y="3095625"/>
            <a:ext cx="1514475" cy="428625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1A1A1A"/>
                </a:solidFill>
                <a:latin typeface="Meiryo"/>
                <a:ea typeface="Meiryo"/>
                <a:cs typeface="Meiryo"/>
              </a:rPr>
              <a:t>Holmes ほか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52650" y="3095625"/>
            <a:ext cx="323850" cy="428625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1A1A1A"/>
                </a:solidFill>
                <a:latin typeface="Meiryo"/>
                <a:ea typeface="Meiryo"/>
                <a:cs typeface="Meiryo"/>
              </a:rPr>
              <a:t>2022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571750" y="3095625"/>
            <a:ext cx="5905500" cy="428625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1A1A1A"/>
                </a:solidFill>
                <a:latin typeface="Meiryo"/>
                <a:ea typeface="Meiryo"/>
                <a:cs typeface="Meiryo"/>
              </a:rPr>
              <a:t>The effects of isometric hand grip force on wrist kinematics and forearm muscle activity during radial and ulnar wrist joint perturbations
PeerJ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552450" y="3524250"/>
            <a:ext cx="7981950" cy="0"/>
          </a:xfrm>
          <a:prstGeom prst="line">
            <a:avLst/>
          </a:prstGeom>
          <a:ln w="7143">
            <a:solidFill>
              <a:srgbClr val="DDDDDD"/>
            </a:solidFill>
          </a:ln>
        </p:spPr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