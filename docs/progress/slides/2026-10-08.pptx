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10-06 に試した動作です。3 枚に分けて見せます。図は模式図で、手のひら下・手のひら上は横から、親指が上は上から見ています。</a:t>
            </a:r>
          </a:p>
          <a:p/>
          <a:p>
            <a:r>
              <a:t>まず確認動作。誰も押さえずに、手首を自由に反らしきる動きです。09-29 のデモで 350 %MVC になったのと同じ動きで、疲れる前の最大を見るため、記録の最初に取りました。</a:t>
            </a:r>
          </a:p>
          <a:p/>
          <a:p>
            <a:r>
              <a:t>A は前回までのやり方で、握って、自分の反対の手で手の甲を押さえて反らします。比べるための基準として 2 回取りました。</a:t>
            </a:r>
          </a:p>
          <a:p/>
          <a:p>
            <a:r>
              <a:t>B は、同じ姿勢で、手伝う人に手の甲を上から押さえてもらいます。A と B は押さえる人だけが違うので、差を見れば「他の人に押さえてもらう」効果がわかる、という組み方です。ここまでの 3 つは腕を机に乗せて取りました。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伸展のほかの候補です。文献の課題（Forman 2019、Lacelle 2025）から選びました。</a:t>
            </a:r>
          </a:p>
          <a:p/>
          <a:p>
            <a:r>
              <a:t>上の段は親指が上（Forman 2019）。C は握って手の甲側へ押す（ECR、橈側手根伸筋）、D はそれに小指側（机の方向）も加える（ECU、尺側手根伸筋）、E は手伝う人に両手で包んでもらい、手を開きながら反らす（ED、総指伸筋）。</a:t>
            </a:r>
          </a:p>
          <a:p/>
          <a:p>
            <a:r>
              <a:t>下の段は手のひら下。F は反らしながら親指側にも押す（Lacelle の ECR）、G は指を伸ばしたまま反らす（Lacelle の ED）、H は一人でできる方法として、机の天板の裏に手の甲を当てて押し上げる。</a:t>
            </a:r>
          </a:p>
          <a:p/>
          <a:p>
            <a:r>
              <a:t>D 以降は腕を机から浮かせて取りました。H は CSV を書き出しそこねたので、結果がありません。試行は 1 回ずつです。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屈曲です。</a:t>
            </a:r>
          </a:p>
          <a:p/>
          <a:p>
            <a:r>
              <a:t>確認動作は、誰も押さえずに手のひら側に曲げきる動きです。手首から先を机の端から出して取りました。</a:t>
            </a:r>
          </a:p>
          <a:p/>
          <a:p>
            <a:r>
              <a:t>課題は 2 つで、どちらも手のひら上（Forman 2019）。I は握って、こぶしを上から押さえてもらい、手のひら側に曲げる。J は手伝う人の指 2〜3 本を全力で握りながら曲げる。どちらも腕を机から浮かせて取りました。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屈曲の新しいやり方はまだ試していないので、次回の記録で確かめます。順番は、確認動作を最初に取り、B と一人用（H）を 2 回ずつ、屈曲、最後に確認動作と B をもう 1 回です。最後の B が最初より小さければ疲れていたとわかります。課題のあいだは十分休みます。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来週は、伸展・屈曲の MVC を確かめて、6 か所で本番データを取ります。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試した動作：確認動作と A・B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・確認動作は誰も押さえない。疲れる前の最初に取った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・A と B は、押さえる人だけが違う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8600000">
            <a:off x="2021205" y="2594229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7005" y="244792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30422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手首を自由に反らしきる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18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37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2017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47354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183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39124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自分の反対の手で押さえる
（前回までのやり方）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E8F0F8"/>
          </a:solidFill>
          <a:ln w="19050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69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88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9068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74405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6234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66175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試した動作：伸展のほかの候補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・文献の課題から、前腕の向き・握る／開く・横方向を変えた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0138" y="1743075"/>
            <a:ext cx="1476375" cy="64960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760" y="2292286"/>
            <a:ext cx="1181100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192" y="2023586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74152" y="2008822"/>
            <a:ext cx="212598" cy="177165"/>
          </a:xfrm>
          <a:prstGeom prst="roundRect">
            <a:avLst>
              <a:gd name="adj" fmla="val 37634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263521" y="1846421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1962340" y="1937956"/>
            <a:ext cx="236220" cy="64960"/>
          </a:xfrm>
          <a:prstGeom prst="roundRect">
            <a:avLst>
              <a:gd name="adj" fmla="val 43988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080450" y="1772602"/>
            <a:ext cx="0" cy="1535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1430846" y="1784414"/>
            <a:ext cx="605314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44030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手の甲側へ押す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575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05238" y="1743075"/>
            <a:ext cx="1476375" cy="64960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8860" y="2292286"/>
            <a:ext cx="1181100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64292" y="2023586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79252" y="2008822"/>
            <a:ext cx="212598" cy="177165"/>
          </a:xfrm>
          <a:prstGeom prst="roundRect">
            <a:avLst>
              <a:gd name="adj" fmla="val 37634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4968621" y="1846421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4112324" y="2177129"/>
            <a:ext cx="944880" cy="11811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＋小指側（机へ）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7440" y="1937956"/>
            <a:ext cx="236220" cy="64960"/>
          </a:xfrm>
          <a:prstGeom prst="roundRect">
            <a:avLst>
              <a:gd name="adj" fmla="val 43988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785550" y="1772602"/>
            <a:ext cx="0" cy="1535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4135946" y="1784414"/>
            <a:ext cx="605314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44030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手の甲側＋小指側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28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26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79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親指が上・開く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0338" y="1743075"/>
            <a:ext cx="1476375" cy="64960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3960" y="2292286"/>
            <a:ext cx="1181100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9392" y="2023586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84352" y="2047208"/>
            <a:ext cx="442912" cy="100394"/>
          </a:xfrm>
          <a:prstGeom prst="roundRect">
            <a:avLst>
              <a:gd name="adj" fmla="val 50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898130" y="1846421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487698" y="1976342"/>
            <a:ext cx="236220" cy="64960"/>
          </a:xfrm>
          <a:prstGeom prst="roundRect">
            <a:avLst>
              <a:gd name="adj" fmla="val 43988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605808" y="1810988"/>
            <a:ext cx="0" cy="153543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6956203" y="1822799"/>
            <a:ext cx="605314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両手で包む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900" y="244030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包まれた手を開きながら反らす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579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24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00138" y="4054792"/>
            <a:ext cx="885825" cy="14763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23760" y="4072509"/>
            <a:ext cx="590550" cy="11811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6830" y="3948494"/>
            <a:ext cx="679132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59192" y="3789045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974152" y="3774281"/>
            <a:ext cx="212598" cy="177165"/>
          </a:xfrm>
          <a:prstGeom prst="roundRect">
            <a:avLst>
              <a:gd name="adj" fmla="val 37634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63521" y="3611880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1407224" y="3942588"/>
            <a:ext cx="944880" cy="11811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＋親指側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62340" y="3703415"/>
            <a:ext cx="236220" cy="64960"/>
          </a:xfrm>
          <a:prstGeom prst="roundRect">
            <a:avLst>
              <a:gd name="adj" fmla="val 43988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080450" y="3538061"/>
            <a:ext cx="0" cy="153543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52" name="TextBox 51"/>
          <p:cNvSpPr txBox="1"/>
          <p:nvPr/>
        </p:nvSpPr>
        <p:spPr>
          <a:xfrm>
            <a:off x="1430846" y="3549872"/>
            <a:ext cx="605314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425005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反らす＋親指側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7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575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528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手のひら下・開く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05238" y="4054792"/>
            <a:ext cx="885825" cy="14763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28860" y="4072509"/>
            <a:ext cx="590550" cy="11811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11930" y="3948494"/>
            <a:ext cx="679132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64292" y="3789045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679252" y="3812667"/>
            <a:ext cx="442912" cy="100394"/>
          </a:xfrm>
          <a:prstGeom prst="roundRect">
            <a:avLst>
              <a:gd name="adj" fmla="val 50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5193030" y="3611880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63" name="Rounded Rectangle 62"/>
          <p:cNvSpPr/>
          <p:nvPr/>
        </p:nvSpPr>
        <p:spPr>
          <a:xfrm>
            <a:off x="4782598" y="3741801"/>
            <a:ext cx="236220" cy="64960"/>
          </a:xfrm>
          <a:prstGeom prst="roundRect">
            <a:avLst>
              <a:gd name="adj" fmla="val 43988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900708" y="3576447"/>
            <a:ext cx="0" cy="153543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4251103" y="3588258"/>
            <a:ext cx="605314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52800" y="425005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指を伸ばしたまま反らす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528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626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579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H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10338" y="4054792"/>
            <a:ext cx="885825" cy="14763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3960" y="4072509"/>
            <a:ext cx="590550" cy="11811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17030" y="3948494"/>
            <a:ext cx="679132" cy="100394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569392" y="3789045"/>
            <a:ext cx="832676" cy="147638"/>
          </a:xfrm>
          <a:prstGeom prst="roundRect">
            <a:avLst>
              <a:gd name="adj" fmla="val 3870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84352" y="3774281"/>
            <a:ext cx="212598" cy="177165"/>
          </a:xfrm>
          <a:prstGeom prst="roundRect">
            <a:avLst>
              <a:gd name="adj" fmla="val 37634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7673721" y="3611880"/>
            <a:ext cx="0" cy="23622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76" name="Rectangle 75"/>
          <p:cNvSpPr/>
          <p:nvPr/>
        </p:nvSpPr>
        <p:spPr>
          <a:xfrm>
            <a:off x="7189470" y="3697510"/>
            <a:ext cx="590550" cy="64960"/>
          </a:xfrm>
          <a:prstGeom prst="rect">
            <a:avLst/>
          </a:prstGeom>
          <a:solidFill>
            <a:srgbClr val="8A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05612" y="3673888"/>
            <a:ext cx="369094" cy="8858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天板の裏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57900" y="425005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一人で、天板の裏を押し上げる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579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　CSV 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試した動作：屈曲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・確認動作は、手首から先を机の端から出して曲げきる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・課題は手のひら上の 2 つ。どちらも腕を浮かせた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3000000">
            <a:off x="2021205" y="2895981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07005" y="2905125"/>
            <a:ext cx="0" cy="32004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25850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手首を自由に曲げきる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4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18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37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2017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47354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183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39124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こぶしを押さえてもらい
手のひら側へ曲げる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28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55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69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588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9068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4405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6234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66175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相手の指を握りながら
手のひら側へ曲げる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9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・腕は机に乗せる。疲れる前と後に確認動作を取る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伸展（決定）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手のひら下・握って、上から押さえてもらう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91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FBEBDD"/>
          </a:solidFill>
          <a:ln w="14287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屈曲（次回確かめる）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28098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次回の記録の順番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50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3625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2624138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B・H
2 回ずつ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5312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95825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77000" y="3476625"/>
            <a:ext cx="271462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767512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 最後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4048125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来週：MVC を確かめて、6 か所で本番データを取る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