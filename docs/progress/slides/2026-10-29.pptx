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今週は、10-27 に研究室で、計測を一人で最後まで通しました。結論から言うと、手首の伸展・屈曲とも MVC が足り、残り 4 か所も含めて 6 か所すべての MVC が取れました。ただ、前腕以外の 4 か所は確認動作をしていなかったので、MVC が全力を取れているかはまだ確かめられていません。確認動作を足したので、次の研究室で取って M1 を終えます。</a:t>
            </a:r>
          </a:p>
          <a:p/>
          <a:p>
            <a:r>
              <a:t>流れは、マイルストーン → 目標 → やったこと → わかったこと → 次やること → まとめ、の順で話します。</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今は M1、計測系が回るところです。内訳の M1-1〜M1-5 は先週までに済んでいて、今週 M1-6 が済みました。M1-7 は MVC は取れましたが、前腕以外の確認動作がまだなので一部済です。</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大きな目標は、今のマイルストーンの M1 です。完了基準は、6 か所の MVC と数分の記録を、API で 1 回の来室で取りきれることです。</a:t>
            </a:r>
          </a:p>
          <a:p/>
          <a:p>
            <a:r>
              <a:t>そのための小さな目標として、M1 の内訳のうち残りの 2 つをやりました。</a:t>
            </a:r>
          </a:p>
          <a:p>
            <a:r>
              <a:t>M1-6 は、手首の屈曲の MVC を、直した指示（手のひら上で上に曲げきる・姿勢の図）で取り直し、確認動作が 100 %MVC 以下に収まるか確かめることです。</a:t>
            </a:r>
          </a:p>
          <a:p>
            <a:r>
              <a:t>M1-7 は、残り 4 か所（三角筋・二頭筋・三頭筋・僧帽筋）の MVC を、一人でできる 4 つの課題で取ることです。先週直した記録中の窓（姿勢の図・説明の折り返し・休憩 10 秒）も、実機で確かめます。</a:t>
            </a:r>
          </a:p>
          <a:p/>
          <a:p>
            <a:r>
              <a:t>【用語】MVC は、全力で力を入れたときの筋電の大きさです。これを 100% として、ほかの記録を割合（%MVC）で表します。</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やったことです。</a:t>
            </a:r>
          </a:p>
          <a:p/>
          <a:p>
            <a:r>
              <a:t>10-27 に研究室で、計測を一人で 1 回通しました。信号の確認 → 安静 → 確認動作（伸展・屈曲）→ MVC 6 課題 × 2 周（休憩 10 秒）→ 3 分の記録、の順です。手首の MVC は一人用（天板の裏を押し上げる）、前腕以外は、壁押し・天板の持ち上げ・机の押し下げ・肩をすくめる、の 4 つです。</a:t>
            </a:r>
          </a:p>
          <a:p/>
          <a:p>
            <a:r>
              <a:t>最後の 3 分の記録では、マウスを持って大きく振り、6 か所の %MVC を見ました。</a:t>
            </a:r>
          </a:p>
          <a:p/>
          <a:p>
            <a:r>
              <a:t>上の段が、10-27 に計測した流れです。下の段は次の計測の流れで、計測のあとに足した 2 つを青にしています。今回の結果は上の段の流れで取ったものです。</a:t>
            </a:r>
          </a:p>
          <a:p/>
          <a:p>
            <a:r>
              <a:t>1 つ目は、計測の前に、センサの番号と部位が合っているかを確かめるステップ（部位の確認）です。下の段の 2 番目です。理由は、これまで何度か、センサの番号と部位がずれていたことがあったからです。計測のあとで気づくと取り直しになるので、ミスを減らすために、ついでに対策しました。6 か所を 1 つずつ動かし、各センサがどの動きで一番反応したかを、登録した部位と比べます。ずれていれば画面に出ます。</a:t>
            </a:r>
          </a:p>
          <a:p/>
          <a:p>
            <a:r>
              <a:t>2 つ目は、前腕以外の 4 か所の確認動作です（10-28）。下の段の 4 番目です。確認動作は手首の 2 つしかなく、前腕以外は MVC が全力を取れているかを確かめられていなかったためです。腕を横に上げて全力で上へ、肘を曲げきって全力で力こぶ、肘を伸ばしきって全力、肩を全力ですくめきる、の 4 つで、どれも誰も押さえません。疲れる前に取るため、MVC より前に置きました。</a:t>
            </a:r>
          </a:p>
          <a:p/>
          <a:p>
            <a:r>
              <a:t>【部位の確認の中身】27 秒。手首を反らす → 手のひら上で手首を曲げる → 腕を横に少し上げる → 手を開いたまま力こぶ → 腕を下ろしたまま肘を伸ばしきる → 腕の力を抜いて肩をすくめる、を 3 秒ずつ。動きは MVC の課題ではなく、押さえずにその部位だけを動かす形にしました。MVC の課題は全力なので、ほかの部位にも力が入るためです（10-27 は肩の外転で僧帽筋が最大になった）。10-20 は手で 30 秒動かして確かめていたのを、自動で判定するようにしました。S3 と S6 を取り違えた疑似データで、その 2 本だけが「合っていない」と出ることは確かめました。実機ではまだ試していません。</a:t>
            </a:r>
          </a:p>
          <a:p/>
          <a:p>
            <a:r>
              <a:t>【コードの場所】1 回ぶんの手順は analysis/emgpipe/session.py（部位の確認は SITE_MOVES・check_sites）。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M1-6 への答えです。伸展・屈曲とも、確認動作が 100 %MVC 以下に収まりました。</a:t>
            </a:r>
          </a:p>
          <a:p/>
          <a:p>
            <a:r>
              <a:t>確認動作は、誰も押さえずに、自由に全力で曲げきる動きです。これが MVC の何 % になるかで、MVC の課題が全力を捉えているかを判断します。100% 以下なら足りています。</a:t>
            </a:r>
          </a:p>
          <a:p/>
          <a:p>
            <a:r>
              <a:t>屈曲は、確認動作が MVC の 84%（60 μV）でした。10-20 は 5.4 μV しか上がらなかったので、手のひら上で曲げる指示にして、屈筋を使えるようになりました。</a:t>
            </a:r>
          </a:p>
          <a:p/>
          <a:p>
            <a:r>
              <a:t>伸展は、確認動作が MVC の 53% です。天板の裏を押し上げる課題だけで見ると 59% で、10-20 は 69% でした。</a:t>
            </a:r>
          </a:p>
          <a:p/>
          <a:p>
            <a:r>
              <a:t>また、屈筋側のセンサは、伸展の課題では屈曲の MVC の 8% しか出ません。伸筋側と屈筋側を分けて拾えています。</a:t>
            </a:r>
          </a:p>
          <a:p/>
          <a:p>
            <a:r>
              <a:t>下は、気づいた問題です。屈曲の MVC を取った姿勢（手のひら上）と、マウスを持つ姿勢（手のひら下）が違います。手のひらを返すと前腕がねじれ、センサも筋と一緒に横へ回ります。皮膚の下で筋が少しずれるので、同じ力でも振幅が変わりえます。ただ、マウス中の屈筋はほぼ安静と同じだったので、今は結論に響きません。本当に必要になったら、手のひら下の屈曲を計測のついでに取ります（残課題）。</a:t>
            </a:r>
          </a:p>
          <a:p/>
          <a:p>
            <a:r>
              <a:t>【補足】屈曲を「上に曲げる」形にしていたのは、本番は人に押さえてもらう前提だったのと、手のひら下で下に曲げると重力が手伝うので、確認動作（誰も押さえずに曲げきる）が成り立たないからです。手のひら下の屈曲の MVC を足すなら、確認動作も見直します。</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M1-7 への答えです。6 か所とも MVC は取れました。ただし前腕以外は、全力を取れているかをまだ確かめていません。</a:t>
            </a:r>
          </a:p>
          <a:p/>
          <a:p>
            <a:r>
              <a:t>三角筋・二頭筋・三頭筋は、それぞれ自分の課題で MVC が最大になりました。</a:t>
            </a:r>
          </a:p>
          <a:p/>
          <a:p>
            <a:r>
              <a:t>MVC は 6 か所とも安静の 5 倍以上（12〜127 倍）で、警告は出ませんでした。5 倍未満だと警告を出すようにしています。</a:t>
            </a:r>
          </a:p>
          <a:p/>
          <a:p>
            <a:r>
              <a:t>僧帽筋は肩の外転で最大で、すくめはその 55% でした。すくめは 1 回目と 2 回目の差も大きいです（54 → 114 μV）。MVC の課題は全力なので、狙った部位以外にも力が入ります。伸筋側も、天板の持ち上げで、手首の課題より 1 割大きくなりました。MVC はチャネルごとに、全課題の中で最大のものを使っています。</a:t>
            </a:r>
          </a:p>
          <a:p/>
          <a:p>
            <a:r>
              <a:t>できなかったことです。前腕以外の 4 か所は確認動作をしていないので、M1-6 と同じ基準（確認動作が 100 %MVC 以下）では確かめられていません。今わかるのは、その部位の筋電が取れていること（自分の課題で最大・安静の 5 倍以上）までです。特に僧帽筋は、すくめの課題が肩の外転の 55% しかなく、一人のすくめで全力を出せていない可能性があります。4 か所の確認動作を足したので、次の研究室で取ります。</a:t>
            </a:r>
          </a:p>
          <a:p/>
          <a:p>
            <a:r>
              <a:t>先週直した記録中の窓は使いやすかったです。姿勢の図と説明で姿勢が分かり、休憩 10 秒で足りました。17 ステップが止まらずに通り、約 11 分でした（10-20 は 11 ステップで約 15 分）。</a:t>
            </a:r>
          </a:p>
          <a:p/>
          <a:p>
            <a:r>
              <a:t>【MVC の値】包絡線の 0.5 秒移動平均の最大。数値は予備のスライドにあります。</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最後の 3 分間、マウスを持って大きく振ったときの %MVC です。今日の MVC で割った値で、安静は引いていません。</a:t>
            </a:r>
          </a:p>
          <a:p/>
          <a:p>
            <a:r>
              <a:t>前腕の伸筋と三角筋がよく働き、3 分間ずっと 20% 台（上位 5% の値）が続きました。屈筋・二頭筋・三頭筋は、ほぼ安静と同じです。</a:t>
            </a:r>
          </a:p>
          <a:p/>
          <a:p>
            <a:r>
              <a:t>僧帽筋が 1 回だけ 118% になったのは、98 秒あたりで PC の位置を動かしたときです。ほかのセンサも 94〜97 秒あたりで最大になっています。マウス操作中は 100% を超えていません。</a:t>
            </a:r>
          </a:p>
          <a:p/>
          <a:p>
            <a:r>
              <a:t>3 分の記録で、6 本とも取りこぼしはありませんでした（386,667 サンプル）。</a:t>
            </a:r>
          </a:p>
          <a:p/>
          <a:p>
            <a:r>
              <a:t>気づいたこととして、マウスを動かすと、前腕の下側のセンサが邪魔になるかもしれません。</a:t>
            </a:r>
          </a:p>
          <a:p/>
          <a:p>
            <a:r>
              <a:t>【3 分間の %MVC：平均 / 上位 5% / 最大（0.5 秒平均）/ 安静】</a:t>
            </a:r>
          </a:p>
          <a:p>
            <a:r>
              <a:t>S1 伸筋 14 / 22 / 31 / 7</a:t>
            </a:r>
          </a:p>
          <a:p>
            <a:r>
              <a:t>S2 屈筋 3 / 4 / 16 / 3</a:t>
            </a:r>
          </a:p>
          <a:p>
            <a:r>
              <a:t>S3 三角筋 14 / 25 / 29 / 4</a:t>
            </a:r>
          </a:p>
          <a:p>
            <a:r>
              <a:t>S4 二頭筋 3 / 6 / 13 / 1</a:t>
            </a:r>
          </a:p>
          <a:p>
            <a:r>
              <a:t>S5 三頭筋 4 / 6 / 14 / 9</a:t>
            </a:r>
          </a:p>
          <a:p>
            <a:r>
              <a:t>S6 僧帽筋 10 / 24 / 118 / 2</a:t>
            </a:r>
          </a:p>
          <a:p>
            <a:r>
              <a:t>S5 は、安静（9%）のほうがマウスを振っているとき（4%）より大きいです。安静のときは、マウスを持ったまま腕を支えていたためです。</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次やることです。</a:t>
            </a:r>
          </a:p>
          <a:p/>
          <a:p>
            <a:r>
              <a:t>次の研究室で、前腕以外 4 か所の確認動作を取り、MVC が全力を取れているかを確かめます。これが済めば M1-7 が済み、M1 が完了します。M1 が済んだら、次は M2、エイム中の差が見える、です。内訳は来週確認します。</a:t>
            </a:r>
          </a:p>
          <a:p/>
          <a:p>
            <a:r>
              <a:t>同じ日に、射撃練習場で数分プレイします。6 か所とも、マウス操作中に 100 %MVC を超えないか、つまり MVC が足りているかを確かめます。あわせて、前腕の下側のセンサがマウスの動きの邪魔にならないかを確かめます。</a:t>
            </a:r>
          </a:p>
          <a:p/>
          <a:p>
            <a:r>
              <a:t>部位の確認は、今回は疑似信号でしか確かめていないので、実機で試します。</a:t>
            </a:r>
          </a:p>
          <a:p/>
          <a:p>
            <a:r>
              <a:t>エイム中のイベント（クリック・マウスの位置）を、時刻付きで記録する仕組みを作り始めます。</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まとめです。</a:t>
            </a:r>
          </a:p>
          <a:p/>
          <a:p>
            <a:r>
              <a:t>大きな目標の M1 は、6 か所の MVC と 3 分の記録を、API で、研究室に 1 回来るだけ（約 11 分）で取りきれました。残りは、前腕以外の MVC が全力かの確かめです。</a:t>
            </a:r>
          </a:p>
          <a:p/>
          <a:p>
            <a:r>
              <a:t>小さな目標は、M1-6 が済です。屈曲の確認動作は 84%、伸展は 53% で、どちらも 100% 以下でした。M1-7 は一部済です。6 か所とも MVC は取れ、窓も使えました。前腕以外は確認動作がないので、全力かは次の研究室で確かめます。</a:t>
            </a:r>
          </a:p>
          <a:p/>
          <a:p>
            <a:r>
              <a:t>次の研究室で確認動作を取り、M1 を完了させます。</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（予備）10-27 の数値です。包絡線の 0.5 秒移動平均の最大で、単位は μV です。MVC は、チャネルごとに全課題の中で最大のものです。</a:t>
            </a:r>
          </a:p>
          <a:p/>
          <a:p>
            <a:r>
              <a:t>10-27 は確認動作が手首の 2 つしかなかったので、前腕以外（S3〜S6）は、自分の課題で MVC が最大になったかと、MVC が安静の何倍か（5 倍未満なら警告）で見ています。</a:t>
            </a:r>
          </a:p>
          <a:p/>
          <a:p>
            <a:r>
              <a:t>記録は data/raw/2026-10-27/ にあります（Git 管理外）。センサと部位の対応は 10-20 と同じです（sensors.json）。手順は 17 ステップで、MVC は 6 課題を 1 周ずつ 2 周。15:20 に始めて 15:31 に終わりました。</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1666875"/>
            <a:ext cx="7772400" cy="523875"/>
          </a:xfrm>
          <a:prstGeom prst="rect">
            <a:avLst/>
          </a:prstGeom>
          <a:noFill/>
        </p:spPr>
        <p:txBody>
          <a:bodyPr wrap="square" tIns="0" rIns="0" bIns="0" lIns="0">
            <a:spAutoFit/>
          </a:bodyPr>
          <a:lstStyle/>
          <a:p>
            <a:pPr algn="l">
              <a:lnSpc>
                <a:spcPct val="120000"/>
              </a:lnSpc>
              <a:spcBef>
                <a:spcPts val="0"/>
              </a:spcBef>
              <a:spcAft>
                <a:spcPts val="0"/>
              </a:spcAft>
            </a:pPr>
            <a:r>
              <a:rPr sz="3375" b="1">
                <a:solidFill>
                  <a:srgbClr val="1A1A1A"/>
                </a:solidFill>
                <a:latin typeface="Meiryo"/>
                <a:ea typeface="Meiryo"/>
                <a:cs typeface="Meiryo"/>
              </a:rPr>
              <a:t>エイムスキル学習支援の研究</a:t>
            </a:r>
          </a:p>
        </p:txBody>
      </p:sp>
      <p:sp>
        <p:nvSpPr>
          <p:cNvPr id="3" name="TextBox 2"/>
          <p:cNvSpPr txBox="1"/>
          <p:nvPr/>
        </p:nvSpPr>
        <p:spPr>
          <a:xfrm>
            <a:off x="685800" y="2543175"/>
            <a:ext cx="7772400" cy="285750"/>
          </a:xfrm>
          <a:prstGeom prst="rect">
            <a:avLst/>
          </a:prstGeom>
          <a:noFill/>
        </p:spPr>
        <p:txBody>
          <a:bodyPr wrap="square" tIns="0" rIns="0" bIns="0" lIns="0">
            <a:spAutoFit/>
          </a:bodyPr>
          <a:lstStyle/>
          <a:p>
            <a:pPr algn="l">
              <a:lnSpc>
                <a:spcPct val="120000"/>
              </a:lnSpc>
              <a:spcBef>
                <a:spcPts val="0"/>
              </a:spcBef>
              <a:spcAft>
                <a:spcPts val="0"/>
              </a:spcAft>
            </a:pPr>
            <a:r>
              <a:rPr sz="1875" b="0">
                <a:solidFill>
                  <a:srgbClr val="6B6B6B"/>
                </a:solidFill>
                <a:latin typeface="Meiryo"/>
                <a:ea typeface="Meiryo"/>
                <a:cs typeface="Meiryo"/>
              </a:rPr>
              <a:t>進捗報告</a:t>
            </a:r>
          </a:p>
        </p:txBody>
      </p:sp>
      <p:cxnSp>
        <p:nvCxnSpPr>
          <p:cNvPr id="4" name="Connector 3"/>
          <p:cNvCxnSpPr/>
          <p:nvPr/>
        </p:nvCxnSpPr>
        <p:spPr>
          <a:xfrm>
            <a:off x="685800" y="3128962"/>
            <a:ext cx="2009775" cy="0"/>
          </a:xfrm>
          <a:prstGeom prst="line">
            <a:avLst/>
          </a:prstGeom>
          <a:ln w="9525">
            <a:solidFill>
              <a:srgbClr val="C8C8C8"/>
            </a:solidFill>
          </a:ln>
        </p:spPr>
      </p:cxnSp>
      <p:sp>
        <p:nvSpPr>
          <p:cNvPr id="5" name="TextBox 4"/>
          <p:cNvSpPr txBox="1"/>
          <p:nvPr/>
        </p:nvSpPr>
        <p:spPr>
          <a:xfrm>
            <a:off x="685800" y="3309938"/>
            <a:ext cx="7772400" cy="238125"/>
          </a:xfrm>
          <a:prstGeom prst="rect">
            <a:avLst/>
          </a:prstGeom>
          <a:noFill/>
        </p:spPr>
        <p:txBody>
          <a:bodyPr wrap="square" tIns="0" rIns="0" bIns="0" lIns="0">
            <a:spAutoFit/>
          </a:bodyPr>
          <a:lstStyle/>
          <a:p>
            <a:pPr algn="l">
              <a:lnSpc>
                <a:spcPct val="120000"/>
              </a:lnSpc>
              <a:spcBef>
                <a:spcPts val="0"/>
              </a:spcBef>
              <a:spcAft>
                <a:spcPts val="0"/>
              </a:spcAft>
            </a:pPr>
            <a:r>
              <a:rPr sz="1312" b="0">
                <a:solidFill>
                  <a:srgbClr val="6B6B6B"/>
                </a:solidFill>
                <a:latin typeface="Meiryo"/>
                <a:ea typeface="Meiryo"/>
                <a:cs typeface="Meiryo"/>
              </a:rPr>
              <a:t>2026年10月29日</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52450" y="381000"/>
            <a:ext cx="7143750" cy="476250"/>
          </a:xfrm>
          <a:prstGeom prst="rect">
            <a:avLst/>
          </a:prstGeom>
          <a:noFill/>
        </p:spPr>
        <p:txBody>
          <a:bodyPr wrap="square" tIns="0" rIns="0" bIns="0" lIns="0">
            <a:spAutoFit/>
          </a:bodyPr>
          <a:lstStyle/>
          <a:p>
            <a:pPr algn="l">
              <a:lnSpc>
                <a:spcPct val="120000"/>
              </a:lnSpc>
              <a:spcBef>
                <a:spcPts val="0"/>
              </a:spcBef>
              <a:spcAft>
                <a:spcPts val="0"/>
              </a:spcAft>
            </a:pPr>
            <a:r>
              <a:rPr sz="3000" b="1">
                <a:solidFill>
                  <a:srgbClr val="1A1A1A"/>
                </a:solidFill>
                <a:latin typeface="Meiryo"/>
                <a:ea typeface="Meiryo"/>
                <a:cs typeface="Meiryo"/>
              </a:rPr>
              <a:t>マイルストーン</a:t>
            </a:r>
          </a:p>
        </p:txBody>
      </p:sp>
      <p:sp>
        <p:nvSpPr>
          <p:cNvPr id="3" name="TextBox 2"/>
          <p:cNvSpPr txBox="1"/>
          <p:nvPr/>
        </p:nvSpPr>
        <p:spPr>
          <a:xfrm>
            <a:off x="7953375" y="476250"/>
            <a:ext cx="581025" cy="190500"/>
          </a:xfrm>
          <a:prstGeom prst="rect">
            <a:avLst/>
          </a:prstGeom>
          <a:noFill/>
        </p:spPr>
        <p:txBody>
          <a:bodyPr wrap="square" tIns="0" rIns="0" bIns="0" lIns="0">
            <a:spAutoFit/>
          </a:bodyPr>
          <a:lstStyle/>
          <a:p>
            <a:pPr algn="r">
              <a:lnSpc>
                <a:spcPct val="120000"/>
              </a:lnSpc>
              <a:spcBef>
                <a:spcPts val="0"/>
              </a:spcBef>
              <a:spcAft>
                <a:spcPts val="0"/>
              </a:spcAft>
            </a:pPr>
            <a:r>
              <a:rPr sz="1200" b="0">
                <a:solidFill>
                  <a:srgbClr val="6B6B6B"/>
                </a:solidFill>
                <a:latin typeface="Meiryo"/>
                <a:ea typeface="Meiryo"/>
                <a:cs typeface="Meiryo"/>
              </a:rPr>
              <a:t>1</a:t>
            </a:r>
          </a:p>
        </p:txBody>
      </p:sp>
      <p:cxnSp>
        <p:nvCxnSpPr>
          <p:cNvPr id="4" name="Connector 3"/>
          <p:cNvCxnSpPr/>
          <p:nvPr/>
        </p:nvCxnSpPr>
        <p:spPr>
          <a:xfrm>
            <a:off x="1000125" y="1762125"/>
            <a:ext cx="7086600" cy="0"/>
          </a:xfrm>
          <a:prstGeom prst="line">
            <a:avLst/>
          </a:prstGeom>
          <a:ln w="19050">
            <a:solidFill>
              <a:srgbClr val="C8C8C8"/>
            </a:solidFill>
          </a:ln>
        </p:spPr>
      </p:cxnSp>
      <p:sp>
        <p:nvSpPr>
          <p:cNvPr id="5" name="Rounded Rectangle 4"/>
          <p:cNvSpPr/>
          <p:nvPr/>
        </p:nvSpPr>
        <p:spPr>
          <a:xfrm>
            <a:off x="866775" y="1628775"/>
            <a:ext cx="266700" cy="266700"/>
          </a:xfrm>
          <a:prstGeom prst="roundRect">
            <a:avLst>
              <a:gd name="adj" fmla="val 50000"/>
            </a:avLst>
          </a:prstGeom>
          <a:solidFill>
            <a:srgbClr val="1F6F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66750" y="1047750"/>
            <a:ext cx="666750" cy="228600"/>
          </a:xfrm>
          <a:prstGeom prst="roundRect">
            <a:avLst>
              <a:gd name="adj" fmla="val 50000"/>
            </a:avLst>
          </a:prstGeom>
          <a:solidFill>
            <a:srgbClr val="1F6FB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0" rIns="0" bIns="0" lIns="0"/>
          <a:lstStyle/>
          <a:p>
            <a:pPr algn="ctr">
              <a:lnSpc>
                <a:spcPct val="120000"/>
              </a:lnSpc>
              <a:spcBef>
                <a:spcPts val="0"/>
              </a:spcBef>
              <a:spcAft>
                <a:spcPts val="0"/>
              </a:spcAft>
            </a:pPr>
            <a:r>
              <a:rPr sz="900" b="1">
                <a:solidFill>
                  <a:srgbClr val="FFFFFF"/>
                </a:solidFill>
                <a:latin typeface="Meiryo"/>
                <a:ea typeface="Meiryo"/>
                <a:cs typeface="Meiryo"/>
              </a:rPr>
              <a:t>今ここ</a:t>
            </a:r>
          </a:p>
        </p:txBody>
      </p:sp>
      <p:sp>
        <p:nvSpPr>
          <p:cNvPr id="7" name="TextBox 6"/>
          <p:cNvSpPr txBox="1"/>
          <p:nvPr/>
        </p:nvSpPr>
        <p:spPr>
          <a:xfrm>
            <a:off x="452438" y="1323975"/>
            <a:ext cx="1095375" cy="190500"/>
          </a:xfrm>
          <a:prstGeom prst="rect">
            <a:avLst/>
          </a:prstGeom>
          <a:noFill/>
        </p:spPr>
        <p:txBody>
          <a:bodyPr wrap="square" tIns="0" rIns="0" bIns="0" lIns="0">
            <a:spAutoFit/>
          </a:bodyPr>
          <a:lstStyle/>
          <a:p>
            <a:pPr algn="ctr">
              <a:lnSpc>
                <a:spcPct val="120000"/>
              </a:lnSpc>
              <a:spcBef>
                <a:spcPts val="0"/>
              </a:spcBef>
              <a:spcAft>
                <a:spcPts val="0"/>
              </a:spcAft>
            </a:pPr>
            <a:r>
              <a:rPr sz="1125" b="1">
                <a:solidFill>
                  <a:srgbClr val="1F6FB4"/>
                </a:solidFill>
                <a:latin typeface="Meiryo"/>
                <a:ea typeface="Meiryo"/>
                <a:cs typeface="Meiryo"/>
              </a:rPr>
              <a:t>M1</a:t>
            </a:r>
          </a:p>
        </p:txBody>
      </p:sp>
      <p:sp>
        <p:nvSpPr>
          <p:cNvPr id="8" name="TextBox 7"/>
          <p:cNvSpPr txBox="1"/>
          <p:nvPr/>
        </p:nvSpPr>
        <p:spPr>
          <a:xfrm>
            <a:off x="452438" y="1981200"/>
            <a:ext cx="1095375" cy="476250"/>
          </a:xfrm>
          <a:prstGeom prst="rect">
            <a:avLst/>
          </a:prstGeom>
          <a:noFill/>
        </p:spPr>
        <p:txBody>
          <a:bodyPr wrap="square" tIns="0" rIns="0" bIns="0" lIns="0">
            <a:spAutoFit/>
          </a:bodyPr>
          <a:lstStyle/>
          <a:p>
            <a:pPr algn="ctr">
              <a:lnSpc>
                <a:spcPct val="115000"/>
              </a:lnSpc>
              <a:spcBef>
                <a:spcPts val="0"/>
              </a:spcBef>
              <a:spcAft>
                <a:spcPts val="0"/>
              </a:spcAft>
            </a:pPr>
            <a:r>
              <a:rPr sz="1050" b="1">
                <a:solidFill>
                  <a:srgbClr val="1F6FB4"/>
                </a:solidFill>
                <a:latin typeface="Meiryo"/>
                <a:ea typeface="Meiryo"/>
                <a:cs typeface="Meiryo"/>
              </a:rPr>
              <a:t>計測系が回る</a:t>
            </a:r>
          </a:p>
        </p:txBody>
      </p:sp>
      <p:sp>
        <p:nvSpPr>
          <p:cNvPr id="9" name="Rounded Rectangle 8"/>
          <p:cNvSpPr/>
          <p:nvPr/>
        </p:nvSpPr>
        <p:spPr>
          <a:xfrm>
            <a:off x="2047875" y="1628775"/>
            <a:ext cx="266700" cy="266700"/>
          </a:xfrm>
          <a:prstGeom prst="roundRect">
            <a:avLst>
              <a:gd name="adj" fmla="val 50000"/>
            </a:avLst>
          </a:prstGeom>
          <a:solidFill>
            <a:srgbClr val="FFFFFF"/>
          </a:solidFill>
          <a:ln w="14287">
            <a:solidFill>
              <a:srgbClr val="C8C8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33538" y="1323975"/>
            <a:ext cx="1095375" cy="190500"/>
          </a:xfrm>
          <a:prstGeom prst="rect">
            <a:avLst/>
          </a:prstGeom>
          <a:noFill/>
        </p:spPr>
        <p:txBody>
          <a:bodyPr wrap="square" tIns="0" rIns="0" bIns="0" lIns="0">
            <a:spAutoFit/>
          </a:bodyPr>
          <a:lstStyle/>
          <a:p>
            <a:pPr algn="ctr">
              <a:lnSpc>
                <a:spcPct val="120000"/>
              </a:lnSpc>
              <a:spcBef>
                <a:spcPts val="0"/>
              </a:spcBef>
              <a:spcAft>
                <a:spcPts val="0"/>
              </a:spcAft>
            </a:pPr>
            <a:r>
              <a:rPr sz="1125" b="1">
                <a:solidFill>
                  <a:srgbClr val="1A1A1A"/>
                </a:solidFill>
                <a:latin typeface="Meiryo"/>
                <a:ea typeface="Meiryo"/>
                <a:cs typeface="Meiryo"/>
              </a:rPr>
              <a:t>M2</a:t>
            </a:r>
          </a:p>
        </p:txBody>
      </p:sp>
      <p:sp>
        <p:nvSpPr>
          <p:cNvPr id="11" name="TextBox 10"/>
          <p:cNvSpPr txBox="1"/>
          <p:nvPr/>
        </p:nvSpPr>
        <p:spPr>
          <a:xfrm>
            <a:off x="1633538" y="1981200"/>
            <a:ext cx="1095375" cy="476250"/>
          </a:xfrm>
          <a:prstGeom prst="rect">
            <a:avLst/>
          </a:prstGeom>
          <a:noFill/>
        </p:spPr>
        <p:txBody>
          <a:bodyPr wrap="square" tIns="0" rIns="0" bIns="0" lIns="0">
            <a:spAutoFit/>
          </a:bodyPr>
          <a:lstStyle/>
          <a:p>
            <a:pPr algn="ctr">
              <a:lnSpc>
                <a:spcPct val="115000"/>
              </a:lnSpc>
              <a:spcBef>
                <a:spcPts val="0"/>
              </a:spcBef>
              <a:spcAft>
                <a:spcPts val="0"/>
              </a:spcAft>
            </a:pPr>
            <a:r>
              <a:rPr sz="1050" b="1">
                <a:solidFill>
                  <a:srgbClr val="1A1A1A"/>
                </a:solidFill>
                <a:latin typeface="Meiryo"/>
                <a:ea typeface="Meiryo"/>
                <a:cs typeface="Meiryo"/>
              </a:rPr>
              <a:t>エイム中の
差が見える</a:t>
            </a:r>
          </a:p>
        </p:txBody>
      </p:sp>
      <p:sp>
        <p:nvSpPr>
          <p:cNvPr id="12" name="Rounded Rectangle 11"/>
          <p:cNvSpPr/>
          <p:nvPr/>
        </p:nvSpPr>
        <p:spPr>
          <a:xfrm>
            <a:off x="3228975" y="1628775"/>
            <a:ext cx="266700" cy="266700"/>
          </a:xfrm>
          <a:prstGeom prst="roundRect">
            <a:avLst>
              <a:gd name="adj" fmla="val 50000"/>
            </a:avLst>
          </a:prstGeom>
          <a:solidFill>
            <a:srgbClr val="FFFFFF"/>
          </a:solidFill>
          <a:ln w="14287">
            <a:solidFill>
              <a:srgbClr val="C8C8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814638" y="1323975"/>
            <a:ext cx="1095375" cy="190500"/>
          </a:xfrm>
          <a:prstGeom prst="rect">
            <a:avLst/>
          </a:prstGeom>
          <a:noFill/>
        </p:spPr>
        <p:txBody>
          <a:bodyPr wrap="square" tIns="0" rIns="0" bIns="0" lIns="0">
            <a:spAutoFit/>
          </a:bodyPr>
          <a:lstStyle/>
          <a:p>
            <a:pPr algn="ctr">
              <a:lnSpc>
                <a:spcPct val="120000"/>
              </a:lnSpc>
              <a:spcBef>
                <a:spcPts val="0"/>
              </a:spcBef>
              <a:spcAft>
                <a:spcPts val="0"/>
              </a:spcAft>
            </a:pPr>
            <a:r>
              <a:rPr sz="1125" b="1">
                <a:solidFill>
                  <a:srgbClr val="1A1A1A"/>
                </a:solidFill>
                <a:latin typeface="Meiryo"/>
                <a:ea typeface="Meiryo"/>
                <a:cs typeface="Meiryo"/>
              </a:rPr>
              <a:t>M3</a:t>
            </a:r>
          </a:p>
        </p:txBody>
      </p:sp>
      <p:sp>
        <p:nvSpPr>
          <p:cNvPr id="14" name="TextBox 13"/>
          <p:cNvSpPr txBox="1"/>
          <p:nvPr/>
        </p:nvSpPr>
        <p:spPr>
          <a:xfrm>
            <a:off x="2814638" y="1981200"/>
            <a:ext cx="1095375" cy="476250"/>
          </a:xfrm>
          <a:prstGeom prst="rect">
            <a:avLst/>
          </a:prstGeom>
          <a:noFill/>
        </p:spPr>
        <p:txBody>
          <a:bodyPr wrap="square" tIns="0" rIns="0" bIns="0" lIns="0">
            <a:spAutoFit/>
          </a:bodyPr>
          <a:lstStyle/>
          <a:p>
            <a:pPr algn="ctr">
              <a:lnSpc>
                <a:spcPct val="115000"/>
              </a:lnSpc>
              <a:spcBef>
                <a:spcPts val="0"/>
              </a:spcBef>
              <a:spcAft>
                <a:spcPts val="0"/>
              </a:spcAft>
            </a:pPr>
            <a:r>
              <a:rPr sz="1050" b="1">
                <a:solidFill>
                  <a:srgbClr val="1A1A1A"/>
                </a:solidFill>
                <a:latin typeface="Meiryo"/>
                <a:ea typeface="Meiryo"/>
                <a:cs typeface="Meiryo"/>
              </a:rPr>
              <a:t>日をまたいで
比べられる</a:t>
            </a:r>
          </a:p>
        </p:txBody>
      </p:sp>
      <p:sp>
        <p:nvSpPr>
          <p:cNvPr id="15" name="Rounded Rectangle 14"/>
          <p:cNvSpPr/>
          <p:nvPr/>
        </p:nvSpPr>
        <p:spPr>
          <a:xfrm>
            <a:off x="4410075" y="1628775"/>
            <a:ext cx="266700" cy="266700"/>
          </a:xfrm>
          <a:prstGeom prst="roundRect">
            <a:avLst>
              <a:gd name="adj" fmla="val 50000"/>
            </a:avLst>
          </a:prstGeom>
          <a:solidFill>
            <a:srgbClr val="FFFFFF"/>
          </a:solidFill>
          <a:ln w="14287">
            <a:solidFill>
              <a:srgbClr val="C8C8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995738" y="1323975"/>
            <a:ext cx="1095375" cy="190500"/>
          </a:xfrm>
          <a:prstGeom prst="rect">
            <a:avLst/>
          </a:prstGeom>
          <a:noFill/>
        </p:spPr>
        <p:txBody>
          <a:bodyPr wrap="square" tIns="0" rIns="0" bIns="0" lIns="0">
            <a:spAutoFit/>
          </a:bodyPr>
          <a:lstStyle/>
          <a:p>
            <a:pPr algn="ctr">
              <a:lnSpc>
                <a:spcPct val="120000"/>
              </a:lnSpc>
              <a:spcBef>
                <a:spcPts val="0"/>
              </a:spcBef>
              <a:spcAft>
                <a:spcPts val="0"/>
              </a:spcAft>
            </a:pPr>
            <a:r>
              <a:rPr sz="1125" b="1">
                <a:solidFill>
                  <a:srgbClr val="1A1A1A"/>
                </a:solidFill>
                <a:latin typeface="Meiryo"/>
                <a:ea typeface="Meiryo"/>
                <a:cs typeface="Meiryo"/>
              </a:rPr>
              <a:t>M4</a:t>
            </a:r>
          </a:p>
        </p:txBody>
      </p:sp>
      <p:sp>
        <p:nvSpPr>
          <p:cNvPr id="17" name="TextBox 16"/>
          <p:cNvSpPr txBox="1"/>
          <p:nvPr/>
        </p:nvSpPr>
        <p:spPr>
          <a:xfrm>
            <a:off x="3995738" y="1981200"/>
            <a:ext cx="1095375" cy="476250"/>
          </a:xfrm>
          <a:prstGeom prst="rect">
            <a:avLst/>
          </a:prstGeom>
          <a:noFill/>
        </p:spPr>
        <p:txBody>
          <a:bodyPr wrap="square" tIns="0" rIns="0" bIns="0" lIns="0">
            <a:spAutoFit/>
          </a:bodyPr>
          <a:lstStyle/>
          <a:p>
            <a:pPr algn="ctr">
              <a:lnSpc>
                <a:spcPct val="115000"/>
              </a:lnSpc>
              <a:spcBef>
                <a:spcPts val="0"/>
              </a:spcBef>
              <a:spcAft>
                <a:spcPts val="0"/>
              </a:spcAft>
            </a:pPr>
            <a:r>
              <a:rPr sz="1050" b="1">
                <a:solidFill>
                  <a:srgbClr val="1A1A1A"/>
                </a:solidFill>
                <a:latin typeface="Meiryo"/>
                <a:ea typeface="Meiryo"/>
                <a:cs typeface="Meiryo"/>
              </a:rPr>
              <a:t>実験1 の
設計が決まる</a:t>
            </a:r>
          </a:p>
        </p:txBody>
      </p:sp>
      <p:sp>
        <p:nvSpPr>
          <p:cNvPr id="18" name="Rounded Rectangle 17"/>
          <p:cNvSpPr/>
          <p:nvPr/>
        </p:nvSpPr>
        <p:spPr>
          <a:xfrm>
            <a:off x="5591175" y="1628775"/>
            <a:ext cx="266700" cy="266700"/>
          </a:xfrm>
          <a:prstGeom prst="roundRect">
            <a:avLst>
              <a:gd name="adj" fmla="val 50000"/>
            </a:avLst>
          </a:prstGeom>
          <a:solidFill>
            <a:srgbClr val="FFFFFF"/>
          </a:solidFill>
          <a:ln w="14287">
            <a:solidFill>
              <a:srgbClr val="C8C8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176838" y="1323975"/>
            <a:ext cx="1095375" cy="190500"/>
          </a:xfrm>
          <a:prstGeom prst="rect">
            <a:avLst/>
          </a:prstGeom>
          <a:noFill/>
        </p:spPr>
        <p:txBody>
          <a:bodyPr wrap="square" tIns="0" rIns="0" bIns="0" lIns="0">
            <a:spAutoFit/>
          </a:bodyPr>
          <a:lstStyle/>
          <a:p>
            <a:pPr algn="ctr">
              <a:lnSpc>
                <a:spcPct val="120000"/>
              </a:lnSpc>
              <a:spcBef>
                <a:spcPts val="0"/>
              </a:spcBef>
              <a:spcAft>
                <a:spcPts val="0"/>
              </a:spcAft>
            </a:pPr>
            <a:r>
              <a:rPr sz="1125" b="1">
                <a:solidFill>
                  <a:srgbClr val="1A1A1A"/>
                </a:solidFill>
                <a:latin typeface="Meiryo"/>
                <a:ea typeface="Meiryo"/>
                <a:cs typeface="Meiryo"/>
              </a:rPr>
              <a:t>M5</a:t>
            </a:r>
          </a:p>
        </p:txBody>
      </p:sp>
      <p:sp>
        <p:nvSpPr>
          <p:cNvPr id="20" name="TextBox 19"/>
          <p:cNvSpPr txBox="1"/>
          <p:nvPr/>
        </p:nvSpPr>
        <p:spPr>
          <a:xfrm>
            <a:off x="5176838" y="1981200"/>
            <a:ext cx="1095375" cy="476250"/>
          </a:xfrm>
          <a:prstGeom prst="rect">
            <a:avLst/>
          </a:prstGeom>
          <a:noFill/>
        </p:spPr>
        <p:txBody>
          <a:bodyPr wrap="square" tIns="0" rIns="0" bIns="0" lIns="0">
            <a:spAutoFit/>
          </a:bodyPr>
          <a:lstStyle/>
          <a:p>
            <a:pPr algn="ctr">
              <a:lnSpc>
                <a:spcPct val="115000"/>
              </a:lnSpc>
              <a:spcBef>
                <a:spcPts val="0"/>
              </a:spcBef>
              <a:spcAft>
                <a:spcPts val="0"/>
              </a:spcAft>
            </a:pPr>
            <a:r>
              <a:rPr sz="1050" b="1">
                <a:solidFill>
                  <a:srgbClr val="1A1A1A"/>
                </a:solidFill>
                <a:latin typeface="Meiryo"/>
                <a:ea typeface="Meiryo"/>
                <a:cs typeface="Meiryo"/>
              </a:rPr>
              <a:t>実験1 が
終わる</a:t>
            </a:r>
          </a:p>
        </p:txBody>
      </p:sp>
      <p:sp>
        <p:nvSpPr>
          <p:cNvPr id="21" name="Rounded Rectangle 20"/>
          <p:cNvSpPr/>
          <p:nvPr/>
        </p:nvSpPr>
        <p:spPr>
          <a:xfrm>
            <a:off x="6772275" y="1628775"/>
            <a:ext cx="266700" cy="266700"/>
          </a:xfrm>
          <a:prstGeom prst="roundRect">
            <a:avLst>
              <a:gd name="adj" fmla="val 50000"/>
            </a:avLst>
          </a:prstGeom>
          <a:solidFill>
            <a:srgbClr val="FFFFFF"/>
          </a:solidFill>
          <a:ln w="14287">
            <a:solidFill>
              <a:srgbClr val="C8C8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57938" y="1323975"/>
            <a:ext cx="1095375" cy="190500"/>
          </a:xfrm>
          <a:prstGeom prst="rect">
            <a:avLst/>
          </a:prstGeom>
          <a:noFill/>
        </p:spPr>
        <p:txBody>
          <a:bodyPr wrap="square" tIns="0" rIns="0" bIns="0" lIns="0">
            <a:spAutoFit/>
          </a:bodyPr>
          <a:lstStyle/>
          <a:p>
            <a:pPr algn="ctr">
              <a:lnSpc>
                <a:spcPct val="120000"/>
              </a:lnSpc>
              <a:spcBef>
                <a:spcPts val="0"/>
              </a:spcBef>
              <a:spcAft>
                <a:spcPts val="0"/>
              </a:spcAft>
            </a:pPr>
            <a:r>
              <a:rPr sz="1125" b="1">
                <a:solidFill>
                  <a:srgbClr val="1A1A1A"/>
                </a:solidFill>
                <a:latin typeface="Meiryo"/>
                <a:ea typeface="Meiryo"/>
                <a:cs typeface="Meiryo"/>
              </a:rPr>
              <a:t>M6</a:t>
            </a:r>
          </a:p>
        </p:txBody>
      </p:sp>
      <p:sp>
        <p:nvSpPr>
          <p:cNvPr id="23" name="TextBox 22"/>
          <p:cNvSpPr txBox="1"/>
          <p:nvPr/>
        </p:nvSpPr>
        <p:spPr>
          <a:xfrm>
            <a:off x="6357938" y="1981200"/>
            <a:ext cx="1095375" cy="476250"/>
          </a:xfrm>
          <a:prstGeom prst="rect">
            <a:avLst/>
          </a:prstGeom>
          <a:noFill/>
        </p:spPr>
        <p:txBody>
          <a:bodyPr wrap="square" tIns="0" rIns="0" bIns="0" lIns="0">
            <a:spAutoFit/>
          </a:bodyPr>
          <a:lstStyle/>
          <a:p>
            <a:pPr algn="ctr">
              <a:lnSpc>
                <a:spcPct val="115000"/>
              </a:lnSpc>
              <a:spcBef>
                <a:spcPts val="0"/>
              </a:spcBef>
              <a:spcAft>
                <a:spcPts val="0"/>
              </a:spcAft>
            </a:pPr>
            <a:r>
              <a:rPr sz="1050" b="1">
                <a:solidFill>
                  <a:srgbClr val="1A1A1A"/>
                </a:solidFill>
                <a:latin typeface="Meiryo"/>
                <a:ea typeface="Meiryo"/>
                <a:cs typeface="Meiryo"/>
              </a:rPr>
              <a:t>修論の
下書き</a:t>
            </a:r>
          </a:p>
        </p:txBody>
      </p:sp>
      <p:sp>
        <p:nvSpPr>
          <p:cNvPr id="24" name="Rounded Rectangle 23"/>
          <p:cNvSpPr/>
          <p:nvPr/>
        </p:nvSpPr>
        <p:spPr>
          <a:xfrm>
            <a:off x="7953375" y="1628775"/>
            <a:ext cx="266700" cy="266700"/>
          </a:xfrm>
          <a:prstGeom prst="roundRect">
            <a:avLst>
              <a:gd name="adj" fmla="val 50000"/>
            </a:avLst>
          </a:prstGeom>
          <a:solidFill>
            <a:srgbClr val="FFFFFF"/>
          </a:solidFill>
          <a:ln w="14287">
            <a:solidFill>
              <a:srgbClr val="C8C8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539038" y="1323975"/>
            <a:ext cx="1095375" cy="190500"/>
          </a:xfrm>
          <a:prstGeom prst="rect">
            <a:avLst/>
          </a:prstGeom>
          <a:noFill/>
        </p:spPr>
        <p:txBody>
          <a:bodyPr wrap="square" tIns="0" rIns="0" bIns="0" lIns="0">
            <a:spAutoFit/>
          </a:bodyPr>
          <a:lstStyle/>
          <a:p>
            <a:pPr algn="ctr">
              <a:lnSpc>
                <a:spcPct val="120000"/>
              </a:lnSpc>
              <a:spcBef>
                <a:spcPts val="0"/>
              </a:spcBef>
              <a:spcAft>
                <a:spcPts val="0"/>
              </a:spcAft>
            </a:pPr>
            <a:r>
              <a:rPr sz="1125" b="1">
                <a:solidFill>
                  <a:srgbClr val="1A1A1A"/>
                </a:solidFill>
                <a:latin typeface="Meiryo"/>
                <a:ea typeface="Meiryo"/>
                <a:cs typeface="Meiryo"/>
              </a:rPr>
              <a:t>M7</a:t>
            </a:r>
          </a:p>
        </p:txBody>
      </p:sp>
      <p:sp>
        <p:nvSpPr>
          <p:cNvPr id="26" name="TextBox 25"/>
          <p:cNvSpPr txBox="1"/>
          <p:nvPr/>
        </p:nvSpPr>
        <p:spPr>
          <a:xfrm>
            <a:off x="7539038" y="1981200"/>
            <a:ext cx="1095375" cy="476250"/>
          </a:xfrm>
          <a:prstGeom prst="rect">
            <a:avLst/>
          </a:prstGeom>
          <a:noFill/>
        </p:spPr>
        <p:txBody>
          <a:bodyPr wrap="square" tIns="0" rIns="0" bIns="0" lIns="0">
            <a:spAutoFit/>
          </a:bodyPr>
          <a:lstStyle/>
          <a:p>
            <a:pPr algn="ctr">
              <a:lnSpc>
                <a:spcPct val="115000"/>
              </a:lnSpc>
              <a:spcBef>
                <a:spcPts val="0"/>
              </a:spcBef>
              <a:spcAft>
                <a:spcPts val="0"/>
              </a:spcAft>
            </a:pPr>
            <a:r>
              <a:rPr sz="1050" b="1">
                <a:solidFill>
                  <a:srgbClr val="1A1A1A"/>
                </a:solidFill>
                <a:latin typeface="Meiryo"/>
                <a:ea typeface="Meiryo"/>
                <a:cs typeface="Meiryo"/>
              </a:rPr>
              <a:t>修論の提出</a:t>
            </a:r>
          </a:p>
        </p:txBody>
      </p:sp>
      <p:sp>
        <p:nvSpPr>
          <p:cNvPr id="27" name="Rounded Rectangle 26"/>
          <p:cNvSpPr/>
          <p:nvPr/>
        </p:nvSpPr>
        <p:spPr>
          <a:xfrm>
            <a:off x="552450" y="2619375"/>
            <a:ext cx="7981950" cy="2000250"/>
          </a:xfrm>
          <a:prstGeom prst="roundRect">
            <a:avLst>
              <a:gd name="adj" fmla="val 2857"/>
            </a:avLst>
          </a:prstGeom>
          <a:solidFill>
            <a:srgbClr val="E8F0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42950" y="2724150"/>
            <a:ext cx="7600950" cy="238125"/>
          </a:xfrm>
          <a:prstGeom prst="rect">
            <a:avLst/>
          </a:prstGeom>
          <a:noFill/>
        </p:spPr>
        <p:txBody>
          <a:bodyPr wrap="square" tIns="0" rIns="0" bIns="0" lIns="0">
            <a:spAutoFit/>
          </a:bodyPr>
          <a:lstStyle/>
          <a:p>
            <a:pPr algn="l">
              <a:lnSpc>
                <a:spcPct val="120000"/>
              </a:lnSpc>
              <a:spcBef>
                <a:spcPts val="0"/>
              </a:spcBef>
              <a:spcAft>
                <a:spcPts val="0"/>
              </a:spcAft>
            </a:pPr>
            <a:r>
              <a:rPr sz="1200" b="1">
                <a:solidFill>
                  <a:srgbClr val="1F4E79"/>
                </a:solidFill>
                <a:latin typeface="Meiryo"/>
                <a:ea typeface="Meiryo"/>
                <a:cs typeface="Meiryo"/>
              </a:rPr>
              <a:t>M1　計測系が回るの内訳（始まりから完了まで）</a:t>
            </a:r>
          </a:p>
        </p:txBody>
      </p:sp>
      <p:cxnSp>
        <p:nvCxnSpPr>
          <p:cNvPr id="29" name="Connector 28"/>
          <p:cNvCxnSpPr/>
          <p:nvPr/>
        </p:nvCxnSpPr>
        <p:spPr>
          <a:xfrm>
            <a:off x="742950" y="3228975"/>
            <a:ext cx="5393871" cy="0"/>
          </a:xfrm>
          <a:prstGeom prst="line">
            <a:avLst/>
          </a:prstGeom>
          <a:ln w="14287">
            <a:solidFill>
              <a:srgbClr val="6B6B6B"/>
            </a:solidFill>
          </a:ln>
        </p:spPr>
      </p:cxnSp>
      <p:sp>
        <p:nvSpPr>
          <p:cNvPr id="30" name="TextBox 29"/>
          <p:cNvSpPr txBox="1"/>
          <p:nvPr/>
        </p:nvSpPr>
        <p:spPr>
          <a:xfrm>
            <a:off x="742950" y="3000375"/>
            <a:ext cx="5393871" cy="190500"/>
          </a:xfrm>
          <a:prstGeom prst="rect">
            <a:avLst/>
          </a:prstGeom>
          <a:noFill/>
        </p:spPr>
        <p:txBody>
          <a:bodyPr wrap="square" tIns="0" rIns="0" bIns="0" lIns="0">
            <a:spAutoFit/>
          </a:bodyPr>
          <a:lstStyle/>
          <a:p>
            <a:pPr algn="ctr">
              <a:lnSpc>
                <a:spcPct val="120000"/>
              </a:lnSpc>
              <a:spcBef>
                <a:spcPts val="0"/>
              </a:spcBef>
              <a:spcAft>
                <a:spcPts val="0"/>
              </a:spcAft>
            </a:pPr>
            <a:r>
              <a:rPr sz="900" b="1">
                <a:solidFill>
                  <a:srgbClr val="6B6B6B"/>
                </a:solidFill>
                <a:latin typeface="Meiryo"/>
                <a:ea typeface="Meiryo"/>
                <a:cs typeface="Meiryo"/>
              </a:rPr>
              <a:t>先週まで</a:t>
            </a:r>
          </a:p>
        </p:txBody>
      </p:sp>
      <p:cxnSp>
        <p:nvCxnSpPr>
          <p:cNvPr id="31" name="Connector 30"/>
          <p:cNvCxnSpPr/>
          <p:nvPr/>
        </p:nvCxnSpPr>
        <p:spPr>
          <a:xfrm>
            <a:off x="6260646" y="3228975"/>
            <a:ext cx="2083254" cy="0"/>
          </a:xfrm>
          <a:prstGeom prst="line">
            <a:avLst/>
          </a:prstGeom>
          <a:ln w="14287">
            <a:solidFill>
              <a:srgbClr val="1F6FB4"/>
            </a:solidFill>
          </a:ln>
        </p:spPr>
      </p:cxnSp>
      <p:sp>
        <p:nvSpPr>
          <p:cNvPr id="32" name="TextBox 31"/>
          <p:cNvSpPr txBox="1"/>
          <p:nvPr/>
        </p:nvSpPr>
        <p:spPr>
          <a:xfrm>
            <a:off x="6260646" y="3000375"/>
            <a:ext cx="2083254" cy="190500"/>
          </a:xfrm>
          <a:prstGeom prst="rect">
            <a:avLst/>
          </a:prstGeom>
          <a:noFill/>
        </p:spPr>
        <p:txBody>
          <a:bodyPr wrap="square" tIns="0" rIns="0" bIns="0" lIns="0">
            <a:spAutoFit/>
          </a:bodyPr>
          <a:lstStyle/>
          <a:p>
            <a:pPr algn="ctr">
              <a:lnSpc>
                <a:spcPct val="120000"/>
              </a:lnSpc>
              <a:spcBef>
                <a:spcPts val="0"/>
              </a:spcBef>
              <a:spcAft>
                <a:spcPts val="0"/>
              </a:spcAft>
            </a:pPr>
            <a:r>
              <a:rPr sz="900" b="1">
                <a:solidFill>
                  <a:srgbClr val="1F6FB4"/>
                </a:solidFill>
                <a:latin typeface="Meiryo"/>
                <a:ea typeface="Meiryo"/>
                <a:cs typeface="Meiryo"/>
              </a:rPr>
              <a:t>今週</a:t>
            </a:r>
          </a:p>
        </p:txBody>
      </p:sp>
      <p:sp>
        <p:nvSpPr>
          <p:cNvPr id="33" name="Rounded Rectangle 32"/>
          <p:cNvSpPr/>
          <p:nvPr/>
        </p:nvSpPr>
        <p:spPr>
          <a:xfrm>
            <a:off x="742950" y="3333750"/>
            <a:ext cx="979714" cy="1095375"/>
          </a:xfrm>
          <a:prstGeom prst="roundRect">
            <a:avLst>
              <a:gd name="adj" fmla="val 5833"/>
            </a:avLst>
          </a:prstGeom>
          <a:solidFill>
            <a:srgbClr val="F4F4F4"/>
          </a:solidFill>
          <a:ln w="9525">
            <a:solidFill>
              <a:srgbClr val="C8C8C8"/>
            </a:solidFill>
          </a:ln>
          <a:effectLst/>
        </p:spPr>
        <p:style>
          <a:lnRef idx="1">
            <a:schemeClr val="accent1"/>
          </a:lnRef>
          <a:fillRef idx="3">
            <a:schemeClr val="accent1"/>
          </a:fillRef>
          <a:effectRef idx="2">
            <a:schemeClr val="accent1"/>
          </a:effectRef>
          <a:fontRef idx="minor">
            <a:schemeClr val="lt1"/>
          </a:fontRef>
        </p:style>
        <p:txBody>
          <a:bodyPr rtlCol="0" anchor="t" wrap="square" tIns="85725" rIns="57150" bIns="66675" lIns="57150"/>
          <a:lstStyle/>
          <a:p>
            <a:pPr algn="l">
              <a:lnSpc>
                <a:spcPct val="120000"/>
              </a:lnSpc>
              <a:spcBef>
                <a:spcPts val="0"/>
              </a:spcBef>
              <a:spcAft>
                <a:spcPts val="300"/>
              </a:spcAft>
            </a:pPr>
            <a:r>
              <a:rPr sz="825" b="1">
                <a:solidFill>
                  <a:srgbClr val="6B6B6B"/>
                </a:solidFill>
                <a:latin typeface="Meiryo"/>
                <a:ea typeface="Meiryo"/>
                <a:cs typeface="Meiryo"/>
              </a:rPr>
              <a:t>M1-1</a:t>
            </a:r>
          </a:p>
          <a:p>
            <a:pPr algn="l">
              <a:lnSpc>
                <a:spcPct val="120000"/>
              </a:lnSpc>
              <a:spcBef>
                <a:spcPts val="0"/>
              </a:spcBef>
              <a:spcAft>
                <a:spcPts val="0"/>
              </a:spcAft>
            </a:pPr>
            <a:r>
              <a:rPr sz="862" b="1">
                <a:solidFill>
                  <a:srgbClr val="6B6B6B"/>
                </a:solidFill>
                <a:latin typeface="Meiryo"/>
                <a:ea typeface="Meiryo"/>
                <a:cs typeface="Meiryo"/>
              </a:rPr>
              <a:t>筋電を
MVC で正規化</a:t>
            </a:r>
          </a:p>
        </p:txBody>
      </p:sp>
      <p:sp>
        <p:nvSpPr>
          <p:cNvPr id="34" name="TextBox 33"/>
          <p:cNvSpPr txBox="1"/>
          <p:nvPr/>
        </p:nvSpPr>
        <p:spPr>
          <a:xfrm>
            <a:off x="742950" y="4181475"/>
            <a:ext cx="979714" cy="190500"/>
          </a:xfrm>
          <a:prstGeom prst="rect">
            <a:avLst/>
          </a:prstGeom>
          <a:noFill/>
        </p:spPr>
        <p:txBody>
          <a:bodyPr wrap="square" tIns="0" rIns="0" bIns="0" lIns="0">
            <a:spAutoFit/>
          </a:bodyPr>
          <a:lstStyle/>
          <a:p>
            <a:pPr algn="ctr">
              <a:lnSpc>
                <a:spcPct val="120000"/>
              </a:lnSpc>
              <a:spcBef>
                <a:spcPts val="0"/>
              </a:spcBef>
              <a:spcAft>
                <a:spcPts val="0"/>
              </a:spcAft>
            </a:pPr>
            <a:r>
              <a:rPr sz="900" b="1">
                <a:solidFill>
                  <a:srgbClr val="6B6B6B"/>
                </a:solidFill>
                <a:latin typeface="Meiryo"/>
                <a:ea typeface="Meiryo"/>
                <a:cs typeface="Meiryo"/>
              </a:rPr>
              <a:t>済</a:t>
            </a:r>
          </a:p>
        </p:txBody>
      </p:sp>
      <p:cxnSp>
        <p:nvCxnSpPr>
          <p:cNvPr id="35" name="Connector 34"/>
          <p:cNvCxnSpPr/>
          <p:nvPr/>
        </p:nvCxnSpPr>
        <p:spPr>
          <a:xfrm>
            <a:off x="1732189" y="3881438"/>
            <a:ext cx="104775" cy="0"/>
          </a:xfrm>
          <a:prstGeom prst="line">
            <a:avLst/>
          </a:prstGeom>
          <a:ln w="14287">
            <a:solidFill>
              <a:srgbClr val="6B6B6B"/>
            </a:solidFill>
            <a:tailEnd type="triangle" w="med" len="med"/>
          </a:ln>
        </p:spPr>
      </p:cxnSp>
      <p:sp>
        <p:nvSpPr>
          <p:cNvPr id="36" name="Rounded Rectangle 35"/>
          <p:cNvSpPr/>
          <p:nvPr/>
        </p:nvSpPr>
        <p:spPr>
          <a:xfrm>
            <a:off x="1846489" y="3333750"/>
            <a:ext cx="979714" cy="1095375"/>
          </a:xfrm>
          <a:prstGeom prst="roundRect">
            <a:avLst>
              <a:gd name="adj" fmla="val 5833"/>
            </a:avLst>
          </a:prstGeom>
          <a:solidFill>
            <a:srgbClr val="F4F4F4"/>
          </a:solidFill>
          <a:ln w="9525">
            <a:solidFill>
              <a:srgbClr val="C8C8C8"/>
            </a:solidFill>
          </a:ln>
          <a:effectLst/>
        </p:spPr>
        <p:style>
          <a:lnRef idx="1">
            <a:schemeClr val="accent1"/>
          </a:lnRef>
          <a:fillRef idx="3">
            <a:schemeClr val="accent1"/>
          </a:fillRef>
          <a:effectRef idx="2">
            <a:schemeClr val="accent1"/>
          </a:effectRef>
          <a:fontRef idx="minor">
            <a:schemeClr val="lt1"/>
          </a:fontRef>
        </p:style>
        <p:txBody>
          <a:bodyPr rtlCol="0" anchor="t" wrap="square" tIns="85725" rIns="57150" bIns="66675" lIns="57150"/>
          <a:lstStyle/>
          <a:p>
            <a:pPr algn="l">
              <a:lnSpc>
                <a:spcPct val="120000"/>
              </a:lnSpc>
              <a:spcBef>
                <a:spcPts val="0"/>
              </a:spcBef>
              <a:spcAft>
                <a:spcPts val="300"/>
              </a:spcAft>
            </a:pPr>
            <a:r>
              <a:rPr sz="825" b="1">
                <a:solidFill>
                  <a:srgbClr val="6B6B6B"/>
                </a:solidFill>
                <a:latin typeface="Meiryo"/>
                <a:ea typeface="Meiryo"/>
                <a:cs typeface="Meiryo"/>
              </a:rPr>
              <a:t>M1-2</a:t>
            </a:r>
          </a:p>
          <a:p>
            <a:pPr algn="l">
              <a:lnSpc>
                <a:spcPct val="120000"/>
              </a:lnSpc>
              <a:spcBef>
                <a:spcPts val="0"/>
              </a:spcBef>
              <a:spcAft>
                <a:spcPts val="0"/>
              </a:spcAft>
            </a:pPr>
            <a:r>
              <a:rPr sz="862" b="1">
                <a:solidFill>
                  <a:srgbClr val="6B6B6B"/>
                </a:solidFill>
                <a:latin typeface="Meiryo"/>
                <a:ea typeface="Meiryo"/>
                <a:cs typeface="Meiryo"/>
              </a:rPr>
              <a:t>伸展の MVC の
取り方</a:t>
            </a:r>
          </a:p>
        </p:txBody>
      </p:sp>
      <p:sp>
        <p:nvSpPr>
          <p:cNvPr id="37" name="TextBox 36"/>
          <p:cNvSpPr txBox="1"/>
          <p:nvPr/>
        </p:nvSpPr>
        <p:spPr>
          <a:xfrm>
            <a:off x="1846489" y="4181475"/>
            <a:ext cx="979714" cy="190500"/>
          </a:xfrm>
          <a:prstGeom prst="rect">
            <a:avLst/>
          </a:prstGeom>
          <a:noFill/>
        </p:spPr>
        <p:txBody>
          <a:bodyPr wrap="square" tIns="0" rIns="0" bIns="0" lIns="0">
            <a:spAutoFit/>
          </a:bodyPr>
          <a:lstStyle/>
          <a:p>
            <a:pPr algn="ctr">
              <a:lnSpc>
                <a:spcPct val="120000"/>
              </a:lnSpc>
              <a:spcBef>
                <a:spcPts val="0"/>
              </a:spcBef>
              <a:spcAft>
                <a:spcPts val="0"/>
              </a:spcAft>
            </a:pPr>
            <a:r>
              <a:rPr sz="900" b="1">
                <a:solidFill>
                  <a:srgbClr val="6B6B6B"/>
                </a:solidFill>
                <a:latin typeface="Meiryo"/>
                <a:ea typeface="Meiryo"/>
                <a:cs typeface="Meiryo"/>
              </a:rPr>
              <a:t>済</a:t>
            </a:r>
          </a:p>
        </p:txBody>
      </p:sp>
      <p:cxnSp>
        <p:nvCxnSpPr>
          <p:cNvPr id="38" name="Connector 37"/>
          <p:cNvCxnSpPr/>
          <p:nvPr/>
        </p:nvCxnSpPr>
        <p:spPr>
          <a:xfrm>
            <a:off x="2835729" y="3881438"/>
            <a:ext cx="104775" cy="0"/>
          </a:xfrm>
          <a:prstGeom prst="line">
            <a:avLst/>
          </a:prstGeom>
          <a:ln w="14287">
            <a:solidFill>
              <a:srgbClr val="6B6B6B"/>
            </a:solidFill>
            <a:tailEnd type="triangle" w="med" len="med"/>
          </a:ln>
        </p:spPr>
      </p:cxnSp>
      <p:sp>
        <p:nvSpPr>
          <p:cNvPr id="39" name="Rounded Rectangle 38"/>
          <p:cNvSpPr/>
          <p:nvPr/>
        </p:nvSpPr>
        <p:spPr>
          <a:xfrm>
            <a:off x="2950029" y="3333750"/>
            <a:ext cx="979714" cy="1095375"/>
          </a:xfrm>
          <a:prstGeom prst="roundRect">
            <a:avLst>
              <a:gd name="adj" fmla="val 5833"/>
            </a:avLst>
          </a:prstGeom>
          <a:solidFill>
            <a:srgbClr val="F4F4F4"/>
          </a:solidFill>
          <a:ln w="9525">
            <a:solidFill>
              <a:srgbClr val="C8C8C8"/>
            </a:solidFill>
          </a:ln>
          <a:effectLst/>
        </p:spPr>
        <p:style>
          <a:lnRef idx="1">
            <a:schemeClr val="accent1"/>
          </a:lnRef>
          <a:fillRef idx="3">
            <a:schemeClr val="accent1"/>
          </a:fillRef>
          <a:effectRef idx="2">
            <a:schemeClr val="accent1"/>
          </a:effectRef>
          <a:fontRef idx="minor">
            <a:schemeClr val="lt1"/>
          </a:fontRef>
        </p:style>
        <p:txBody>
          <a:bodyPr rtlCol="0" anchor="t" wrap="square" tIns="85725" rIns="57150" bIns="66675" lIns="57150"/>
          <a:lstStyle/>
          <a:p>
            <a:pPr algn="l">
              <a:lnSpc>
                <a:spcPct val="120000"/>
              </a:lnSpc>
              <a:spcBef>
                <a:spcPts val="0"/>
              </a:spcBef>
              <a:spcAft>
                <a:spcPts val="300"/>
              </a:spcAft>
            </a:pPr>
            <a:r>
              <a:rPr sz="825" b="1">
                <a:solidFill>
                  <a:srgbClr val="6B6B6B"/>
                </a:solidFill>
                <a:latin typeface="Meiryo"/>
                <a:ea typeface="Meiryo"/>
                <a:cs typeface="Meiryo"/>
              </a:rPr>
              <a:t>M1-3</a:t>
            </a:r>
          </a:p>
          <a:p>
            <a:pPr algn="l">
              <a:lnSpc>
                <a:spcPct val="120000"/>
              </a:lnSpc>
              <a:spcBef>
                <a:spcPts val="0"/>
              </a:spcBef>
              <a:spcAft>
                <a:spcPts val="0"/>
              </a:spcAft>
            </a:pPr>
            <a:r>
              <a:rPr sz="862" b="1">
                <a:solidFill>
                  <a:srgbClr val="6B6B6B"/>
                </a:solidFill>
                <a:latin typeface="Meiryo"/>
                <a:ea typeface="Meiryo"/>
                <a:cs typeface="Meiryo"/>
              </a:rPr>
              <a:t>API で
記録する</a:t>
            </a:r>
          </a:p>
        </p:txBody>
      </p:sp>
      <p:sp>
        <p:nvSpPr>
          <p:cNvPr id="40" name="TextBox 39"/>
          <p:cNvSpPr txBox="1"/>
          <p:nvPr/>
        </p:nvSpPr>
        <p:spPr>
          <a:xfrm>
            <a:off x="2950029" y="4181475"/>
            <a:ext cx="979714" cy="190500"/>
          </a:xfrm>
          <a:prstGeom prst="rect">
            <a:avLst/>
          </a:prstGeom>
          <a:noFill/>
        </p:spPr>
        <p:txBody>
          <a:bodyPr wrap="square" tIns="0" rIns="0" bIns="0" lIns="0">
            <a:spAutoFit/>
          </a:bodyPr>
          <a:lstStyle/>
          <a:p>
            <a:pPr algn="ctr">
              <a:lnSpc>
                <a:spcPct val="120000"/>
              </a:lnSpc>
              <a:spcBef>
                <a:spcPts val="0"/>
              </a:spcBef>
              <a:spcAft>
                <a:spcPts val="0"/>
              </a:spcAft>
            </a:pPr>
            <a:r>
              <a:rPr sz="900" b="1">
                <a:solidFill>
                  <a:srgbClr val="6B6B6B"/>
                </a:solidFill>
                <a:latin typeface="Meiryo"/>
                <a:ea typeface="Meiryo"/>
                <a:cs typeface="Meiryo"/>
              </a:rPr>
              <a:t>済</a:t>
            </a:r>
          </a:p>
        </p:txBody>
      </p:sp>
      <p:cxnSp>
        <p:nvCxnSpPr>
          <p:cNvPr id="41" name="Connector 40"/>
          <p:cNvCxnSpPr/>
          <p:nvPr/>
        </p:nvCxnSpPr>
        <p:spPr>
          <a:xfrm>
            <a:off x="3939268" y="3881438"/>
            <a:ext cx="104775" cy="0"/>
          </a:xfrm>
          <a:prstGeom prst="line">
            <a:avLst/>
          </a:prstGeom>
          <a:ln w="14287">
            <a:solidFill>
              <a:srgbClr val="6B6B6B"/>
            </a:solidFill>
            <a:tailEnd type="triangle" w="med" len="med"/>
          </a:ln>
        </p:spPr>
      </p:cxnSp>
      <p:sp>
        <p:nvSpPr>
          <p:cNvPr id="42" name="Rounded Rectangle 41"/>
          <p:cNvSpPr/>
          <p:nvPr/>
        </p:nvSpPr>
        <p:spPr>
          <a:xfrm>
            <a:off x="4053568" y="3333750"/>
            <a:ext cx="979714" cy="1095375"/>
          </a:xfrm>
          <a:prstGeom prst="roundRect">
            <a:avLst>
              <a:gd name="adj" fmla="val 5833"/>
            </a:avLst>
          </a:prstGeom>
          <a:solidFill>
            <a:srgbClr val="F4F4F4"/>
          </a:solidFill>
          <a:ln w="9525">
            <a:solidFill>
              <a:srgbClr val="C8C8C8"/>
            </a:solidFill>
          </a:ln>
          <a:effectLst/>
        </p:spPr>
        <p:style>
          <a:lnRef idx="1">
            <a:schemeClr val="accent1"/>
          </a:lnRef>
          <a:fillRef idx="3">
            <a:schemeClr val="accent1"/>
          </a:fillRef>
          <a:effectRef idx="2">
            <a:schemeClr val="accent1"/>
          </a:effectRef>
          <a:fontRef idx="minor">
            <a:schemeClr val="lt1"/>
          </a:fontRef>
        </p:style>
        <p:txBody>
          <a:bodyPr rtlCol="0" anchor="t" wrap="square" tIns="85725" rIns="57150" bIns="66675" lIns="57150"/>
          <a:lstStyle/>
          <a:p>
            <a:pPr algn="l">
              <a:lnSpc>
                <a:spcPct val="120000"/>
              </a:lnSpc>
              <a:spcBef>
                <a:spcPts val="0"/>
              </a:spcBef>
              <a:spcAft>
                <a:spcPts val="300"/>
              </a:spcAft>
            </a:pPr>
            <a:r>
              <a:rPr sz="825" b="1">
                <a:solidFill>
                  <a:srgbClr val="6B6B6B"/>
                </a:solidFill>
                <a:latin typeface="Meiryo"/>
                <a:ea typeface="Meiryo"/>
                <a:cs typeface="Meiryo"/>
              </a:rPr>
              <a:t>M1-4</a:t>
            </a:r>
          </a:p>
          <a:p>
            <a:pPr algn="l">
              <a:lnSpc>
                <a:spcPct val="120000"/>
              </a:lnSpc>
              <a:spcBef>
                <a:spcPts val="0"/>
              </a:spcBef>
              <a:spcAft>
                <a:spcPts val="0"/>
              </a:spcAft>
            </a:pPr>
            <a:r>
              <a:rPr sz="862" b="1">
                <a:solidFill>
                  <a:srgbClr val="6B6B6B"/>
                </a:solidFill>
                <a:latin typeface="Meiryo"/>
                <a:ea typeface="Meiryo"/>
                <a:cs typeface="Meiryo"/>
              </a:rPr>
              <a:t>計測を
最後まで通す</a:t>
            </a:r>
          </a:p>
        </p:txBody>
      </p:sp>
      <p:sp>
        <p:nvSpPr>
          <p:cNvPr id="43" name="TextBox 42"/>
          <p:cNvSpPr txBox="1"/>
          <p:nvPr/>
        </p:nvSpPr>
        <p:spPr>
          <a:xfrm>
            <a:off x="4053568" y="4181475"/>
            <a:ext cx="979714" cy="190500"/>
          </a:xfrm>
          <a:prstGeom prst="rect">
            <a:avLst/>
          </a:prstGeom>
          <a:noFill/>
        </p:spPr>
        <p:txBody>
          <a:bodyPr wrap="square" tIns="0" rIns="0" bIns="0" lIns="0">
            <a:spAutoFit/>
          </a:bodyPr>
          <a:lstStyle/>
          <a:p>
            <a:pPr algn="ctr">
              <a:lnSpc>
                <a:spcPct val="120000"/>
              </a:lnSpc>
              <a:spcBef>
                <a:spcPts val="0"/>
              </a:spcBef>
              <a:spcAft>
                <a:spcPts val="0"/>
              </a:spcAft>
            </a:pPr>
            <a:r>
              <a:rPr sz="900" b="1">
                <a:solidFill>
                  <a:srgbClr val="6B6B6B"/>
                </a:solidFill>
                <a:latin typeface="Meiryo"/>
                <a:ea typeface="Meiryo"/>
                <a:cs typeface="Meiryo"/>
              </a:rPr>
              <a:t>済</a:t>
            </a:r>
          </a:p>
        </p:txBody>
      </p:sp>
      <p:cxnSp>
        <p:nvCxnSpPr>
          <p:cNvPr id="44" name="Connector 43"/>
          <p:cNvCxnSpPr/>
          <p:nvPr/>
        </p:nvCxnSpPr>
        <p:spPr>
          <a:xfrm>
            <a:off x="5042807" y="3881438"/>
            <a:ext cx="104775" cy="0"/>
          </a:xfrm>
          <a:prstGeom prst="line">
            <a:avLst/>
          </a:prstGeom>
          <a:ln w="14287">
            <a:solidFill>
              <a:srgbClr val="6B6B6B"/>
            </a:solidFill>
            <a:tailEnd type="triangle" w="med" len="med"/>
          </a:ln>
        </p:spPr>
      </p:cxnSp>
      <p:sp>
        <p:nvSpPr>
          <p:cNvPr id="45" name="Rounded Rectangle 44"/>
          <p:cNvSpPr/>
          <p:nvPr/>
        </p:nvSpPr>
        <p:spPr>
          <a:xfrm>
            <a:off x="5157107" y="3333750"/>
            <a:ext cx="979714" cy="1095375"/>
          </a:xfrm>
          <a:prstGeom prst="roundRect">
            <a:avLst>
              <a:gd name="adj" fmla="val 5833"/>
            </a:avLst>
          </a:prstGeom>
          <a:solidFill>
            <a:srgbClr val="F4F4F4"/>
          </a:solidFill>
          <a:ln w="9525">
            <a:solidFill>
              <a:srgbClr val="C8C8C8"/>
            </a:solidFill>
          </a:ln>
          <a:effectLst/>
        </p:spPr>
        <p:style>
          <a:lnRef idx="1">
            <a:schemeClr val="accent1"/>
          </a:lnRef>
          <a:fillRef idx="3">
            <a:schemeClr val="accent1"/>
          </a:fillRef>
          <a:effectRef idx="2">
            <a:schemeClr val="accent1"/>
          </a:effectRef>
          <a:fontRef idx="minor">
            <a:schemeClr val="lt1"/>
          </a:fontRef>
        </p:style>
        <p:txBody>
          <a:bodyPr rtlCol="0" anchor="t" wrap="square" tIns="85725" rIns="57150" bIns="66675" lIns="57150"/>
          <a:lstStyle/>
          <a:p>
            <a:pPr algn="l">
              <a:lnSpc>
                <a:spcPct val="120000"/>
              </a:lnSpc>
              <a:spcBef>
                <a:spcPts val="0"/>
              </a:spcBef>
              <a:spcAft>
                <a:spcPts val="300"/>
              </a:spcAft>
            </a:pPr>
            <a:r>
              <a:rPr sz="825" b="1">
                <a:solidFill>
                  <a:srgbClr val="6B6B6B"/>
                </a:solidFill>
                <a:latin typeface="Meiryo"/>
                <a:ea typeface="Meiryo"/>
                <a:cs typeface="Meiryo"/>
              </a:rPr>
              <a:t>M1-5</a:t>
            </a:r>
          </a:p>
          <a:p>
            <a:pPr algn="l">
              <a:lnSpc>
                <a:spcPct val="120000"/>
              </a:lnSpc>
              <a:spcBef>
                <a:spcPts val="0"/>
              </a:spcBef>
              <a:spcAft>
                <a:spcPts val="0"/>
              </a:spcAft>
            </a:pPr>
            <a:r>
              <a:rPr sz="862" b="1">
                <a:solidFill>
                  <a:srgbClr val="6B6B6B"/>
                </a:solidFill>
                <a:latin typeface="Meiryo"/>
                <a:ea typeface="Meiryo"/>
                <a:cs typeface="Meiryo"/>
              </a:rPr>
              <a:t>6 本・3 分の
記録</a:t>
            </a:r>
          </a:p>
        </p:txBody>
      </p:sp>
      <p:sp>
        <p:nvSpPr>
          <p:cNvPr id="46" name="TextBox 45"/>
          <p:cNvSpPr txBox="1"/>
          <p:nvPr/>
        </p:nvSpPr>
        <p:spPr>
          <a:xfrm>
            <a:off x="5157107" y="4181475"/>
            <a:ext cx="979714" cy="190500"/>
          </a:xfrm>
          <a:prstGeom prst="rect">
            <a:avLst/>
          </a:prstGeom>
          <a:noFill/>
        </p:spPr>
        <p:txBody>
          <a:bodyPr wrap="square" tIns="0" rIns="0" bIns="0" lIns="0">
            <a:spAutoFit/>
          </a:bodyPr>
          <a:lstStyle/>
          <a:p>
            <a:pPr algn="ctr">
              <a:lnSpc>
                <a:spcPct val="120000"/>
              </a:lnSpc>
              <a:spcBef>
                <a:spcPts val="0"/>
              </a:spcBef>
              <a:spcAft>
                <a:spcPts val="0"/>
              </a:spcAft>
            </a:pPr>
            <a:r>
              <a:rPr sz="900" b="1">
                <a:solidFill>
                  <a:srgbClr val="6B6B6B"/>
                </a:solidFill>
                <a:latin typeface="Meiryo"/>
                <a:ea typeface="Meiryo"/>
                <a:cs typeface="Meiryo"/>
              </a:rPr>
              <a:t>済</a:t>
            </a:r>
          </a:p>
        </p:txBody>
      </p:sp>
      <p:cxnSp>
        <p:nvCxnSpPr>
          <p:cNvPr id="47" name="Connector 46"/>
          <p:cNvCxnSpPr/>
          <p:nvPr/>
        </p:nvCxnSpPr>
        <p:spPr>
          <a:xfrm>
            <a:off x="6146346" y="3881438"/>
            <a:ext cx="104775" cy="0"/>
          </a:xfrm>
          <a:prstGeom prst="line">
            <a:avLst/>
          </a:prstGeom>
          <a:ln w="14287">
            <a:solidFill>
              <a:srgbClr val="6B6B6B"/>
            </a:solidFill>
            <a:tailEnd type="triangle" w="med" len="med"/>
          </a:ln>
        </p:spPr>
      </p:cxnSp>
      <p:sp>
        <p:nvSpPr>
          <p:cNvPr id="48" name="Rounded Rectangle 47"/>
          <p:cNvSpPr/>
          <p:nvPr/>
        </p:nvSpPr>
        <p:spPr>
          <a:xfrm>
            <a:off x="6260646" y="3333750"/>
            <a:ext cx="979714" cy="1095375"/>
          </a:xfrm>
          <a:prstGeom prst="roundRect">
            <a:avLst>
              <a:gd name="adj" fmla="val 5833"/>
            </a:avLst>
          </a:prstGeom>
          <a:solidFill>
            <a:srgbClr val="1F6FB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tIns="85725" rIns="57150" bIns="66675" lIns="57150"/>
          <a:lstStyle/>
          <a:p>
            <a:pPr algn="l">
              <a:lnSpc>
                <a:spcPct val="120000"/>
              </a:lnSpc>
              <a:spcBef>
                <a:spcPts val="0"/>
              </a:spcBef>
              <a:spcAft>
                <a:spcPts val="300"/>
              </a:spcAft>
            </a:pPr>
            <a:r>
              <a:rPr sz="825" b="1">
                <a:solidFill>
                  <a:srgbClr val="D6E6F5"/>
                </a:solidFill>
                <a:latin typeface="Meiryo"/>
                <a:ea typeface="Meiryo"/>
                <a:cs typeface="Meiryo"/>
              </a:rPr>
              <a:t>M1-6</a:t>
            </a:r>
          </a:p>
          <a:p>
            <a:pPr algn="l">
              <a:lnSpc>
                <a:spcPct val="120000"/>
              </a:lnSpc>
              <a:spcBef>
                <a:spcPts val="0"/>
              </a:spcBef>
              <a:spcAft>
                <a:spcPts val="0"/>
              </a:spcAft>
            </a:pPr>
            <a:r>
              <a:rPr sz="862" b="1">
                <a:solidFill>
                  <a:srgbClr val="FFFFFF"/>
                </a:solidFill>
                <a:latin typeface="Meiryo"/>
                <a:ea typeface="Meiryo"/>
                <a:cs typeface="Meiryo"/>
              </a:rPr>
              <a:t>前腕の MVC が
足りている</a:t>
            </a:r>
          </a:p>
        </p:txBody>
      </p:sp>
      <p:sp>
        <p:nvSpPr>
          <p:cNvPr id="49" name="TextBox 48"/>
          <p:cNvSpPr txBox="1"/>
          <p:nvPr/>
        </p:nvSpPr>
        <p:spPr>
          <a:xfrm>
            <a:off x="6260646" y="4181475"/>
            <a:ext cx="979714" cy="190500"/>
          </a:xfrm>
          <a:prstGeom prst="rect">
            <a:avLst/>
          </a:prstGeom>
          <a:noFill/>
        </p:spPr>
        <p:txBody>
          <a:bodyPr wrap="square" tIns="0" rIns="0" bIns="0" lIns="0">
            <a:spAutoFit/>
          </a:bodyPr>
          <a:lstStyle/>
          <a:p>
            <a:pPr algn="ctr">
              <a:lnSpc>
                <a:spcPct val="120000"/>
              </a:lnSpc>
              <a:spcBef>
                <a:spcPts val="0"/>
              </a:spcBef>
              <a:spcAft>
                <a:spcPts val="0"/>
              </a:spcAft>
            </a:pPr>
            <a:r>
              <a:rPr sz="900" b="1">
                <a:solidFill>
                  <a:srgbClr val="D6E6F5"/>
                </a:solidFill>
                <a:latin typeface="Meiryo"/>
                <a:ea typeface="Meiryo"/>
                <a:cs typeface="Meiryo"/>
              </a:rPr>
              <a:t>済</a:t>
            </a:r>
          </a:p>
        </p:txBody>
      </p:sp>
      <p:cxnSp>
        <p:nvCxnSpPr>
          <p:cNvPr id="50" name="Connector 49"/>
          <p:cNvCxnSpPr/>
          <p:nvPr/>
        </p:nvCxnSpPr>
        <p:spPr>
          <a:xfrm>
            <a:off x="7249886" y="3881438"/>
            <a:ext cx="104775" cy="0"/>
          </a:xfrm>
          <a:prstGeom prst="line">
            <a:avLst/>
          </a:prstGeom>
          <a:ln w="14287">
            <a:solidFill>
              <a:srgbClr val="6B6B6B"/>
            </a:solidFill>
            <a:tailEnd type="triangle" w="med" len="med"/>
          </a:ln>
        </p:spPr>
      </p:cxnSp>
      <p:sp>
        <p:nvSpPr>
          <p:cNvPr id="51" name="Rounded Rectangle 50"/>
          <p:cNvSpPr/>
          <p:nvPr/>
        </p:nvSpPr>
        <p:spPr>
          <a:xfrm>
            <a:off x="7364186" y="3333750"/>
            <a:ext cx="979714" cy="1095375"/>
          </a:xfrm>
          <a:prstGeom prst="roundRect">
            <a:avLst>
              <a:gd name="adj" fmla="val 5833"/>
            </a:avLst>
          </a:prstGeom>
          <a:solidFill>
            <a:srgbClr val="E8F0F8"/>
          </a:solidFill>
          <a:ln w="9525">
            <a:solidFill>
              <a:srgbClr val="1F6FB4"/>
            </a:solidFill>
          </a:ln>
          <a:effectLst/>
        </p:spPr>
        <p:style>
          <a:lnRef idx="1">
            <a:schemeClr val="accent1"/>
          </a:lnRef>
          <a:fillRef idx="3">
            <a:schemeClr val="accent1"/>
          </a:fillRef>
          <a:effectRef idx="2">
            <a:schemeClr val="accent1"/>
          </a:effectRef>
          <a:fontRef idx="minor">
            <a:schemeClr val="lt1"/>
          </a:fontRef>
        </p:style>
        <p:txBody>
          <a:bodyPr rtlCol="0" anchor="t" wrap="square" tIns="85725" rIns="57150" bIns="66675" lIns="57150"/>
          <a:lstStyle/>
          <a:p>
            <a:pPr algn="l">
              <a:lnSpc>
                <a:spcPct val="120000"/>
              </a:lnSpc>
              <a:spcBef>
                <a:spcPts val="0"/>
              </a:spcBef>
              <a:spcAft>
                <a:spcPts val="300"/>
              </a:spcAft>
            </a:pPr>
            <a:r>
              <a:rPr sz="825" b="1">
                <a:solidFill>
                  <a:srgbClr val="1F6FB4"/>
                </a:solidFill>
                <a:latin typeface="Meiryo"/>
                <a:ea typeface="Meiryo"/>
                <a:cs typeface="Meiryo"/>
              </a:rPr>
              <a:t>M1-7</a:t>
            </a:r>
          </a:p>
          <a:p>
            <a:pPr algn="l">
              <a:lnSpc>
                <a:spcPct val="120000"/>
              </a:lnSpc>
              <a:spcBef>
                <a:spcPts val="0"/>
              </a:spcBef>
              <a:spcAft>
                <a:spcPts val="0"/>
              </a:spcAft>
            </a:pPr>
            <a:r>
              <a:rPr sz="862" b="1">
                <a:solidFill>
                  <a:srgbClr val="1A1A1A"/>
                </a:solidFill>
                <a:latin typeface="Meiryo"/>
                <a:ea typeface="Meiryo"/>
                <a:cs typeface="Meiryo"/>
              </a:rPr>
              <a:t>残り 4 か所の
MVC</a:t>
            </a:r>
          </a:p>
        </p:txBody>
      </p:sp>
      <p:sp>
        <p:nvSpPr>
          <p:cNvPr id="52" name="TextBox 51"/>
          <p:cNvSpPr txBox="1"/>
          <p:nvPr/>
        </p:nvSpPr>
        <p:spPr>
          <a:xfrm>
            <a:off x="7364186" y="4181475"/>
            <a:ext cx="979714" cy="190500"/>
          </a:xfrm>
          <a:prstGeom prst="rect">
            <a:avLst/>
          </a:prstGeom>
          <a:noFill/>
        </p:spPr>
        <p:txBody>
          <a:bodyPr wrap="square" tIns="0" rIns="0" bIns="0" lIns="0">
            <a:spAutoFit/>
          </a:bodyPr>
          <a:lstStyle/>
          <a:p>
            <a:pPr algn="ctr">
              <a:lnSpc>
                <a:spcPct val="120000"/>
              </a:lnSpc>
              <a:spcBef>
                <a:spcPts val="0"/>
              </a:spcBef>
              <a:spcAft>
                <a:spcPts val="0"/>
              </a:spcAft>
            </a:pPr>
            <a:r>
              <a:rPr sz="900" b="1">
                <a:solidFill>
                  <a:srgbClr val="1F6FB4"/>
                </a:solidFill>
                <a:latin typeface="Meiryo"/>
                <a:ea typeface="Meiryo"/>
                <a:cs typeface="Meiryo"/>
              </a:rPr>
              <a:t>一部済</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52450" y="381000"/>
            <a:ext cx="7143750" cy="476250"/>
          </a:xfrm>
          <a:prstGeom prst="rect">
            <a:avLst/>
          </a:prstGeom>
          <a:noFill/>
        </p:spPr>
        <p:txBody>
          <a:bodyPr wrap="square" tIns="0" rIns="0" bIns="0" lIns="0">
            <a:spAutoFit/>
          </a:bodyPr>
          <a:lstStyle/>
          <a:p>
            <a:pPr algn="l">
              <a:lnSpc>
                <a:spcPct val="120000"/>
              </a:lnSpc>
              <a:spcBef>
                <a:spcPts val="0"/>
              </a:spcBef>
              <a:spcAft>
                <a:spcPts val="0"/>
              </a:spcAft>
            </a:pPr>
            <a:r>
              <a:rPr sz="3000" b="1">
                <a:solidFill>
                  <a:srgbClr val="1A1A1A"/>
                </a:solidFill>
                <a:latin typeface="Meiryo"/>
                <a:ea typeface="Meiryo"/>
                <a:cs typeface="Meiryo"/>
              </a:rPr>
              <a:t>今週の目標</a:t>
            </a:r>
          </a:p>
        </p:txBody>
      </p:sp>
      <p:sp>
        <p:nvSpPr>
          <p:cNvPr id="3" name="TextBox 2"/>
          <p:cNvSpPr txBox="1"/>
          <p:nvPr/>
        </p:nvSpPr>
        <p:spPr>
          <a:xfrm>
            <a:off x="7953375" y="476250"/>
            <a:ext cx="581025" cy="190500"/>
          </a:xfrm>
          <a:prstGeom prst="rect">
            <a:avLst/>
          </a:prstGeom>
          <a:noFill/>
        </p:spPr>
        <p:txBody>
          <a:bodyPr wrap="square" tIns="0" rIns="0" bIns="0" lIns="0">
            <a:spAutoFit/>
          </a:bodyPr>
          <a:lstStyle/>
          <a:p>
            <a:pPr algn="r">
              <a:lnSpc>
                <a:spcPct val="120000"/>
              </a:lnSpc>
              <a:spcBef>
                <a:spcPts val="0"/>
              </a:spcBef>
              <a:spcAft>
                <a:spcPts val="0"/>
              </a:spcAft>
            </a:pPr>
            <a:r>
              <a:rPr sz="1200" b="0">
                <a:solidFill>
                  <a:srgbClr val="6B6B6B"/>
                </a:solidFill>
                <a:latin typeface="Meiryo"/>
                <a:ea typeface="Meiryo"/>
                <a:cs typeface="Meiryo"/>
              </a:rPr>
              <a:t>2</a:t>
            </a:r>
          </a:p>
        </p:txBody>
      </p:sp>
      <p:sp>
        <p:nvSpPr>
          <p:cNvPr id="4" name="Rounded Rectangle 3"/>
          <p:cNvSpPr/>
          <p:nvPr/>
        </p:nvSpPr>
        <p:spPr>
          <a:xfrm>
            <a:off x="552450" y="1095375"/>
            <a:ext cx="3619500" cy="2381250"/>
          </a:xfrm>
          <a:prstGeom prst="roundRect">
            <a:avLst>
              <a:gd name="adj" fmla="val 3200"/>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tIns="171450" rIns="190500" bIns="171450" lIns="190500"/>
          <a:lstStyle/>
          <a:p>
            <a:pPr algn="l">
              <a:lnSpc>
                <a:spcPct val="120000"/>
              </a:lnSpc>
              <a:spcBef>
                <a:spcPts val="0"/>
              </a:spcBef>
              <a:spcAft>
                <a:spcPts val="375"/>
              </a:spcAft>
            </a:pPr>
            <a:r>
              <a:rPr sz="1050" b="1">
                <a:solidFill>
                  <a:srgbClr val="BFD6EE"/>
                </a:solidFill>
                <a:latin typeface="Meiryo"/>
                <a:ea typeface="Meiryo"/>
                <a:cs typeface="Meiryo"/>
              </a:rPr>
              <a:t>大きな目標</a:t>
            </a:r>
          </a:p>
          <a:p>
            <a:pPr algn="l">
              <a:lnSpc>
                <a:spcPct val="120000"/>
              </a:lnSpc>
              <a:spcBef>
                <a:spcPts val="0"/>
              </a:spcBef>
              <a:spcAft>
                <a:spcPts val="600"/>
              </a:spcAft>
            </a:pPr>
            <a:r>
              <a:rPr sz="1800" b="1">
                <a:solidFill>
                  <a:srgbClr val="FFFFFF"/>
                </a:solidFill>
                <a:latin typeface="Meiryo"/>
                <a:ea typeface="Meiryo"/>
                <a:cs typeface="Meiryo"/>
              </a:rPr>
              <a:t>M1：計測系が回る</a:t>
            </a:r>
          </a:p>
          <a:p>
            <a:pPr algn="l">
              <a:lnSpc>
                <a:spcPct val="120000"/>
              </a:lnSpc>
              <a:spcBef>
                <a:spcPts val="0"/>
              </a:spcBef>
              <a:spcAft>
                <a:spcPts val="225"/>
              </a:spcAft>
            </a:pPr>
            <a:r>
              <a:rPr sz="900" b="1">
                <a:solidFill>
                  <a:srgbClr val="BFD6EE"/>
                </a:solidFill>
                <a:latin typeface="Meiryo"/>
                <a:ea typeface="Meiryo"/>
                <a:cs typeface="Meiryo"/>
              </a:rPr>
              <a:t>完了基準</a:t>
            </a:r>
          </a:p>
          <a:p>
            <a:pPr algn="l">
              <a:lnSpc>
                <a:spcPct val="135000"/>
              </a:lnSpc>
              <a:spcBef>
                <a:spcPts val="0"/>
              </a:spcBef>
              <a:spcAft>
                <a:spcPts val="0"/>
              </a:spcAft>
            </a:pPr>
            <a:r>
              <a:rPr sz="1200" b="1">
                <a:solidFill>
                  <a:srgbClr val="FFFFFF"/>
                </a:solidFill>
                <a:latin typeface="Meiryo"/>
                <a:ea typeface="Meiryo"/>
                <a:cs typeface="Meiryo"/>
              </a:rPr>
              <a:t>6 か所の MVC と数分の記録を、API で、研究室に 1 回来るだけで取りきれる</a:t>
            </a:r>
          </a:p>
        </p:txBody>
      </p:sp>
      <p:cxnSp>
        <p:nvCxnSpPr>
          <p:cNvPr id="5" name="Connector 4"/>
          <p:cNvCxnSpPr/>
          <p:nvPr/>
        </p:nvCxnSpPr>
        <p:spPr>
          <a:xfrm flipH="1">
            <a:off x="4267200" y="2286000"/>
            <a:ext cx="552450" cy="0"/>
          </a:xfrm>
          <a:prstGeom prst="line">
            <a:avLst/>
          </a:prstGeom>
          <a:ln w="28575">
            <a:solidFill>
              <a:srgbClr val="1F6FB4"/>
            </a:solidFill>
            <a:tailEnd type="triangle" w="med" len="med"/>
          </a:ln>
        </p:spPr>
      </p:cxnSp>
      <p:sp>
        <p:nvSpPr>
          <p:cNvPr id="6" name="TextBox 5"/>
          <p:cNvSpPr txBox="1"/>
          <p:nvPr/>
        </p:nvSpPr>
        <p:spPr>
          <a:xfrm>
            <a:off x="4191000" y="2000250"/>
            <a:ext cx="723900" cy="190500"/>
          </a:xfrm>
          <a:prstGeom prst="rect">
            <a:avLst/>
          </a:prstGeom>
          <a:noFill/>
        </p:spPr>
        <p:txBody>
          <a:bodyPr wrap="square" tIns="0" rIns="0" bIns="0" lIns="0">
            <a:spAutoFit/>
          </a:bodyPr>
          <a:lstStyle/>
          <a:p>
            <a:pPr algn="ctr">
              <a:lnSpc>
                <a:spcPct val="120000"/>
              </a:lnSpc>
              <a:spcBef>
                <a:spcPts val="0"/>
              </a:spcBef>
              <a:spcAft>
                <a:spcPts val="0"/>
              </a:spcAft>
            </a:pPr>
            <a:r>
              <a:rPr sz="900" b="1">
                <a:solidFill>
                  <a:srgbClr val="1F6FB4"/>
                </a:solidFill>
                <a:latin typeface="Meiryo"/>
                <a:ea typeface="Meiryo"/>
                <a:cs typeface="Meiryo"/>
              </a:rPr>
              <a:t>そのために</a:t>
            </a:r>
          </a:p>
        </p:txBody>
      </p:sp>
      <p:sp>
        <p:nvSpPr>
          <p:cNvPr id="7" name="Rounded Rectangle 6"/>
          <p:cNvSpPr/>
          <p:nvPr/>
        </p:nvSpPr>
        <p:spPr>
          <a:xfrm>
            <a:off x="4914900" y="1095375"/>
            <a:ext cx="3619500" cy="2381250"/>
          </a:xfrm>
          <a:prstGeom prst="roundRect">
            <a:avLst>
              <a:gd name="adj" fmla="val 3200"/>
            </a:avLst>
          </a:prstGeom>
          <a:solidFill>
            <a:srgbClr val="E8F0F8"/>
          </a:solidFill>
          <a:ln w="14287">
            <a:solidFill>
              <a:srgbClr val="1F6FB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105400" y="1247775"/>
            <a:ext cx="3238500" cy="190500"/>
          </a:xfrm>
          <a:prstGeom prst="rect">
            <a:avLst/>
          </a:prstGeom>
          <a:noFill/>
        </p:spPr>
        <p:txBody>
          <a:bodyPr wrap="square" tIns="0" rIns="0" bIns="0" lIns="0">
            <a:spAutoFit/>
          </a:bodyPr>
          <a:lstStyle/>
          <a:p>
            <a:pPr algn="l">
              <a:lnSpc>
                <a:spcPct val="120000"/>
              </a:lnSpc>
              <a:spcBef>
                <a:spcPts val="0"/>
              </a:spcBef>
              <a:spcAft>
                <a:spcPts val="0"/>
              </a:spcAft>
            </a:pPr>
            <a:r>
              <a:rPr sz="1050" b="1">
                <a:solidFill>
                  <a:srgbClr val="1F6FB4"/>
                </a:solidFill>
                <a:latin typeface="Meiryo"/>
                <a:ea typeface="Meiryo"/>
                <a:cs typeface="Meiryo"/>
              </a:rPr>
              <a:t>小さな目標（M1 の内訳から）</a:t>
            </a:r>
          </a:p>
        </p:txBody>
      </p:sp>
      <p:sp>
        <p:nvSpPr>
          <p:cNvPr id="9" name="TextBox 8"/>
          <p:cNvSpPr txBox="1"/>
          <p:nvPr/>
        </p:nvSpPr>
        <p:spPr>
          <a:xfrm>
            <a:off x="5105400" y="1619250"/>
            <a:ext cx="3238500" cy="714375"/>
          </a:xfrm>
          <a:prstGeom prst="rect">
            <a:avLst/>
          </a:prstGeom>
          <a:noFill/>
        </p:spPr>
        <p:txBody>
          <a:bodyPr wrap="square" tIns="0" rIns="0" bIns="0" lIns="0">
            <a:spAutoFit/>
          </a:bodyPr>
          <a:lstStyle/>
          <a:p>
            <a:pPr algn="l">
              <a:lnSpc>
                <a:spcPct val="120000"/>
              </a:lnSpc>
              <a:spcBef>
                <a:spcPts val="0"/>
              </a:spcBef>
              <a:spcAft>
                <a:spcPts val="300"/>
              </a:spcAft>
            </a:pPr>
            <a:r>
              <a:rPr sz="1125" b="1">
                <a:solidFill>
                  <a:srgbClr val="6B6B6B"/>
                </a:solidFill>
                <a:latin typeface="Meiryo"/>
                <a:ea typeface="Meiryo"/>
                <a:cs typeface="Meiryo"/>
              </a:rPr>
              <a:t>M1-6　</a:t>
            </a:r>
            <a:r>
              <a:rPr sz="1350" b="1">
                <a:solidFill>
                  <a:srgbClr val="1A1A1A"/>
                </a:solidFill>
                <a:latin typeface="Meiryo"/>
                <a:ea typeface="Meiryo"/>
                <a:cs typeface="Meiryo"/>
              </a:rPr>
              <a:t>前腕の MVC</a:t>
            </a:r>
          </a:p>
          <a:p>
            <a:pPr algn="l">
              <a:lnSpc>
                <a:spcPct val="130000"/>
              </a:lnSpc>
              <a:spcBef>
                <a:spcPts val="0"/>
              </a:spcBef>
              <a:spcAft>
                <a:spcPts val="0"/>
              </a:spcAft>
            </a:pPr>
            <a:r>
              <a:rPr sz="975" b="0">
                <a:solidFill>
                  <a:srgbClr val="6B6B6B"/>
                </a:solidFill>
                <a:latin typeface="Meiryo"/>
                <a:ea typeface="Meiryo"/>
                <a:cs typeface="Meiryo"/>
              </a:rPr>
              <a:t>手首の屈曲を、直した指示で取り直す</a:t>
            </a:r>
          </a:p>
        </p:txBody>
      </p:sp>
      <p:cxnSp>
        <p:nvCxnSpPr>
          <p:cNvPr id="10" name="Connector 9"/>
          <p:cNvCxnSpPr/>
          <p:nvPr/>
        </p:nvCxnSpPr>
        <p:spPr>
          <a:xfrm>
            <a:off x="5105400" y="2381250"/>
            <a:ext cx="3238500" cy="0"/>
          </a:xfrm>
          <a:prstGeom prst="line">
            <a:avLst/>
          </a:prstGeom>
          <a:ln w="7143">
            <a:solidFill>
              <a:srgbClr val="BFD6EE"/>
            </a:solidFill>
          </a:ln>
        </p:spPr>
      </p:cxnSp>
      <p:sp>
        <p:nvSpPr>
          <p:cNvPr id="11" name="TextBox 10"/>
          <p:cNvSpPr txBox="1"/>
          <p:nvPr/>
        </p:nvSpPr>
        <p:spPr>
          <a:xfrm>
            <a:off x="5105400" y="2476500"/>
            <a:ext cx="3238500" cy="714375"/>
          </a:xfrm>
          <a:prstGeom prst="rect">
            <a:avLst/>
          </a:prstGeom>
          <a:noFill/>
        </p:spPr>
        <p:txBody>
          <a:bodyPr wrap="square" tIns="0" rIns="0" bIns="0" lIns="0">
            <a:spAutoFit/>
          </a:bodyPr>
          <a:lstStyle/>
          <a:p>
            <a:pPr algn="l">
              <a:lnSpc>
                <a:spcPct val="120000"/>
              </a:lnSpc>
              <a:spcBef>
                <a:spcPts val="0"/>
              </a:spcBef>
              <a:spcAft>
                <a:spcPts val="300"/>
              </a:spcAft>
            </a:pPr>
            <a:r>
              <a:rPr sz="1125" b="1">
                <a:solidFill>
                  <a:srgbClr val="6B6B6B"/>
                </a:solidFill>
                <a:latin typeface="Meiryo"/>
                <a:ea typeface="Meiryo"/>
                <a:cs typeface="Meiryo"/>
              </a:rPr>
              <a:t>M1-7　</a:t>
            </a:r>
            <a:r>
              <a:rPr sz="1350" b="1">
                <a:solidFill>
                  <a:srgbClr val="1A1A1A"/>
                </a:solidFill>
                <a:latin typeface="Meiryo"/>
                <a:ea typeface="Meiryo"/>
                <a:cs typeface="Meiryo"/>
              </a:rPr>
              <a:t>残り 4 か所の MVC</a:t>
            </a:r>
          </a:p>
          <a:p>
            <a:pPr algn="l">
              <a:lnSpc>
                <a:spcPct val="130000"/>
              </a:lnSpc>
              <a:spcBef>
                <a:spcPts val="0"/>
              </a:spcBef>
              <a:spcAft>
                <a:spcPts val="0"/>
              </a:spcAft>
            </a:pPr>
            <a:r>
              <a:rPr sz="975" b="0">
                <a:solidFill>
                  <a:srgbClr val="6B6B6B"/>
                </a:solidFill>
                <a:latin typeface="Meiryo"/>
                <a:ea typeface="Meiryo"/>
                <a:cs typeface="Meiryo"/>
              </a:rPr>
              <a:t>肩・上腕・首の付け根の MVC を一人で取る</a:t>
            </a:r>
          </a:p>
        </p:txBody>
      </p:sp>
      <p:sp>
        <p:nvSpPr>
          <p:cNvPr id="12" name="TextBox 11"/>
          <p:cNvSpPr txBox="1"/>
          <p:nvPr/>
        </p:nvSpPr>
        <p:spPr>
          <a:xfrm>
            <a:off x="552450" y="3619500"/>
            <a:ext cx="7981950" cy="381000"/>
          </a:xfrm>
          <a:prstGeom prst="rect">
            <a:avLst/>
          </a:prstGeom>
          <a:noFill/>
        </p:spPr>
        <p:txBody>
          <a:bodyPr wrap="square" tIns="0" rIns="0" bIns="0" lIns="0">
            <a:spAutoFit/>
          </a:bodyPr>
          <a:lstStyle/>
          <a:p>
            <a:pPr algn="l">
              <a:lnSpc>
                <a:spcPct val="120000"/>
              </a:lnSpc>
              <a:spcBef>
                <a:spcPts val="0"/>
              </a:spcBef>
              <a:spcAft>
                <a:spcPts val="0"/>
              </a:spcAft>
            </a:pPr>
            <a:r>
              <a:rPr sz="900" b="0">
                <a:solidFill>
                  <a:srgbClr val="6B6B6B"/>
                </a:solidFill>
                <a:latin typeface="Meiryo"/>
                <a:ea typeface="Meiryo"/>
                <a:cs typeface="Meiryo"/>
              </a:rPr>
              <a:t>MVC：全力で力を入れたときの筋電。これを 100% として、ほかの記録を割合（%MVC）で表す</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52450" y="381000"/>
            <a:ext cx="7143750" cy="476250"/>
          </a:xfrm>
          <a:prstGeom prst="rect">
            <a:avLst/>
          </a:prstGeom>
          <a:noFill/>
        </p:spPr>
        <p:txBody>
          <a:bodyPr wrap="square" tIns="0" rIns="0" bIns="0" lIns="0">
            <a:spAutoFit/>
          </a:bodyPr>
          <a:lstStyle/>
          <a:p>
            <a:pPr algn="l">
              <a:lnSpc>
                <a:spcPct val="120000"/>
              </a:lnSpc>
              <a:spcBef>
                <a:spcPts val="0"/>
              </a:spcBef>
              <a:spcAft>
                <a:spcPts val="0"/>
              </a:spcAft>
            </a:pPr>
            <a:r>
              <a:rPr sz="3000" b="1">
                <a:solidFill>
                  <a:srgbClr val="1A1A1A"/>
                </a:solidFill>
                <a:latin typeface="Meiryo"/>
                <a:ea typeface="Meiryo"/>
                <a:cs typeface="Meiryo"/>
              </a:rPr>
              <a:t>やったこと</a:t>
            </a:r>
          </a:p>
        </p:txBody>
      </p:sp>
      <p:sp>
        <p:nvSpPr>
          <p:cNvPr id="3" name="TextBox 2"/>
          <p:cNvSpPr txBox="1"/>
          <p:nvPr/>
        </p:nvSpPr>
        <p:spPr>
          <a:xfrm>
            <a:off x="7953375" y="476250"/>
            <a:ext cx="581025" cy="190500"/>
          </a:xfrm>
          <a:prstGeom prst="rect">
            <a:avLst/>
          </a:prstGeom>
          <a:noFill/>
        </p:spPr>
        <p:txBody>
          <a:bodyPr wrap="square" tIns="0" rIns="0" bIns="0" lIns="0">
            <a:spAutoFit/>
          </a:bodyPr>
          <a:lstStyle/>
          <a:p>
            <a:pPr algn="r">
              <a:lnSpc>
                <a:spcPct val="120000"/>
              </a:lnSpc>
              <a:spcBef>
                <a:spcPts val="0"/>
              </a:spcBef>
              <a:spcAft>
                <a:spcPts val="0"/>
              </a:spcAft>
            </a:pPr>
            <a:r>
              <a:rPr sz="1200" b="0">
                <a:solidFill>
                  <a:srgbClr val="6B6B6B"/>
                </a:solidFill>
                <a:latin typeface="Meiryo"/>
                <a:ea typeface="Meiryo"/>
                <a:cs typeface="Meiryo"/>
              </a:rPr>
              <a:t>3</a:t>
            </a:r>
          </a:p>
        </p:txBody>
      </p:sp>
      <p:sp>
        <p:nvSpPr>
          <p:cNvPr id="4" name="TextBox 3"/>
          <p:cNvSpPr txBox="1"/>
          <p:nvPr/>
        </p:nvSpPr>
        <p:spPr>
          <a:xfrm>
            <a:off x="571500" y="952500"/>
            <a:ext cx="7962900" cy="666750"/>
          </a:xfrm>
          <a:prstGeom prst="rect">
            <a:avLst/>
          </a:prstGeom>
          <a:noFill/>
        </p:spPr>
        <p:txBody>
          <a:bodyPr wrap="square" tIns="0" rIns="0" bIns="0" lIns="0">
            <a:spAutoFit/>
          </a:bodyPr>
          <a:lstStyle/>
          <a:p>
            <a:pPr algn="l">
              <a:lnSpc>
                <a:spcPct val="130000"/>
              </a:lnSpc>
              <a:spcBef>
                <a:spcPts val="0"/>
              </a:spcBef>
              <a:spcAft>
                <a:spcPts val="150"/>
              </a:spcAft>
            </a:pPr>
            <a:r>
              <a:rPr sz="1275" b="1">
                <a:solidFill>
                  <a:srgbClr val="1A1A1A"/>
                </a:solidFill>
                <a:latin typeface="Meiryo"/>
                <a:ea typeface="Meiryo"/>
                <a:cs typeface="Meiryo"/>
              </a:rPr>
              <a:t>・研究室で、計測を一人で最後まで通した（10-27）。最後の 3 分はマウスを大きく振った</a:t>
            </a:r>
          </a:p>
          <a:p>
            <a:pPr algn="l">
              <a:lnSpc>
                <a:spcPct val="130000"/>
              </a:lnSpc>
              <a:spcBef>
                <a:spcPts val="0"/>
              </a:spcBef>
              <a:spcAft>
                <a:spcPts val="150"/>
              </a:spcAft>
            </a:pPr>
            <a:r>
              <a:rPr sz="1275" b="1">
                <a:solidFill>
                  <a:srgbClr val="1A1A1A"/>
                </a:solidFill>
                <a:latin typeface="Meiryo"/>
                <a:ea typeface="Meiryo"/>
                <a:cs typeface="Meiryo"/>
              </a:rPr>
              <a:t>・計測のあと、次の計測に向けて手順を 2 つ足した</a:t>
            </a:r>
          </a:p>
        </p:txBody>
      </p:sp>
      <p:sp>
        <p:nvSpPr>
          <p:cNvPr id="5" name="TextBox 4"/>
          <p:cNvSpPr txBox="1"/>
          <p:nvPr/>
        </p:nvSpPr>
        <p:spPr>
          <a:xfrm>
            <a:off x="552450" y="1647825"/>
            <a:ext cx="7981950" cy="190500"/>
          </a:xfrm>
          <a:prstGeom prst="rect">
            <a:avLst/>
          </a:prstGeom>
          <a:noFill/>
        </p:spPr>
        <p:txBody>
          <a:bodyPr wrap="square" tIns="0" rIns="0" bIns="0" lIns="0">
            <a:spAutoFit/>
          </a:bodyPr>
          <a:lstStyle/>
          <a:p>
            <a:pPr algn="l">
              <a:lnSpc>
                <a:spcPct val="120000"/>
              </a:lnSpc>
              <a:spcBef>
                <a:spcPts val="0"/>
              </a:spcBef>
              <a:spcAft>
                <a:spcPts val="0"/>
              </a:spcAft>
            </a:pPr>
            <a:r>
              <a:rPr sz="975" b="1">
                <a:solidFill>
                  <a:srgbClr val="6B6B6B"/>
                </a:solidFill>
                <a:latin typeface="Meiryo"/>
                <a:ea typeface="Meiryo"/>
                <a:cs typeface="Meiryo"/>
              </a:rPr>
              <a:t>10-27 に計測した流れ</a:t>
            </a:r>
          </a:p>
        </p:txBody>
      </p:sp>
      <p:sp>
        <p:nvSpPr>
          <p:cNvPr id="6" name="Rounded Rectangle 5"/>
          <p:cNvSpPr/>
          <p:nvPr/>
        </p:nvSpPr>
        <p:spPr>
          <a:xfrm>
            <a:off x="552450" y="1866900"/>
            <a:ext cx="1462088" cy="714375"/>
          </a:xfrm>
          <a:prstGeom prst="roundRect">
            <a:avLst>
              <a:gd name="adj" fmla="val 8000"/>
            </a:avLst>
          </a:prstGeom>
          <a:solidFill>
            <a:srgbClr val="F4F4F4"/>
          </a:solidFill>
          <a:ln w="9525">
            <a:solidFill>
              <a:srgbClr val="C8C8C8"/>
            </a:solidFill>
          </a:ln>
          <a:effectLst/>
        </p:spPr>
        <p:style>
          <a:lnRef idx="1">
            <a:schemeClr val="accent1"/>
          </a:lnRef>
          <a:fillRef idx="3">
            <a:schemeClr val="accent1"/>
          </a:fillRef>
          <a:effectRef idx="2">
            <a:schemeClr val="accent1"/>
          </a:effectRef>
          <a:fontRef idx="minor">
            <a:schemeClr val="lt1"/>
          </a:fontRef>
        </p:style>
        <p:txBody>
          <a:bodyPr rtlCol="0" anchor="ctr" wrap="square" tIns="76200" rIns="57150" bIns="76200" lIns="57150"/>
          <a:lstStyle/>
          <a:p>
            <a:pPr algn="ctr">
              <a:lnSpc>
                <a:spcPct val="120000"/>
              </a:lnSpc>
              <a:spcBef>
                <a:spcPts val="0"/>
              </a:spcBef>
              <a:spcAft>
                <a:spcPts val="225"/>
              </a:spcAft>
            </a:pPr>
            <a:r>
              <a:rPr sz="825" b="1">
                <a:solidFill>
                  <a:srgbClr val="6B6B6B"/>
                </a:solidFill>
                <a:latin typeface="Meiryo"/>
                <a:ea typeface="Meiryo"/>
                <a:cs typeface="Meiryo"/>
              </a:rPr>
              <a:t>1</a:t>
            </a:r>
          </a:p>
          <a:p>
            <a:pPr algn="ctr">
              <a:lnSpc>
                <a:spcPct val="120000"/>
              </a:lnSpc>
              <a:spcBef>
                <a:spcPts val="0"/>
              </a:spcBef>
              <a:spcAft>
                <a:spcPts val="0"/>
              </a:spcAft>
            </a:pPr>
            <a:r>
              <a:rPr sz="975" b="1">
                <a:solidFill>
                  <a:srgbClr val="1A1A1A"/>
                </a:solidFill>
                <a:latin typeface="Meiryo"/>
                <a:ea typeface="Meiryo"/>
                <a:cs typeface="Meiryo"/>
              </a:rPr>
              <a:t>信号の
確認</a:t>
            </a:r>
          </a:p>
        </p:txBody>
      </p:sp>
      <p:cxnSp>
        <p:nvCxnSpPr>
          <p:cNvPr id="7" name="Connector 6"/>
          <p:cNvCxnSpPr/>
          <p:nvPr/>
        </p:nvCxnSpPr>
        <p:spPr>
          <a:xfrm>
            <a:off x="2033588" y="2224088"/>
            <a:ext cx="128587" cy="0"/>
          </a:xfrm>
          <a:prstGeom prst="line">
            <a:avLst/>
          </a:prstGeom>
          <a:ln w="19050">
            <a:solidFill>
              <a:srgbClr val="6B6B6B"/>
            </a:solidFill>
            <a:tailEnd type="triangle" w="med" len="med"/>
          </a:ln>
        </p:spPr>
      </p:cxnSp>
      <p:sp>
        <p:nvSpPr>
          <p:cNvPr id="8" name="Rounded Rectangle 7"/>
          <p:cNvSpPr/>
          <p:nvPr/>
        </p:nvSpPr>
        <p:spPr>
          <a:xfrm>
            <a:off x="2181225" y="1866900"/>
            <a:ext cx="1462088" cy="714375"/>
          </a:xfrm>
          <a:prstGeom prst="roundRect">
            <a:avLst>
              <a:gd name="adj" fmla="val 8000"/>
            </a:avLst>
          </a:prstGeom>
          <a:solidFill>
            <a:srgbClr val="F4F4F4"/>
          </a:solidFill>
          <a:ln w="9525">
            <a:solidFill>
              <a:srgbClr val="C8C8C8"/>
            </a:solidFill>
          </a:ln>
          <a:effectLst/>
        </p:spPr>
        <p:style>
          <a:lnRef idx="1">
            <a:schemeClr val="accent1"/>
          </a:lnRef>
          <a:fillRef idx="3">
            <a:schemeClr val="accent1"/>
          </a:fillRef>
          <a:effectRef idx="2">
            <a:schemeClr val="accent1"/>
          </a:effectRef>
          <a:fontRef idx="minor">
            <a:schemeClr val="lt1"/>
          </a:fontRef>
        </p:style>
        <p:txBody>
          <a:bodyPr rtlCol="0" anchor="ctr" wrap="square" tIns="76200" rIns="57150" bIns="76200" lIns="57150"/>
          <a:lstStyle/>
          <a:p>
            <a:pPr algn="ctr">
              <a:lnSpc>
                <a:spcPct val="120000"/>
              </a:lnSpc>
              <a:spcBef>
                <a:spcPts val="0"/>
              </a:spcBef>
              <a:spcAft>
                <a:spcPts val="225"/>
              </a:spcAft>
            </a:pPr>
            <a:r>
              <a:rPr sz="825" b="1">
                <a:solidFill>
                  <a:srgbClr val="6B6B6B"/>
                </a:solidFill>
                <a:latin typeface="Meiryo"/>
                <a:ea typeface="Meiryo"/>
                <a:cs typeface="Meiryo"/>
              </a:rPr>
              <a:t>2</a:t>
            </a:r>
          </a:p>
          <a:p>
            <a:pPr algn="ctr">
              <a:lnSpc>
                <a:spcPct val="120000"/>
              </a:lnSpc>
              <a:spcBef>
                <a:spcPts val="0"/>
              </a:spcBef>
              <a:spcAft>
                <a:spcPts val="0"/>
              </a:spcAft>
            </a:pPr>
            <a:r>
              <a:rPr sz="975" b="1">
                <a:solidFill>
                  <a:srgbClr val="1A1A1A"/>
                </a:solidFill>
                <a:latin typeface="Meiryo"/>
                <a:ea typeface="Meiryo"/>
                <a:cs typeface="Meiryo"/>
              </a:rPr>
              <a:t>安静</a:t>
            </a:r>
          </a:p>
        </p:txBody>
      </p:sp>
      <p:cxnSp>
        <p:nvCxnSpPr>
          <p:cNvPr id="9" name="Connector 8"/>
          <p:cNvCxnSpPr/>
          <p:nvPr/>
        </p:nvCxnSpPr>
        <p:spPr>
          <a:xfrm>
            <a:off x="3662362" y="2224088"/>
            <a:ext cx="128588" cy="0"/>
          </a:xfrm>
          <a:prstGeom prst="line">
            <a:avLst/>
          </a:prstGeom>
          <a:ln w="19050">
            <a:solidFill>
              <a:srgbClr val="6B6B6B"/>
            </a:solidFill>
            <a:tailEnd type="triangle" w="med" len="med"/>
          </a:ln>
        </p:spPr>
      </p:cxnSp>
      <p:sp>
        <p:nvSpPr>
          <p:cNvPr id="10" name="Rounded Rectangle 9"/>
          <p:cNvSpPr/>
          <p:nvPr/>
        </p:nvSpPr>
        <p:spPr>
          <a:xfrm>
            <a:off x="3810000" y="1866900"/>
            <a:ext cx="1462088" cy="714375"/>
          </a:xfrm>
          <a:prstGeom prst="roundRect">
            <a:avLst>
              <a:gd name="adj" fmla="val 8000"/>
            </a:avLst>
          </a:prstGeom>
          <a:solidFill>
            <a:srgbClr val="F4F4F4"/>
          </a:solidFill>
          <a:ln w="9525">
            <a:solidFill>
              <a:srgbClr val="C8C8C8"/>
            </a:solidFill>
          </a:ln>
          <a:effectLst/>
        </p:spPr>
        <p:style>
          <a:lnRef idx="1">
            <a:schemeClr val="accent1"/>
          </a:lnRef>
          <a:fillRef idx="3">
            <a:schemeClr val="accent1"/>
          </a:fillRef>
          <a:effectRef idx="2">
            <a:schemeClr val="accent1"/>
          </a:effectRef>
          <a:fontRef idx="minor">
            <a:schemeClr val="lt1"/>
          </a:fontRef>
        </p:style>
        <p:txBody>
          <a:bodyPr rtlCol="0" anchor="ctr" wrap="square" tIns="76200" rIns="57150" bIns="76200" lIns="57150"/>
          <a:lstStyle/>
          <a:p>
            <a:pPr algn="ctr">
              <a:lnSpc>
                <a:spcPct val="120000"/>
              </a:lnSpc>
              <a:spcBef>
                <a:spcPts val="0"/>
              </a:spcBef>
              <a:spcAft>
                <a:spcPts val="225"/>
              </a:spcAft>
            </a:pPr>
            <a:r>
              <a:rPr sz="825" b="1">
                <a:solidFill>
                  <a:srgbClr val="6B6B6B"/>
                </a:solidFill>
                <a:latin typeface="Meiryo"/>
                <a:ea typeface="Meiryo"/>
                <a:cs typeface="Meiryo"/>
              </a:rPr>
              <a:t>3</a:t>
            </a:r>
          </a:p>
          <a:p>
            <a:pPr algn="ctr">
              <a:lnSpc>
                <a:spcPct val="120000"/>
              </a:lnSpc>
              <a:spcBef>
                <a:spcPts val="0"/>
              </a:spcBef>
              <a:spcAft>
                <a:spcPts val="0"/>
              </a:spcAft>
            </a:pPr>
            <a:r>
              <a:rPr sz="975" b="1">
                <a:solidFill>
                  <a:srgbClr val="1A1A1A"/>
                </a:solidFill>
                <a:latin typeface="Meiryo"/>
                <a:ea typeface="Meiryo"/>
                <a:cs typeface="Meiryo"/>
              </a:rPr>
              <a:t>確認動作
手首の 2 つ</a:t>
            </a:r>
          </a:p>
        </p:txBody>
      </p:sp>
      <p:cxnSp>
        <p:nvCxnSpPr>
          <p:cNvPr id="11" name="Connector 10"/>
          <p:cNvCxnSpPr/>
          <p:nvPr/>
        </p:nvCxnSpPr>
        <p:spPr>
          <a:xfrm>
            <a:off x="5291138" y="2224088"/>
            <a:ext cx="128587" cy="0"/>
          </a:xfrm>
          <a:prstGeom prst="line">
            <a:avLst/>
          </a:prstGeom>
          <a:ln w="19050">
            <a:solidFill>
              <a:srgbClr val="6B6B6B"/>
            </a:solidFill>
            <a:tailEnd type="triangle" w="med" len="med"/>
          </a:ln>
        </p:spPr>
      </p:cxnSp>
      <p:sp>
        <p:nvSpPr>
          <p:cNvPr id="12" name="Rounded Rectangle 11"/>
          <p:cNvSpPr/>
          <p:nvPr/>
        </p:nvSpPr>
        <p:spPr>
          <a:xfrm>
            <a:off x="5438775" y="1866900"/>
            <a:ext cx="1462088" cy="714375"/>
          </a:xfrm>
          <a:prstGeom prst="roundRect">
            <a:avLst>
              <a:gd name="adj" fmla="val 8000"/>
            </a:avLst>
          </a:prstGeom>
          <a:solidFill>
            <a:srgbClr val="F4F4F4"/>
          </a:solidFill>
          <a:ln w="9525">
            <a:solidFill>
              <a:srgbClr val="C8C8C8"/>
            </a:solidFill>
          </a:ln>
          <a:effectLst/>
        </p:spPr>
        <p:style>
          <a:lnRef idx="1">
            <a:schemeClr val="accent1"/>
          </a:lnRef>
          <a:fillRef idx="3">
            <a:schemeClr val="accent1"/>
          </a:fillRef>
          <a:effectRef idx="2">
            <a:schemeClr val="accent1"/>
          </a:effectRef>
          <a:fontRef idx="minor">
            <a:schemeClr val="lt1"/>
          </a:fontRef>
        </p:style>
        <p:txBody>
          <a:bodyPr rtlCol="0" anchor="ctr" wrap="square" tIns="76200" rIns="57150" bIns="76200" lIns="57150"/>
          <a:lstStyle/>
          <a:p>
            <a:pPr algn="ctr">
              <a:lnSpc>
                <a:spcPct val="120000"/>
              </a:lnSpc>
              <a:spcBef>
                <a:spcPts val="0"/>
              </a:spcBef>
              <a:spcAft>
                <a:spcPts val="225"/>
              </a:spcAft>
            </a:pPr>
            <a:r>
              <a:rPr sz="825" b="1">
                <a:solidFill>
                  <a:srgbClr val="6B6B6B"/>
                </a:solidFill>
                <a:latin typeface="Meiryo"/>
                <a:ea typeface="Meiryo"/>
                <a:cs typeface="Meiryo"/>
              </a:rPr>
              <a:t>4</a:t>
            </a:r>
          </a:p>
          <a:p>
            <a:pPr algn="ctr">
              <a:lnSpc>
                <a:spcPct val="120000"/>
              </a:lnSpc>
              <a:spcBef>
                <a:spcPts val="0"/>
              </a:spcBef>
              <a:spcAft>
                <a:spcPts val="0"/>
              </a:spcAft>
            </a:pPr>
            <a:r>
              <a:rPr sz="975" b="1">
                <a:solidFill>
                  <a:srgbClr val="1A1A1A"/>
                </a:solidFill>
                <a:latin typeface="Meiryo"/>
                <a:ea typeface="Meiryo"/>
                <a:cs typeface="Meiryo"/>
              </a:rPr>
              <a:t>MVC
6 課題 × 2 周</a:t>
            </a:r>
          </a:p>
        </p:txBody>
      </p:sp>
      <p:cxnSp>
        <p:nvCxnSpPr>
          <p:cNvPr id="13" name="Connector 12"/>
          <p:cNvCxnSpPr/>
          <p:nvPr/>
        </p:nvCxnSpPr>
        <p:spPr>
          <a:xfrm>
            <a:off x="6919912" y="2224088"/>
            <a:ext cx="128588" cy="0"/>
          </a:xfrm>
          <a:prstGeom prst="line">
            <a:avLst/>
          </a:prstGeom>
          <a:ln w="19050">
            <a:solidFill>
              <a:srgbClr val="6B6B6B"/>
            </a:solidFill>
            <a:tailEnd type="triangle" w="med" len="med"/>
          </a:ln>
        </p:spPr>
      </p:cxnSp>
      <p:sp>
        <p:nvSpPr>
          <p:cNvPr id="14" name="Rounded Rectangle 13"/>
          <p:cNvSpPr/>
          <p:nvPr/>
        </p:nvSpPr>
        <p:spPr>
          <a:xfrm>
            <a:off x="7067550" y="1866900"/>
            <a:ext cx="1462088" cy="714375"/>
          </a:xfrm>
          <a:prstGeom prst="roundRect">
            <a:avLst>
              <a:gd name="adj" fmla="val 8000"/>
            </a:avLst>
          </a:prstGeom>
          <a:solidFill>
            <a:srgbClr val="F4F4F4"/>
          </a:solidFill>
          <a:ln w="9525">
            <a:solidFill>
              <a:srgbClr val="C8C8C8"/>
            </a:solidFill>
          </a:ln>
          <a:effectLst/>
        </p:spPr>
        <p:style>
          <a:lnRef idx="1">
            <a:schemeClr val="accent1"/>
          </a:lnRef>
          <a:fillRef idx="3">
            <a:schemeClr val="accent1"/>
          </a:fillRef>
          <a:effectRef idx="2">
            <a:schemeClr val="accent1"/>
          </a:effectRef>
          <a:fontRef idx="minor">
            <a:schemeClr val="lt1"/>
          </a:fontRef>
        </p:style>
        <p:txBody>
          <a:bodyPr rtlCol="0" anchor="ctr" wrap="square" tIns="76200" rIns="57150" bIns="76200" lIns="57150"/>
          <a:lstStyle/>
          <a:p>
            <a:pPr algn="ctr">
              <a:lnSpc>
                <a:spcPct val="120000"/>
              </a:lnSpc>
              <a:spcBef>
                <a:spcPts val="0"/>
              </a:spcBef>
              <a:spcAft>
                <a:spcPts val="225"/>
              </a:spcAft>
            </a:pPr>
            <a:r>
              <a:rPr sz="825" b="1">
                <a:solidFill>
                  <a:srgbClr val="6B6B6B"/>
                </a:solidFill>
                <a:latin typeface="Meiryo"/>
                <a:ea typeface="Meiryo"/>
                <a:cs typeface="Meiryo"/>
              </a:rPr>
              <a:t>5</a:t>
            </a:r>
          </a:p>
          <a:p>
            <a:pPr algn="ctr">
              <a:lnSpc>
                <a:spcPct val="120000"/>
              </a:lnSpc>
              <a:spcBef>
                <a:spcPts val="0"/>
              </a:spcBef>
              <a:spcAft>
                <a:spcPts val="0"/>
              </a:spcAft>
            </a:pPr>
            <a:r>
              <a:rPr sz="975" b="1">
                <a:solidFill>
                  <a:srgbClr val="1A1A1A"/>
                </a:solidFill>
                <a:latin typeface="Meiryo"/>
                <a:ea typeface="Meiryo"/>
                <a:cs typeface="Meiryo"/>
              </a:rPr>
              <a:t>3 分の
記録</a:t>
            </a:r>
          </a:p>
        </p:txBody>
      </p:sp>
      <p:sp>
        <p:nvSpPr>
          <p:cNvPr id="15" name="TextBox 14"/>
          <p:cNvSpPr txBox="1"/>
          <p:nvPr/>
        </p:nvSpPr>
        <p:spPr>
          <a:xfrm>
            <a:off x="552450" y="2762250"/>
            <a:ext cx="7981950" cy="190500"/>
          </a:xfrm>
          <a:prstGeom prst="rect">
            <a:avLst/>
          </a:prstGeom>
          <a:noFill/>
        </p:spPr>
        <p:txBody>
          <a:bodyPr wrap="square" tIns="0" rIns="0" bIns="0" lIns="0">
            <a:spAutoFit/>
          </a:bodyPr>
          <a:lstStyle/>
          <a:p>
            <a:pPr algn="l">
              <a:lnSpc>
                <a:spcPct val="120000"/>
              </a:lnSpc>
              <a:spcBef>
                <a:spcPts val="0"/>
              </a:spcBef>
              <a:spcAft>
                <a:spcPts val="0"/>
              </a:spcAft>
            </a:pPr>
            <a:r>
              <a:rPr sz="975" b="1">
                <a:solidFill>
                  <a:srgbClr val="1F6FB4"/>
                </a:solidFill>
                <a:latin typeface="Meiryo"/>
                <a:ea typeface="Meiryo"/>
                <a:cs typeface="Meiryo"/>
              </a:rPr>
              <a:t>次の計測の流れ（青が計測のあとに足したところ）</a:t>
            </a:r>
          </a:p>
        </p:txBody>
      </p:sp>
      <p:sp>
        <p:nvSpPr>
          <p:cNvPr id="16" name="Rounded Rectangle 15"/>
          <p:cNvSpPr/>
          <p:nvPr/>
        </p:nvSpPr>
        <p:spPr>
          <a:xfrm>
            <a:off x="552450" y="2981325"/>
            <a:ext cx="1190625" cy="714375"/>
          </a:xfrm>
          <a:prstGeom prst="roundRect">
            <a:avLst>
              <a:gd name="adj" fmla="val 8000"/>
            </a:avLst>
          </a:prstGeom>
          <a:solidFill>
            <a:srgbClr val="F4F4F4"/>
          </a:solidFill>
          <a:ln w="9525">
            <a:solidFill>
              <a:srgbClr val="C8C8C8"/>
            </a:solidFill>
          </a:ln>
          <a:effectLst/>
        </p:spPr>
        <p:style>
          <a:lnRef idx="1">
            <a:schemeClr val="accent1"/>
          </a:lnRef>
          <a:fillRef idx="3">
            <a:schemeClr val="accent1"/>
          </a:fillRef>
          <a:effectRef idx="2">
            <a:schemeClr val="accent1"/>
          </a:effectRef>
          <a:fontRef idx="minor">
            <a:schemeClr val="lt1"/>
          </a:fontRef>
        </p:style>
        <p:txBody>
          <a:bodyPr rtlCol="0" anchor="ctr" wrap="square" tIns="76200" rIns="57150" bIns="76200" lIns="57150"/>
          <a:lstStyle/>
          <a:p>
            <a:pPr algn="ctr">
              <a:lnSpc>
                <a:spcPct val="120000"/>
              </a:lnSpc>
              <a:spcBef>
                <a:spcPts val="0"/>
              </a:spcBef>
              <a:spcAft>
                <a:spcPts val="225"/>
              </a:spcAft>
            </a:pPr>
            <a:r>
              <a:rPr sz="825" b="1">
                <a:solidFill>
                  <a:srgbClr val="6B6B6B"/>
                </a:solidFill>
                <a:latin typeface="Meiryo"/>
                <a:ea typeface="Meiryo"/>
                <a:cs typeface="Meiryo"/>
              </a:rPr>
              <a:t>1</a:t>
            </a:r>
          </a:p>
          <a:p>
            <a:pPr algn="ctr">
              <a:lnSpc>
                <a:spcPct val="120000"/>
              </a:lnSpc>
              <a:spcBef>
                <a:spcPts val="0"/>
              </a:spcBef>
              <a:spcAft>
                <a:spcPts val="0"/>
              </a:spcAft>
            </a:pPr>
            <a:r>
              <a:rPr sz="975" b="1">
                <a:solidFill>
                  <a:srgbClr val="1A1A1A"/>
                </a:solidFill>
                <a:latin typeface="Meiryo"/>
                <a:ea typeface="Meiryo"/>
                <a:cs typeface="Meiryo"/>
              </a:rPr>
              <a:t>信号の
確認</a:t>
            </a:r>
          </a:p>
        </p:txBody>
      </p:sp>
      <p:cxnSp>
        <p:nvCxnSpPr>
          <p:cNvPr id="17" name="Connector 16"/>
          <p:cNvCxnSpPr/>
          <p:nvPr/>
        </p:nvCxnSpPr>
        <p:spPr>
          <a:xfrm>
            <a:off x="1762125" y="3338512"/>
            <a:ext cx="128587" cy="0"/>
          </a:xfrm>
          <a:prstGeom prst="line">
            <a:avLst/>
          </a:prstGeom>
          <a:ln w="19050">
            <a:solidFill>
              <a:srgbClr val="6B6B6B"/>
            </a:solidFill>
            <a:tailEnd type="triangle" w="med" len="med"/>
          </a:ln>
        </p:spPr>
      </p:cxnSp>
      <p:sp>
        <p:nvSpPr>
          <p:cNvPr id="18" name="Rounded Rectangle 17"/>
          <p:cNvSpPr/>
          <p:nvPr/>
        </p:nvSpPr>
        <p:spPr>
          <a:xfrm>
            <a:off x="1909762" y="2981325"/>
            <a:ext cx="1190625" cy="714375"/>
          </a:xfrm>
          <a:prstGeom prst="roundRect">
            <a:avLst>
              <a:gd name="adj" fmla="val 8000"/>
            </a:avLst>
          </a:prstGeom>
          <a:solidFill>
            <a:srgbClr val="E8F0F8"/>
          </a:solidFill>
          <a:ln w="9525">
            <a:solidFill>
              <a:srgbClr val="1F6FB4"/>
            </a:solidFill>
          </a:ln>
          <a:effectLst/>
        </p:spPr>
        <p:style>
          <a:lnRef idx="1">
            <a:schemeClr val="accent1"/>
          </a:lnRef>
          <a:fillRef idx="3">
            <a:schemeClr val="accent1"/>
          </a:fillRef>
          <a:effectRef idx="2">
            <a:schemeClr val="accent1"/>
          </a:effectRef>
          <a:fontRef idx="minor">
            <a:schemeClr val="lt1"/>
          </a:fontRef>
        </p:style>
        <p:txBody>
          <a:bodyPr rtlCol="0" anchor="ctr" wrap="square" tIns="76200" rIns="57150" bIns="76200" lIns="57150"/>
          <a:lstStyle/>
          <a:p>
            <a:pPr algn="ctr">
              <a:lnSpc>
                <a:spcPct val="120000"/>
              </a:lnSpc>
              <a:spcBef>
                <a:spcPts val="0"/>
              </a:spcBef>
              <a:spcAft>
                <a:spcPts val="225"/>
              </a:spcAft>
            </a:pPr>
            <a:r>
              <a:rPr sz="825" b="1">
                <a:solidFill>
                  <a:srgbClr val="1F6FB4"/>
                </a:solidFill>
                <a:latin typeface="Meiryo"/>
                <a:ea typeface="Meiryo"/>
                <a:cs typeface="Meiryo"/>
              </a:rPr>
              <a:t>2</a:t>
            </a:r>
          </a:p>
          <a:p>
            <a:pPr algn="ctr">
              <a:lnSpc>
                <a:spcPct val="120000"/>
              </a:lnSpc>
              <a:spcBef>
                <a:spcPts val="0"/>
              </a:spcBef>
              <a:spcAft>
                <a:spcPts val="0"/>
              </a:spcAft>
            </a:pPr>
            <a:r>
              <a:rPr sz="975" b="1">
                <a:solidFill>
                  <a:srgbClr val="1A1A1A"/>
                </a:solidFill>
                <a:latin typeface="Meiryo"/>
                <a:ea typeface="Meiryo"/>
                <a:cs typeface="Meiryo"/>
              </a:rPr>
              <a:t>部位の確認
番号と部位</a:t>
            </a:r>
          </a:p>
        </p:txBody>
      </p:sp>
      <p:cxnSp>
        <p:nvCxnSpPr>
          <p:cNvPr id="19" name="Connector 18"/>
          <p:cNvCxnSpPr/>
          <p:nvPr/>
        </p:nvCxnSpPr>
        <p:spPr>
          <a:xfrm>
            <a:off x="3119438" y="3338512"/>
            <a:ext cx="128587" cy="0"/>
          </a:xfrm>
          <a:prstGeom prst="line">
            <a:avLst/>
          </a:prstGeom>
          <a:ln w="19050">
            <a:solidFill>
              <a:srgbClr val="6B6B6B"/>
            </a:solidFill>
            <a:tailEnd type="triangle" w="med" len="med"/>
          </a:ln>
        </p:spPr>
      </p:cxnSp>
      <p:sp>
        <p:nvSpPr>
          <p:cNvPr id="20" name="Rounded Rectangle 19"/>
          <p:cNvSpPr/>
          <p:nvPr/>
        </p:nvSpPr>
        <p:spPr>
          <a:xfrm>
            <a:off x="3267075" y="2981325"/>
            <a:ext cx="1190625" cy="714375"/>
          </a:xfrm>
          <a:prstGeom prst="roundRect">
            <a:avLst>
              <a:gd name="adj" fmla="val 8000"/>
            </a:avLst>
          </a:prstGeom>
          <a:solidFill>
            <a:srgbClr val="F4F4F4"/>
          </a:solidFill>
          <a:ln w="9525">
            <a:solidFill>
              <a:srgbClr val="C8C8C8"/>
            </a:solidFill>
          </a:ln>
          <a:effectLst/>
        </p:spPr>
        <p:style>
          <a:lnRef idx="1">
            <a:schemeClr val="accent1"/>
          </a:lnRef>
          <a:fillRef idx="3">
            <a:schemeClr val="accent1"/>
          </a:fillRef>
          <a:effectRef idx="2">
            <a:schemeClr val="accent1"/>
          </a:effectRef>
          <a:fontRef idx="minor">
            <a:schemeClr val="lt1"/>
          </a:fontRef>
        </p:style>
        <p:txBody>
          <a:bodyPr rtlCol="0" anchor="ctr" wrap="square" tIns="76200" rIns="57150" bIns="76200" lIns="57150"/>
          <a:lstStyle/>
          <a:p>
            <a:pPr algn="ctr">
              <a:lnSpc>
                <a:spcPct val="120000"/>
              </a:lnSpc>
              <a:spcBef>
                <a:spcPts val="0"/>
              </a:spcBef>
              <a:spcAft>
                <a:spcPts val="225"/>
              </a:spcAft>
            </a:pPr>
            <a:r>
              <a:rPr sz="825" b="1">
                <a:solidFill>
                  <a:srgbClr val="6B6B6B"/>
                </a:solidFill>
                <a:latin typeface="Meiryo"/>
                <a:ea typeface="Meiryo"/>
                <a:cs typeface="Meiryo"/>
              </a:rPr>
              <a:t>3</a:t>
            </a:r>
          </a:p>
          <a:p>
            <a:pPr algn="ctr">
              <a:lnSpc>
                <a:spcPct val="120000"/>
              </a:lnSpc>
              <a:spcBef>
                <a:spcPts val="0"/>
              </a:spcBef>
              <a:spcAft>
                <a:spcPts val="0"/>
              </a:spcAft>
            </a:pPr>
            <a:r>
              <a:rPr sz="975" b="1">
                <a:solidFill>
                  <a:srgbClr val="1A1A1A"/>
                </a:solidFill>
                <a:latin typeface="Meiryo"/>
                <a:ea typeface="Meiryo"/>
                <a:cs typeface="Meiryo"/>
              </a:rPr>
              <a:t>安静</a:t>
            </a:r>
          </a:p>
        </p:txBody>
      </p:sp>
      <p:cxnSp>
        <p:nvCxnSpPr>
          <p:cNvPr id="21" name="Connector 20"/>
          <p:cNvCxnSpPr/>
          <p:nvPr/>
        </p:nvCxnSpPr>
        <p:spPr>
          <a:xfrm>
            <a:off x="4476750" y="3338512"/>
            <a:ext cx="128588" cy="0"/>
          </a:xfrm>
          <a:prstGeom prst="line">
            <a:avLst/>
          </a:prstGeom>
          <a:ln w="19050">
            <a:solidFill>
              <a:srgbClr val="6B6B6B"/>
            </a:solidFill>
            <a:tailEnd type="triangle" w="med" len="med"/>
          </a:ln>
        </p:spPr>
      </p:cxnSp>
      <p:sp>
        <p:nvSpPr>
          <p:cNvPr id="22" name="Rounded Rectangle 21"/>
          <p:cNvSpPr/>
          <p:nvPr/>
        </p:nvSpPr>
        <p:spPr>
          <a:xfrm>
            <a:off x="4624388" y="2981325"/>
            <a:ext cx="1190625" cy="714375"/>
          </a:xfrm>
          <a:prstGeom prst="roundRect">
            <a:avLst>
              <a:gd name="adj" fmla="val 8000"/>
            </a:avLst>
          </a:prstGeom>
          <a:solidFill>
            <a:srgbClr val="E8F0F8"/>
          </a:solidFill>
          <a:ln w="9525">
            <a:solidFill>
              <a:srgbClr val="1F6FB4"/>
            </a:solidFill>
          </a:ln>
          <a:effectLst/>
        </p:spPr>
        <p:style>
          <a:lnRef idx="1">
            <a:schemeClr val="accent1"/>
          </a:lnRef>
          <a:fillRef idx="3">
            <a:schemeClr val="accent1"/>
          </a:fillRef>
          <a:effectRef idx="2">
            <a:schemeClr val="accent1"/>
          </a:effectRef>
          <a:fontRef idx="minor">
            <a:schemeClr val="lt1"/>
          </a:fontRef>
        </p:style>
        <p:txBody>
          <a:bodyPr rtlCol="0" anchor="ctr" wrap="square" tIns="76200" rIns="57150" bIns="76200" lIns="57150"/>
          <a:lstStyle/>
          <a:p>
            <a:pPr algn="ctr">
              <a:lnSpc>
                <a:spcPct val="120000"/>
              </a:lnSpc>
              <a:spcBef>
                <a:spcPts val="0"/>
              </a:spcBef>
              <a:spcAft>
                <a:spcPts val="225"/>
              </a:spcAft>
            </a:pPr>
            <a:r>
              <a:rPr sz="825" b="1">
                <a:solidFill>
                  <a:srgbClr val="1F6FB4"/>
                </a:solidFill>
                <a:latin typeface="Meiryo"/>
                <a:ea typeface="Meiryo"/>
                <a:cs typeface="Meiryo"/>
              </a:rPr>
              <a:t>4</a:t>
            </a:r>
          </a:p>
          <a:p>
            <a:pPr algn="ctr">
              <a:lnSpc>
                <a:spcPct val="120000"/>
              </a:lnSpc>
              <a:spcBef>
                <a:spcPts val="0"/>
              </a:spcBef>
              <a:spcAft>
                <a:spcPts val="0"/>
              </a:spcAft>
            </a:pPr>
            <a:r>
              <a:rPr sz="975" b="1">
                <a:solidFill>
                  <a:srgbClr val="1A1A1A"/>
                </a:solidFill>
                <a:latin typeface="Meiryo"/>
                <a:ea typeface="Meiryo"/>
                <a:cs typeface="Meiryo"/>
              </a:rPr>
              <a:t>確認動作
6 か所に</a:t>
            </a:r>
          </a:p>
        </p:txBody>
      </p:sp>
      <p:cxnSp>
        <p:nvCxnSpPr>
          <p:cNvPr id="23" name="Connector 22"/>
          <p:cNvCxnSpPr/>
          <p:nvPr/>
        </p:nvCxnSpPr>
        <p:spPr>
          <a:xfrm>
            <a:off x="5834062" y="3338512"/>
            <a:ext cx="128588" cy="0"/>
          </a:xfrm>
          <a:prstGeom prst="line">
            <a:avLst/>
          </a:prstGeom>
          <a:ln w="19050">
            <a:solidFill>
              <a:srgbClr val="6B6B6B"/>
            </a:solidFill>
            <a:tailEnd type="triangle" w="med" len="med"/>
          </a:ln>
        </p:spPr>
      </p:cxnSp>
      <p:sp>
        <p:nvSpPr>
          <p:cNvPr id="24" name="Rounded Rectangle 23"/>
          <p:cNvSpPr/>
          <p:nvPr/>
        </p:nvSpPr>
        <p:spPr>
          <a:xfrm>
            <a:off x="5981700" y="2981325"/>
            <a:ext cx="1190625" cy="714375"/>
          </a:xfrm>
          <a:prstGeom prst="roundRect">
            <a:avLst>
              <a:gd name="adj" fmla="val 8000"/>
            </a:avLst>
          </a:prstGeom>
          <a:solidFill>
            <a:srgbClr val="F4F4F4"/>
          </a:solidFill>
          <a:ln w="9525">
            <a:solidFill>
              <a:srgbClr val="C8C8C8"/>
            </a:solidFill>
          </a:ln>
          <a:effectLst/>
        </p:spPr>
        <p:style>
          <a:lnRef idx="1">
            <a:schemeClr val="accent1"/>
          </a:lnRef>
          <a:fillRef idx="3">
            <a:schemeClr val="accent1"/>
          </a:fillRef>
          <a:effectRef idx="2">
            <a:schemeClr val="accent1"/>
          </a:effectRef>
          <a:fontRef idx="minor">
            <a:schemeClr val="lt1"/>
          </a:fontRef>
        </p:style>
        <p:txBody>
          <a:bodyPr rtlCol="0" anchor="ctr" wrap="square" tIns="76200" rIns="57150" bIns="76200" lIns="57150"/>
          <a:lstStyle/>
          <a:p>
            <a:pPr algn="ctr">
              <a:lnSpc>
                <a:spcPct val="120000"/>
              </a:lnSpc>
              <a:spcBef>
                <a:spcPts val="0"/>
              </a:spcBef>
              <a:spcAft>
                <a:spcPts val="225"/>
              </a:spcAft>
            </a:pPr>
            <a:r>
              <a:rPr sz="825" b="1">
                <a:solidFill>
                  <a:srgbClr val="6B6B6B"/>
                </a:solidFill>
                <a:latin typeface="Meiryo"/>
                <a:ea typeface="Meiryo"/>
                <a:cs typeface="Meiryo"/>
              </a:rPr>
              <a:t>5</a:t>
            </a:r>
          </a:p>
          <a:p>
            <a:pPr algn="ctr">
              <a:lnSpc>
                <a:spcPct val="120000"/>
              </a:lnSpc>
              <a:spcBef>
                <a:spcPts val="0"/>
              </a:spcBef>
              <a:spcAft>
                <a:spcPts val="0"/>
              </a:spcAft>
            </a:pPr>
            <a:r>
              <a:rPr sz="975" b="1">
                <a:solidFill>
                  <a:srgbClr val="1A1A1A"/>
                </a:solidFill>
                <a:latin typeface="Meiryo"/>
                <a:ea typeface="Meiryo"/>
                <a:cs typeface="Meiryo"/>
              </a:rPr>
              <a:t>MVC
6 課題 × 2 周</a:t>
            </a:r>
          </a:p>
        </p:txBody>
      </p:sp>
      <p:cxnSp>
        <p:nvCxnSpPr>
          <p:cNvPr id="25" name="Connector 24"/>
          <p:cNvCxnSpPr/>
          <p:nvPr/>
        </p:nvCxnSpPr>
        <p:spPr>
          <a:xfrm>
            <a:off x="7191375" y="3338512"/>
            <a:ext cx="128587" cy="0"/>
          </a:xfrm>
          <a:prstGeom prst="line">
            <a:avLst/>
          </a:prstGeom>
          <a:ln w="19050">
            <a:solidFill>
              <a:srgbClr val="6B6B6B"/>
            </a:solidFill>
            <a:tailEnd type="triangle" w="med" len="med"/>
          </a:ln>
        </p:spPr>
      </p:cxnSp>
      <p:sp>
        <p:nvSpPr>
          <p:cNvPr id="26" name="Rounded Rectangle 25"/>
          <p:cNvSpPr/>
          <p:nvPr/>
        </p:nvSpPr>
        <p:spPr>
          <a:xfrm>
            <a:off x="7339012" y="2981325"/>
            <a:ext cx="1190625" cy="714375"/>
          </a:xfrm>
          <a:prstGeom prst="roundRect">
            <a:avLst>
              <a:gd name="adj" fmla="val 8000"/>
            </a:avLst>
          </a:prstGeom>
          <a:solidFill>
            <a:srgbClr val="F4F4F4"/>
          </a:solidFill>
          <a:ln w="9525">
            <a:solidFill>
              <a:srgbClr val="C8C8C8"/>
            </a:solidFill>
          </a:ln>
          <a:effectLst/>
        </p:spPr>
        <p:style>
          <a:lnRef idx="1">
            <a:schemeClr val="accent1"/>
          </a:lnRef>
          <a:fillRef idx="3">
            <a:schemeClr val="accent1"/>
          </a:fillRef>
          <a:effectRef idx="2">
            <a:schemeClr val="accent1"/>
          </a:effectRef>
          <a:fontRef idx="minor">
            <a:schemeClr val="lt1"/>
          </a:fontRef>
        </p:style>
        <p:txBody>
          <a:bodyPr rtlCol="0" anchor="ctr" wrap="square" tIns="76200" rIns="57150" bIns="76200" lIns="57150"/>
          <a:lstStyle/>
          <a:p>
            <a:pPr algn="ctr">
              <a:lnSpc>
                <a:spcPct val="120000"/>
              </a:lnSpc>
              <a:spcBef>
                <a:spcPts val="0"/>
              </a:spcBef>
              <a:spcAft>
                <a:spcPts val="225"/>
              </a:spcAft>
            </a:pPr>
            <a:r>
              <a:rPr sz="825" b="1">
                <a:solidFill>
                  <a:srgbClr val="6B6B6B"/>
                </a:solidFill>
                <a:latin typeface="Meiryo"/>
                <a:ea typeface="Meiryo"/>
                <a:cs typeface="Meiryo"/>
              </a:rPr>
              <a:t>6</a:t>
            </a:r>
          </a:p>
          <a:p>
            <a:pPr algn="ctr">
              <a:lnSpc>
                <a:spcPct val="120000"/>
              </a:lnSpc>
              <a:spcBef>
                <a:spcPts val="0"/>
              </a:spcBef>
              <a:spcAft>
                <a:spcPts val="0"/>
              </a:spcAft>
            </a:pPr>
            <a:r>
              <a:rPr sz="975" b="1">
                <a:solidFill>
                  <a:srgbClr val="1A1A1A"/>
                </a:solidFill>
                <a:latin typeface="Meiryo"/>
                <a:ea typeface="Meiryo"/>
                <a:cs typeface="Meiryo"/>
              </a:rPr>
              <a:t>3 分の
記録</a:t>
            </a:r>
          </a:p>
        </p:txBody>
      </p:sp>
      <p:sp>
        <p:nvSpPr>
          <p:cNvPr id="27" name="TextBox 26"/>
          <p:cNvSpPr txBox="1"/>
          <p:nvPr/>
        </p:nvSpPr>
        <p:spPr>
          <a:xfrm>
            <a:off x="552450" y="3810000"/>
            <a:ext cx="7981950" cy="381000"/>
          </a:xfrm>
          <a:prstGeom prst="rect">
            <a:avLst/>
          </a:prstGeom>
          <a:noFill/>
        </p:spPr>
        <p:txBody>
          <a:bodyPr wrap="square" tIns="0" rIns="0" bIns="0" lIns="0">
            <a:spAutoFit/>
          </a:bodyPr>
          <a:lstStyle/>
          <a:p>
            <a:pPr algn="l">
              <a:lnSpc>
                <a:spcPct val="130000"/>
              </a:lnSpc>
              <a:spcBef>
                <a:spcPts val="0"/>
              </a:spcBef>
              <a:spcAft>
                <a:spcPts val="0"/>
              </a:spcAft>
            </a:pPr>
            <a:r>
              <a:rPr sz="825" b="0">
                <a:solidFill>
                  <a:srgbClr val="6B6B6B"/>
                </a:solidFill>
                <a:latin typeface="Meiryo"/>
                <a:ea typeface="Meiryo"/>
                <a:cs typeface="Meiryo"/>
              </a:rPr>
              <a:t>部位の確認：センサの番号と貼った部位が合っているかを、計測の前に確かめる</a:t>
            </a:r>
          </a:p>
          <a:p>
            <a:pPr algn="l">
              <a:lnSpc>
                <a:spcPct val="130000"/>
              </a:lnSpc>
              <a:spcBef>
                <a:spcPts val="0"/>
              </a:spcBef>
              <a:spcAft>
                <a:spcPts val="0"/>
              </a:spcAft>
            </a:pPr>
            <a:r>
              <a:rPr sz="825" b="0">
                <a:solidFill>
                  <a:srgbClr val="6B6B6B"/>
                </a:solidFill>
                <a:latin typeface="Meiryo"/>
                <a:ea typeface="Meiryo"/>
                <a:cs typeface="Meiryo"/>
              </a:rPr>
              <a:t>確認動作：これまでは手首の 2 つだけ。前腕以外の MVC が全力かを確かめるために足した</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52450" y="381000"/>
            <a:ext cx="7143750" cy="476250"/>
          </a:xfrm>
          <a:prstGeom prst="rect">
            <a:avLst/>
          </a:prstGeom>
          <a:noFill/>
        </p:spPr>
        <p:txBody>
          <a:bodyPr wrap="square" tIns="0" rIns="0" bIns="0" lIns="0">
            <a:spAutoFit/>
          </a:bodyPr>
          <a:lstStyle/>
          <a:p>
            <a:pPr algn="l">
              <a:lnSpc>
                <a:spcPct val="120000"/>
              </a:lnSpc>
              <a:spcBef>
                <a:spcPts val="0"/>
              </a:spcBef>
              <a:spcAft>
                <a:spcPts val="0"/>
              </a:spcAft>
            </a:pPr>
            <a:r>
              <a:rPr sz="3000" b="1">
                <a:solidFill>
                  <a:srgbClr val="1A1A1A"/>
                </a:solidFill>
                <a:latin typeface="Meiryo"/>
                <a:ea typeface="Meiryo"/>
                <a:cs typeface="Meiryo"/>
              </a:rPr>
              <a:t>M1-6：伸展・屈曲とも MVC が足りた</a:t>
            </a:r>
          </a:p>
        </p:txBody>
      </p:sp>
      <p:sp>
        <p:nvSpPr>
          <p:cNvPr id="3" name="TextBox 2"/>
          <p:cNvSpPr txBox="1"/>
          <p:nvPr/>
        </p:nvSpPr>
        <p:spPr>
          <a:xfrm>
            <a:off x="7953375" y="476250"/>
            <a:ext cx="581025" cy="190500"/>
          </a:xfrm>
          <a:prstGeom prst="rect">
            <a:avLst/>
          </a:prstGeom>
          <a:noFill/>
        </p:spPr>
        <p:txBody>
          <a:bodyPr wrap="square" tIns="0" rIns="0" bIns="0" lIns="0">
            <a:spAutoFit/>
          </a:bodyPr>
          <a:lstStyle/>
          <a:p>
            <a:pPr algn="r">
              <a:lnSpc>
                <a:spcPct val="120000"/>
              </a:lnSpc>
              <a:spcBef>
                <a:spcPts val="0"/>
              </a:spcBef>
              <a:spcAft>
                <a:spcPts val="0"/>
              </a:spcAft>
            </a:pPr>
            <a:r>
              <a:rPr sz="1200" b="0">
                <a:solidFill>
                  <a:srgbClr val="6B6B6B"/>
                </a:solidFill>
                <a:latin typeface="Meiryo"/>
                <a:ea typeface="Meiryo"/>
                <a:cs typeface="Meiryo"/>
              </a:rPr>
              <a:t>4</a:t>
            </a:r>
          </a:p>
        </p:txBody>
      </p:sp>
      <p:sp>
        <p:nvSpPr>
          <p:cNvPr id="4" name="TextBox 3"/>
          <p:cNvSpPr txBox="1"/>
          <p:nvPr/>
        </p:nvSpPr>
        <p:spPr>
          <a:xfrm>
            <a:off x="552450" y="933450"/>
            <a:ext cx="7981950" cy="238125"/>
          </a:xfrm>
          <a:prstGeom prst="rect">
            <a:avLst/>
          </a:prstGeom>
          <a:noFill/>
        </p:spPr>
        <p:txBody>
          <a:bodyPr wrap="square" tIns="0" rIns="0" bIns="0" lIns="0">
            <a:spAutoFit/>
          </a:bodyPr>
          <a:lstStyle/>
          <a:p>
            <a:pPr algn="l">
              <a:lnSpc>
                <a:spcPct val="120000"/>
              </a:lnSpc>
              <a:spcBef>
                <a:spcPts val="0"/>
              </a:spcBef>
              <a:spcAft>
                <a:spcPts val="0"/>
              </a:spcAft>
            </a:pPr>
            <a:r>
              <a:rPr sz="975" b="0">
                <a:solidFill>
                  <a:srgbClr val="6B6B6B"/>
                </a:solidFill>
                <a:latin typeface="Meiryo"/>
                <a:ea typeface="Meiryo"/>
                <a:cs typeface="Meiryo"/>
              </a:rPr>
              <a:t>確認動作（誰も押さえず、自由に全力）が MVC の 100% 以下なら、MVC は全力を取れている</a:t>
            </a:r>
          </a:p>
        </p:txBody>
      </p:sp>
      <p:sp>
        <p:nvSpPr>
          <p:cNvPr id="5" name="Rounded Rectangle 4"/>
          <p:cNvSpPr/>
          <p:nvPr/>
        </p:nvSpPr>
        <p:spPr>
          <a:xfrm>
            <a:off x="552450" y="1190625"/>
            <a:ext cx="3905250" cy="1476375"/>
          </a:xfrm>
          <a:prstGeom prst="roundRect">
            <a:avLst>
              <a:gd name="adj" fmla="val 5161"/>
            </a:avLst>
          </a:prstGeom>
          <a:solidFill>
            <a:srgbClr val="E8F0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04850" y="1266825"/>
            <a:ext cx="3619500" cy="209550"/>
          </a:xfrm>
          <a:prstGeom prst="rect">
            <a:avLst/>
          </a:prstGeom>
          <a:noFill/>
        </p:spPr>
        <p:txBody>
          <a:bodyPr wrap="square" tIns="0" rIns="0" bIns="0" lIns="0">
            <a:spAutoFit/>
          </a:bodyPr>
          <a:lstStyle/>
          <a:p>
            <a:pPr algn="l">
              <a:lnSpc>
                <a:spcPct val="120000"/>
              </a:lnSpc>
              <a:spcBef>
                <a:spcPts val="0"/>
              </a:spcBef>
              <a:spcAft>
                <a:spcPts val="0"/>
              </a:spcAft>
            </a:pPr>
            <a:r>
              <a:rPr sz="1050" b="1">
                <a:solidFill>
                  <a:srgbClr val="1F4E79"/>
                </a:solidFill>
                <a:latin typeface="Meiryo"/>
                <a:ea typeface="Meiryo"/>
                <a:cs typeface="Meiryo"/>
              </a:rPr>
              <a:t>伸展（前腕の上のセンサ）</a:t>
            </a:r>
          </a:p>
        </p:txBody>
      </p:sp>
      <p:sp>
        <p:nvSpPr>
          <p:cNvPr id="7" name="TextBox 6"/>
          <p:cNvSpPr txBox="1"/>
          <p:nvPr/>
        </p:nvSpPr>
        <p:spPr>
          <a:xfrm>
            <a:off x="704850" y="1495425"/>
            <a:ext cx="1905000" cy="142875"/>
          </a:xfrm>
          <a:prstGeom prst="rect">
            <a:avLst/>
          </a:prstGeom>
          <a:noFill/>
        </p:spPr>
        <p:txBody>
          <a:bodyPr wrap="square" tIns="0" rIns="0" bIns="0" lIns="0">
            <a:spAutoFit/>
          </a:bodyPr>
          <a:lstStyle/>
          <a:p>
            <a:pPr algn="l">
              <a:lnSpc>
                <a:spcPct val="120000"/>
              </a:lnSpc>
              <a:spcBef>
                <a:spcPts val="0"/>
              </a:spcBef>
              <a:spcAft>
                <a:spcPts val="0"/>
              </a:spcAft>
            </a:pPr>
            <a:r>
              <a:rPr sz="750" b="1">
                <a:solidFill>
                  <a:srgbClr val="6B6B6B"/>
                </a:solidFill>
                <a:latin typeface="Meiryo"/>
                <a:ea typeface="Meiryo"/>
                <a:cs typeface="Meiryo"/>
              </a:rPr>
              <a:t>確認動作</a:t>
            </a:r>
          </a:p>
        </p:txBody>
      </p:sp>
      <p:sp>
        <p:nvSpPr>
          <p:cNvPr id="8" name="Rectangle 7"/>
          <p:cNvSpPr/>
          <p:nvPr/>
        </p:nvSpPr>
        <p:spPr>
          <a:xfrm>
            <a:off x="704850" y="1647825"/>
            <a:ext cx="1571625" cy="161925"/>
          </a:xfrm>
          <a:prstGeom prst="rect">
            <a:avLst/>
          </a:prstGeom>
          <a:solidFill>
            <a:srgbClr val="FFFFFF"/>
          </a:solidFill>
          <a:ln w="9525">
            <a:solidFill>
              <a:srgbClr val="1F6FB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333625" y="1647825"/>
            <a:ext cx="762000" cy="161925"/>
          </a:xfrm>
          <a:prstGeom prst="rect">
            <a:avLst/>
          </a:prstGeom>
          <a:noFill/>
        </p:spPr>
        <p:txBody>
          <a:bodyPr wrap="square" tIns="0" rIns="0" bIns="0" lIns="0" anchor="ctr">
            <a:spAutoFit/>
          </a:bodyPr>
          <a:lstStyle/>
          <a:p>
            <a:pPr algn="l">
              <a:lnSpc>
                <a:spcPct val="120000"/>
              </a:lnSpc>
              <a:spcBef>
                <a:spcPts val="0"/>
              </a:spcBef>
              <a:spcAft>
                <a:spcPts val="0"/>
              </a:spcAft>
            </a:pPr>
            <a:r>
              <a:rPr sz="825" b="1">
                <a:solidFill>
                  <a:srgbClr val="1F4E79"/>
                </a:solidFill>
                <a:latin typeface="Meiryo"/>
                <a:ea typeface="Meiryo"/>
                <a:cs typeface="Meiryo"/>
              </a:rPr>
              <a:t>55 μV</a:t>
            </a:r>
          </a:p>
        </p:txBody>
      </p:sp>
      <p:sp>
        <p:nvSpPr>
          <p:cNvPr id="10" name="TextBox 9"/>
          <p:cNvSpPr txBox="1"/>
          <p:nvPr/>
        </p:nvSpPr>
        <p:spPr>
          <a:xfrm>
            <a:off x="704850" y="1847850"/>
            <a:ext cx="1905000" cy="142875"/>
          </a:xfrm>
          <a:prstGeom prst="rect">
            <a:avLst/>
          </a:prstGeom>
          <a:noFill/>
        </p:spPr>
        <p:txBody>
          <a:bodyPr wrap="square" tIns="0" rIns="0" bIns="0" lIns="0">
            <a:spAutoFit/>
          </a:bodyPr>
          <a:lstStyle/>
          <a:p>
            <a:pPr algn="l">
              <a:lnSpc>
                <a:spcPct val="120000"/>
              </a:lnSpc>
              <a:spcBef>
                <a:spcPts val="0"/>
              </a:spcBef>
              <a:spcAft>
                <a:spcPts val="0"/>
              </a:spcAft>
            </a:pPr>
            <a:r>
              <a:rPr sz="750" b="1">
                <a:solidFill>
                  <a:srgbClr val="6B6B6B"/>
                </a:solidFill>
                <a:latin typeface="Meiryo"/>
                <a:ea typeface="Meiryo"/>
                <a:cs typeface="Meiryo"/>
              </a:rPr>
              <a:t>MVC</a:t>
            </a:r>
          </a:p>
        </p:txBody>
      </p:sp>
      <p:sp>
        <p:nvSpPr>
          <p:cNvPr id="11" name="Rectangle 10"/>
          <p:cNvSpPr/>
          <p:nvPr/>
        </p:nvSpPr>
        <p:spPr>
          <a:xfrm>
            <a:off x="704850" y="2000250"/>
            <a:ext cx="2971800" cy="161925"/>
          </a:xfrm>
          <a:prstGeom prst="rect">
            <a:avLst/>
          </a:prstGeom>
          <a:solidFill>
            <a:srgbClr val="1F6FB4"/>
          </a:solidFill>
          <a:ln w="9525">
            <a:solidFill>
              <a:srgbClr val="1F6FB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733800" y="2000250"/>
            <a:ext cx="762000" cy="161925"/>
          </a:xfrm>
          <a:prstGeom prst="rect">
            <a:avLst/>
          </a:prstGeom>
          <a:noFill/>
        </p:spPr>
        <p:txBody>
          <a:bodyPr wrap="square" tIns="0" rIns="0" bIns="0" lIns="0" anchor="ctr">
            <a:spAutoFit/>
          </a:bodyPr>
          <a:lstStyle/>
          <a:p>
            <a:pPr algn="l">
              <a:lnSpc>
                <a:spcPct val="120000"/>
              </a:lnSpc>
              <a:spcBef>
                <a:spcPts val="0"/>
              </a:spcBef>
              <a:spcAft>
                <a:spcPts val="0"/>
              </a:spcAft>
            </a:pPr>
            <a:r>
              <a:rPr sz="825" b="1">
                <a:solidFill>
                  <a:srgbClr val="1F4E79"/>
                </a:solidFill>
                <a:latin typeface="Meiryo"/>
                <a:ea typeface="Meiryo"/>
                <a:cs typeface="Meiryo"/>
              </a:rPr>
              <a:t>104 μV</a:t>
            </a:r>
          </a:p>
        </p:txBody>
      </p:sp>
      <p:sp>
        <p:nvSpPr>
          <p:cNvPr id="13" name="TextBox 12"/>
          <p:cNvSpPr txBox="1"/>
          <p:nvPr/>
        </p:nvSpPr>
        <p:spPr>
          <a:xfrm>
            <a:off x="704850" y="2238375"/>
            <a:ext cx="3619500" cy="333375"/>
          </a:xfrm>
          <a:prstGeom prst="rect">
            <a:avLst/>
          </a:prstGeom>
          <a:noFill/>
        </p:spPr>
        <p:txBody>
          <a:bodyPr wrap="square" tIns="0" rIns="0" bIns="0" lIns="0" anchor="ctr">
            <a:spAutoFit/>
          </a:bodyPr>
          <a:lstStyle/>
          <a:p>
            <a:pPr algn="l">
              <a:lnSpc>
                <a:spcPct val="120000"/>
              </a:lnSpc>
              <a:spcBef>
                <a:spcPts val="0"/>
              </a:spcBef>
              <a:spcAft>
                <a:spcPts val="0"/>
              </a:spcAft>
            </a:pPr>
            <a:r>
              <a:rPr sz="975" b="1">
                <a:solidFill>
                  <a:srgbClr val="1A1A1A"/>
                </a:solidFill>
                <a:latin typeface="Meiryo"/>
                <a:ea typeface="Meiryo"/>
                <a:cs typeface="Meiryo"/>
              </a:rPr>
              <a:t>確認動作 = MVC の </a:t>
            </a:r>
            <a:r>
              <a:rPr sz="1650" b="1">
                <a:solidFill>
                  <a:srgbClr val="1F4E79"/>
                </a:solidFill>
                <a:latin typeface="Meiryo"/>
                <a:ea typeface="Meiryo"/>
                <a:cs typeface="Meiryo"/>
              </a:rPr>
              <a:t>53%</a:t>
            </a:r>
            <a:r>
              <a:rPr sz="825" b="1">
                <a:solidFill>
                  <a:srgbClr val="6B6B6B"/>
                </a:solidFill>
                <a:latin typeface="Meiryo"/>
                <a:ea typeface="Meiryo"/>
                <a:cs typeface="Meiryo"/>
              </a:rPr>
              <a:t>　</a:t>
            </a:r>
          </a:p>
        </p:txBody>
      </p:sp>
      <p:sp>
        <p:nvSpPr>
          <p:cNvPr id="14" name="Rounded Rectangle 13"/>
          <p:cNvSpPr/>
          <p:nvPr/>
        </p:nvSpPr>
        <p:spPr>
          <a:xfrm>
            <a:off x="4629150" y="1190625"/>
            <a:ext cx="3905250" cy="1476375"/>
          </a:xfrm>
          <a:prstGeom prst="roundRect">
            <a:avLst>
              <a:gd name="adj" fmla="val 5161"/>
            </a:avLst>
          </a:prstGeom>
          <a:solidFill>
            <a:srgbClr val="FBEB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81550" y="1266825"/>
            <a:ext cx="3619500" cy="209550"/>
          </a:xfrm>
          <a:prstGeom prst="rect">
            <a:avLst/>
          </a:prstGeom>
          <a:noFill/>
        </p:spPr>
        <p:txBody>
          <a:bodyPr wrap="square" tIns="0" rIns="0" bIns="0" lIns="0">
            <a:spAutoFit/>
          </a:bodyPr>
          <a:lstStyle/>
          <a:p>
            <a:pPr algn="l">
              <a:lnSpc>
                <a:spcPct val="120000"/>
              </a:lnSpc>
              <a:spcBef>
                <a:spcPts val="0"/>
              </a:spcBef>
              <a:spcAft>
                <a:spcPts val="0"/>
              </a:spcAft>
            </a:pPr>
            <a:r>
              <a:rPr sz="1050" b="1">
                <a:solidFill>
                  <a:srgbClr val="B0560C"/>
                </a:solidFill>
                <a:latin typeface="Meiryo"/>
                <a:ea typeface="Meiryo"/>
                <a:cs typeface="Meiryo"/>
              </a:rPr>
              <a:t>屈曲（前腕の下のセンサ）</a:t>
            </a:r>
          </a:p>
        </p:txBody>
      </p:sp>
      <p:sp>
        <p:nvSpPr>
          <p:cNvPr id="16" name="TextBox 15"/>
          <p:cNvSpPr txBox="1"/>
          <p:nvPr/>
        </p:nvSpPr>
        <p:spPr>
          <a:xfrm>
            <a:off x="4781550" y="1495425"/>
            <a:ext cx="1905000" cy="142875"/>
          </a:xfrm>
          <a:prstGeom prst="rect">
            <a:avLst/>
          </a:prstGeom>
          <a:noFill/>
        </p:spPr>
        <p:txBody>
          <a:bodyPr wrap="square" tIns="0" rIns="0" bIns="0" lIns="0">
            <a:spAutoFit/>
          </a:bodyPr>
          <a:lstStyle/>
          <a:p>
            <a:pPr algn="l">
              <a:lnSpc>
                <a:spcPct val="120000"/>
              </a:lnSpc>
              <a:spcBef>
                <a:spcPts val="0"/>
              </a:spcBef>
              <a:spcAft>
                <a:spcPts val="0"/>
              </a:spcAft>
            </a:pPr>
            <a:r>
              <a:rPr sz="750" b="1">
                <a:solidFill>
                  <a:srgbClr val="6B6B6B"/>
                </a:solidFill>
                <a:latin typeface="Meiryo"/>
                <a:ea typeface="Meiryo"/>
                <a:cs typeface="Meiryo"/>
              </a:rPr>
              <a:t>確認動作</a:t>
            </a:r>
          </a:p>
        </p:txBody>
      </p:sp>
      <p:sp>
        <p:nvSpPr>
          <p:cNvPr id="17" name="Rectangle 16"/>
          <p:cNvSpPr/>
          <p:nvPr/>
        </p:nvSpPr>
        <p:spPr>
          <a:xfrm>
            <a:off x="4781550" y="1647825"/>
            <a:ext cx="1714500" cy="161925"/>
          </a:xfrm>
          <a:prstGeom prst="rect">
            <a:avLst/>
          </a:prstGeom>
          <a:solidFill>
            <a:srgbClr val="FFFFFF"/>
          </a:solidFill>
          <a:ln w="9525">
            <a:solidFill>
              <a:srgbClr val="E07B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53200" y="1647825"/>
            <a:ext cx="762000" cy="161925"/>
          </a:xfrm>
          <a:prstGeom prst="rect">
            <a:avLst/>
          </a:prstGeom>
          <a:noFill/>
        </p:spPr>
        <p:txBody>
          <a:bodyPr wrap="square" tIns="0" rIns="0" bIns="0" lIns="0" anchor="ctr">
            <a:spAutoFit/>
          </a:bodyPr>
          <a:lstStyle/>
          <a:p>
            <a:pPr algn="l">
              <a:lnSpc>
                <a:spcPct val="120000"/>
              </a:lnSpc>
              <a:spcBef>
                <a:spcPts val="0"/>
              </a:spcBef>
              <a:spcAft>
                <a:spcPts val="0"/>
              </a:spcAft>
            </a:pPr>
            <a:r>
              <a:rPr sz="825" b="1">
                <a:solidFill>
                  <a:srgbClr val="B0560C"/>
                </a:solidFill>
                <a:latin typeface="Meiryo"/>
                <a:ea typeface="Meiryo"/>
                <a:cs typeface="Meiryo"/>
              </a:rPr>
              <a:t>60 μV</a:t>
            </a:r>
          </a:p>
        </p:txBody>
      </p:sp>
      <p:sp>
        <p:nvSpPr>
          <p:cNvPr id="19" name="TextBox 18"/>
          <p:cNvSpPr txBox="1"/>
          <p:nvPr/>
        </p:nvSpPr>
        <p:spPr>
          <a:xfrm>
            <a:off x="4781550" y="1847850"/>
            <a:ext cx="1905000" cy="142875"/>
          </a:xfrm>
          <a:prstGeom prst="rect">
            <a:avLst/>
          </a:prstGeom>
          <a:noFill/>
        </p:spPr>
        <p:txBody>
          <a:bodyPr wrap="square" tIns="0" rIns="0" bIns="0" lIns="0">
            <a:spAutoFit/>
          </a:bodyPr>
          <a:lstStyle/>
          <a:p>
            <a:pPr algn="l">
              <a:lnSpc>
                <a:spcPct val="120000"/>
              </a:lnSpc>
              <a:spcBef>
                <a:spcPts val="0"/>
              </a:spcBef>
              <a:spcAft>
                <a:spcPts val="0"/>
              </a:spcAft>
            </a:pPr>
            <a:r>
              <a:rPr sz="750" b="1">
                <a:solidFill>
                  <a:srgbClr val="6B6B6B"/>
                </a:solidFill>
                <a:latin typeface="Meiryo"/>
                <a:ea typeface="Meiryo"/>
                <a:cs typeface="Meiryo"/>
              </a:rPr>
              <a:t>MVC</a:t>
            </a:r>
          </a:p>
        </p:txBody>
      </p:sp>
      <p:sp>
        <p:nvSpPr>
          <p:cNvPr id="20" name="Rectangle 19"/>
          <p:cNvSpPr/>
          <p:nvPr/>
        </p:nvSpPr>
        <p:spPr>
          <a:xfrm>
            <a:off x="4781550" y="2000250"/>
            <a:ext cx="2057400" cy="161925"/>
          </a:xfrm>
          <a:prstGeom prst="rect">
            <a:avLst/>
          </a:prstGeom>
          <a:solidFill>
            <a:srgbClr val="E07B1A"/>
          </a:solidFill>
          <a:ln w="9525">
            <a:solidFill>
              <a:srgbClr val="E07B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896100" y="2000250"/>
            <a:ext cx="762000" cy="161925"/>
          </a:xfrm>
          <a:prstGeom prst="rect">
            <a:avLst/>
          </a:prstGeom>
          <a:noFill/>
        </p:spPr>
        <p:txBody>
          <a:bodyPr wrap="square" tIns="0" rIns="0" bIns="0" lIns="0" anchor="ctr">
            <a:spAutoFit/>
          </a:bodyPr>
          <a:lstStyle/>
          <a:p>
            <a:pPr algn="l">
              <a:lnSpc>
                <a:spcPct val="120000"/>
              </a:lnSpc>
              <a:spcBef>
                <a:spcPts val="0"/>
              </a:spcBef>
              <a:spcAft>
                <a:spcPts val="0"/>
              </a:spcAft>
            </a:pPr>
            <a:r>
              <a:rPr sz="825" b="1">
                <a:solidFill>
                  <a:srgbClr val="B0560C"/>
                </a:solidFill>
                <a:latin typeface="Meiryo"/>
                <a:ea typeface="Meiryo"/>
                <a:cs typeface="Meiryo"/>
              </a:rPr>
              <a:t>72 μV</a:t>
            </a:r>
          </a:p>
        </p:txBody>
      </p:sp>
      <p:sp>
        <p:nvSpPr>
          <p:cNvPr id="22" name="TextBox 21"/>
          <p:cNvSpPr txBox="1"/>
          <p:nvPr/>
        </p:nvSpPr>
        <p:spPr>
          <a:xfrm>
            <a:off x="4781550" y="2238375"/>
            <a:ext cx="3619500" cy="333375"/>
          </a:xfrm>
          <a:prstGeom prst="rect">
            <a:avLst/>
          </a:prstGeom>
          <a:noFill/>
        </p:spPr>
        <p:txBody>
          <a:bodyPr wrap="square" tIns="0" rIns="0" bIns="0" lIns="0" anchor="ctr">
            <a:spAutoFit/>
          </a:bodyPr>
          <a:lstStyle/>
          <a:p>
            <a:pPr algn="l">
              <a:lnSpc>
                <a:spcPct val="120000"/>
              </a:lnSpc>
              <a:spcBef>
                <a:spcPts val="0"/>
              </a:spcBef>
              <a:spcAft>
                <a:spcPts val="0"/>
              </a:spcAft>
            </a:pPr>
            <a:r>
              <a:rPr sz="975" b="1">
                <a:solidFill>
                  <a:srgbClr val="1A1A1A"/>
                </a:solidFill>
                <a:latin typeface="Meiryo"/>
                <a:ea typeface="Meiryo"/>
                <a:cs typeface="Meiryo"/>
              </a:rPr>
              <a:t>確認動作 = MVC の </a:t>
            </a:r>
            <a:r>
              <a:rPr sz="1650" b="1">
                <a:solidFill>
                  <a:srgbClr val="B0560C"/>
                </a:solidFill>
                <a:latin typeface="Meiryo"/>
                <a:ea typeface="Meiryo"/>
                <a:cs typeface="Meiryo"/>
              </a:rPr>
              <a:t>84%</a:t>
            </a:r>
            <a:r>
              <a:rPr sz="825" b="1">
                <a:solidFill>
                  <a:srgbClr val="6B6B6B"/>
                </a:solidFill>
                <a:latin typeface="Meiryo"/>
                <a:ea typeface="Meiryo"/>
                <a:cs typeface="Meiryo"/>
              </a:rPr>
              <a:t>　先週は 5.4 μV しか出なかった</a:t>
            </a:r>
          </a:p>
        </p:txBody>
      </p:sp>
      <p:sp>
        <p:nvSpPr>
          <p:cNvPr id="23" name="Rounded Rectangle 22"/>
          <p:cNvSpPr/>
          <p:nvPr/>
        </p:nvSpPr>
        <p:spPr>
          <a:xfrm>
            <a:off x="552450" y="2809875"/>
            <a:ext cx="7981950" cy="952500"/>
          </a:xfrm>
          <a:prstGeom prst="roundRect">
            <a:avLst>
              <a:gd name="adj" fmla="val 6000"/>
            </a:avLst>
          </a:prstGeom>
          <a:solidFill>
            <a:srgbClr val="F4F4F4"/>
          </a:solidFill>
          <a:ln w="9525">
            <a:solidFill>
              <a:srgbClr val="C8C8C8"/>
            </a:solidFill>
          </a:ln>
          <a:effectLst/>
        </p:spPr>
        <p:style>
          <a:lnRef idx="1">
            <a:schemeClr val="accent1"/>
          </a:lnRef>
          <a:fillRef idx="3">
            <a:schemeClr val="accent1"/>
          </a:fillRef>
          <a:effectRef idx="2">
            <a:schemeClr val="accent1"/>
          </a:effectRef>
          <a:fontRef idx="minor">
            <a:schemeClr val="lt1"/>
          </a:fontRef>
        </p:style>
        <p:txBody>
          <a:bodyPr rtlCol="0" anchor="t" wrap="square" tIns="114300" rIns="152400" bIns="114300" lIns="152400"/>
          <a:lstStyle/>
          <a:p>
            <a:pPr algn="l">
              <a:lnSpc>
                <a:spcPct val="120000"/>
              </a:lnSpc>
              <a:spcBef>
                <a:spcPts val="0"/>
              </a:spcBef>
              <a:spcAft>
                <a:spcPts val="375"/>
              </a:spcAft>
            </a:pPr>
            <a:r>
              <a:rPr sz="1050" b="1">
                <a:solidFill>
                  <a:srgbClr val="1A1A1A"/>
                </a:solidFill>
                <a:latin typeface="Meiryo"/>
                <a:ea typeface="Meiryo"/>
                <a:cs typeface="Meiryo"/>
              </a:rPr>
              <a:t>気づいた問題：屈曲の MVC を取った姿勢と、マウスを持つ姿勢が違う</a:t>
            </a:r>
          </a:p>
          <a:p>
            <a:pPr algn="l">
              <a:lnSpc>
                <a:spcPct val="130000"/>
              </a:lnSpc>
              <a:spcBef>
                <a:spcPts val="0"/>
              </a:spcBef>
              <a:spcAft>
                <a:spcPts val="150"/>
              </a:spcAft>
            </a:pPr>
            <a:r>
              <a:rPr sz="975" b="0">
                <a:solidFill>
                  <a:srgbClr val="6B6B6B"/>
                </a:solidFill>
                <a:latin typeface="Meiryo"/>
                <a:ea typeface="Meiryo"/>
                <a:cs typeface="Meiryo"/>
              </a:rPr>
              <a:t>MVC は手のひら上、マウスは手のひら下。前腕がねじれると、同じ力でも振幅が変わりうる</a:t>
            </a:r>
          </a:p>
          <a:p>
            <a:pPr algn="l">
              <a:lnSpc>
                <a:spcPct val="130000"/>
              </a:lnSpc>
              <a:spcBef>
                <a:spcPts val="0"/>
              </a:spcBef>
              <a:spcAft>
                <a:spcPts val="0"/>
              </a:spcAft>
            </a:pPr>
            <a:r>
              <a:rPr sz="975" b="0">
                <a:solidFill>
                  <a:srgbClr val="6B6B6B"/>
                </a:solidFill>
                <a:latin typeface="Meiryo"/>
                <a:ea typeface="Meiryo"/>
                <a:cs typeface="Meiryo"/>
              </a:rPr>
              <a:t>マウス操作中の屈筋はほぼ安静と同じなので、今は結論に響かない（残課題）</a:t>
            </a:r>
          </a:p>
        </p:txBody>
      </p:sp>
      <p:cxnSp>
        <p:nvCxnSpPr>
          <p:cNvPr id="24" name="Connector 23"/>
          <p:cNvCxnSpPr/>
          <p:nvPr/>
        </p:nvCxnSpPr>
        <p:spPr>
          <a:xfrm>
            <a:off x="566738" y="3914775"/>
            <a:ext cx="7967662" cy="0"/>
          </a:xfrm>
          <a:prstGeom prst="line">
            <a:avLst/>
          </a:prstGeom>
          <a:ln w="9525">
            <a:solidFill>
              <a:srgbClr val="C8C8C8"/>
            </a:solidFill>
          </a:ln>
        </p:spPr>
      </p:cxnSp>
      <p:sp>
        <p:nvSpPr>
          <p:cNvPr id="25" name="TextBox 24"/>
          <p:cNvSpPr txBox="1"/>
          <p:nvPr/>
        </p:nvSpPr>
        <p:spPr>
          <a:xfrm>
            <a:off x="566738" y="4095750"/>
            <a:ext cx="7967662" cy="333375"/>
          </a:xfrm>
          <a:prstGeom prst="rect">
            <a:avLst/>
          </a:prstGeom>
          <a:noFill/>
        </p:spPr>
        <p:txBody>
          <a:bodyPr wrap="square" tIns="0" rIns="0" bIns="0" lIns="0">
            <a:spAutoFit/>
          </a:bodyPr>
          <a:lstStyle/>
          <a:p>
            <a:pPr algn="l">
              <a:lnSpc>
                <a:spcPct val="120000"/>
              </a:lnSpc>
              <a:spcBef>
                <a:spcPts val="0"/>
              </a:spcBef>
              <a:spcAft>
                <a:spcPts val="0"/>
              </a:spcAft>
            </a:pPr>
            <a:r>
              <a:rPr sz="1725" b="1">
                <a:solidFill>
                  <a:srgbClr val="1F6FB4"/>
                </a:solidFill>
                <a:latin typeface="Meiryo"/>
                <a:ea typeface="Meiryo"/>
                <a:cs typeface="Meiryo"/>
              </a:rPr>
              <a:t>伸展 53%・屈曲 84%：どちらも全力を取れている</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52450" y="381000"/>
            <a:ext cx="7143750" cy="476250"/>
          </a:xfrm>
          <a:prstGeom prst="rect">
            <a:avLst/>
          </a:prstGeom>
          <a:noFill/>
        </p:spPr>
        <p:txBody>
          <a:bodyPr wrap="square" tIns="0" rIns="0" bIns="0" lIns="0">
            <a:spAutoFit/>
          </a:bodyPr>
          <a:lstStyle/>
          <a:p>
            <a:pPr algn="l">
              <a:lnSpc>
                <a:spcPct val="120000"/>
              </a:lnSpc>
              <a:spcBef>
                <a:spcPts val="0"/>
              </a:spcBef>
              <a:spcAft>
                <a:spcPts val="0"/>
              </a:spcAft>
            </a:pPr>
            <a:r>
              <a:rPr sz="3000" b="1">
                <a:solidFill>
                  <a:srgbClr val="1A1A1A"/>
                </a:solidFill>
                <a:latin typeface="Meiryo"/>
                <a:ea typeface="Meiryo"/>
                <a:cs typeface="Meiryo"/>
              </a:rPr>
              <a:t>M1-7：6 か所とも MVC は取れた</a:t>
            </a:r>
          </a:p>
        </p:txBody>
      </p:sp>
      <p:sp>
        <p:nvSpPr>
          <p:cNvPr id="3" name="TextBox 2"/>
          <p:cNvSpPr txBox="1"/>
          <p:nvPr/>
        </p:nvSpPr>
        <p:spPr>
          <a:xfrm>
            <a:off x="7953375" y="476250"/>
            <a:ext cx="581025" cy="190500"/>
          </a:xfrm>
          <a:prstGeom prst="rect">
            <a:avLst/>
          </a:prstGeom>
          <a:noFill/>
        </p:spPr>
        <p:txBody>
          <a:bodyPr wrap="square" tIns="0" rIns="0" bIns="0" lIns="0">
            <a:spAutoFit/>
          </a:bodyPr>
          <a:lstStyle/>
          <a:p>
            <a:pPr algn="r">
              <a:lnSpc>
                <a:spcPct val="120000"/>
              </a:lnSpc>
              <a:spcBef>
                <a:spcPts val="0"/>
              </a:spcBef>
              <a:spcAft>
                <a:spcPts val="0"/>
              </a:spcAft>
            </a:pPr>
            <a:r>
              <a:rPr sz="1200" b="0">
                <a:solidFill>
                  <a:srgbClr val="6B6B6B"/>
                </a:solidFill>
                <a:latin typeface="Meiryo"/>
                <a:ea typeface="Meiryo"/>
                <a:cs typeface="Meiryo"/>
              </a:rPr>
              <a:t>5</a:t>
            </a:r>
          </a:p>
        </p:txBody>
      </p:sp>
      <p:sp>
        <p:nvSpPr>
          <p:cNvPr id="4" name="TextBox 3"/>
          <p:cNvSpPr txBox="1"/>
          <p:nvPr/>
        </p:nvSpPr>
        <p:spPr>
          <a:xfrm>
            <a:off x="571500" y="933450"/>
            <a:ext cx="7962900" cy="285750"/>
          </a:xfrm>
          <a:prstGeom prst="rect">
            <a:avLst/>
          </a:prstGeom>
          <a:noFill/>
        </p:spPr>
        <p:txBody>
          <a:bodyPr wrap="square" tIns="0" rIns="0" bIns="0" lIns="0">
            <a:spAutoFit/>
          </a:bodyPr>
          <a:lstStyle/>
          <a:p>
            <a:pPr algn="l">
              <a:lnSpc>
                <a:spcPct val="130000"/>
              </a:lnSpc>
              <a:spcBef>
                <a:spcPts val="0"/>
              </a:spcBef>
              <a:spcAft>
                <a:spcPts val="750"/>
              </a:spcAft>
            </a:pPr>
            <a:r>
              <a:rPr sz="1125" b="1">
                <a:solidFill>
                  <a:srgbClr val="1A1A1A"/>
                </a:solidFill>
                <a:latin typeface="Meiryo"/>
                <a:ea typeface="Meiryo"/>
                <a:cs typeface="Meiryo"/>
              </a:rPr>
              <a:t>・計測は 17 ステップが止まらず通り、約 11 分（先週は 11 ステップで約 15 分）</a:t>
            </a:r>
          </a:p>
        </p:txBody>
      </p:sp>
      <p:sp>
        <p:nvSpPr>
          <p:cNvPr id="5" name="TextBox 4"/>
          <p:cNvSpPr txBox="1"/>
          <p:nvPr/>
        </p:nvSpPr>
        <p:spPr>
          <a:xfrm>
            <a:off x="552450" y="1285875"/>
            <a:ext cx="1428750" cy="171450"/>
          </a:xfrm>
          <a:prstGeom prst="rect">
            <a:avLst/>
          </a:prstGeom>
          <a:noFill/>
        </p:spPr>
        <p:txBody>
          <a:bodyPr wrap="square" tIns="0" rIns="0" bIns="0" lIns="0">
            <a:spAutoFit/>
          </a:bodyPr>
          <a:lstStyle/>
          <a:p>
            <a:pPr algn="l">
              <a:lnSpc>
                <a:spcPct val="120000"/>
              </a:lnSpc>
              <a:spcBef>
                <a:spcPts val="0"/>
              </a:spcBef>
              <a:spcAft>
                <a:spcPts val="0"/>
              </a:spcAft>
            </a:pPr>
            <a:r>
              <a:rPr sz="825" b="1">
                <a:solidFill>
                  <a:srgbClr val="6B6B6B"/>
                </a:solidFill>
                <a:latin typeface="Meiryo"/>
                <a:ea typeface="Meiryo"/>
                <a:cs typeface="Meiryo"/>
              </a:rPr>
              <a:t>センサ</a:t>
            </a:r>
          </a:p>
        </p:txBody>
      </p:sp>
      <p:sp>
        <p:nvSpPr>
          <p:cNvPr id="6" name="TextBox 5"/>
          <p:cNvSpPr txBox="1"/>
          <p:nvPr/>
        </p:nvSpPr>
        <p:spPr>
          <a:xfrm>
            <a:off x="2000250" y="1285875"/>
            <a:ext cx="2095500" cy="171450"/>
          </a:xfrm>
          <a:prstGeom prst="rect">
            <a:avLst/>
          </a:prstGeom>
          <a:noFill/>
        </p:spPr>
        <p:txBody>
          <a:bodyPr wrap="square" tIns="0" rIns="0" bIns="0" lIns="0">
            <a:spAutoFit/>
          </a:bodyPr>
          <a:lstStyle/>
          <a:p>
            <a:pPr algn="l">
              <a:lnSpc>
                <a:spcPct val="120000"/>
              </a:lnSpc>
              <a:spcBef>
                <a:spcPts val="0"/>
              </a:spcBef>
              <a:spcAft>
                <a:spcPts val="0"/>
              </a:spcAft>
            </a:pPr>
            <a:r>
              <a:rPr sz="825" b="1">
                <a:solidFill>
                  <a:srgbClr val="6B6B6B"/>
                </a:solidFill>
                <a:latin typeface="Meiryo"/>
                <a:ea typeface="Meiryo"/>
                <a:cs typeface="Meiryo"/>
              </a:rPr>
              <a:t>MVC が最大になった課題</a:t>
            </a:r>
          </a:p>
        </p:txBody>
      </p:sp>
      <p:sp>
        <p:nvSpPr>
          <p:cNvPr id="7" name="TextBox 6"/>
          <p:cNvSpPr txBox="1"/>
          <p:nvPr/>
        </p:nvSpPr>
        <p:spPr>
          <a:xfrm>
            <a:off x="4191000" y="1285875"/>
            <a:ext cx="4286250" cy="171450"/>
          </a:xfrm>
          <a:prstGeom prst="rect">
            <a:avLst/>
          </a:prstGeom>
          <a:noFill/>
        </p:spPr>
        <p:txBody>
          <a:bodyPr wrap="square" tIns="0" rIns="0" bIns="0" lIns="0">
            <a:spAutoFit/>
          </a:bodyPr>
          <a:lstStyle/>
          <a:p>
            <a:pPr algn="l">
              <a:lnSpc>
                <a:spcPct val="120000"/>
              </a:lnSpc>
              <a:spcBef>
                <a:spcPts val="0"/>
              </a:spcBef>
              <a:spcAft>
                <a:spcPts val="0"/>
              </a:spcAft>
            </a:pPr>
            <a:r>
              <a:rPr sz="825" b="1">
                <a:solidFill>
                  <a:srgbClr val="6B6B6B"/>
                </a:solidFill>
                <a:latin typeface="Meiryo"/>
                <a:ea typeface="Meiryo"/>
                <a:cs typeface="Meiryo"/>
              </a:rPr>
              <a:t>MVC が安静の何倍か（5 倍以上なら十分）</a:t>
            </a:r>
          </a:p>
        </p:txBody>
      </p:sp>
      <p:cxnSp>
        <p:nvCxnSpPr>
          <p:cNvPr id="8" name="Connector 7"/>
          <p:cNvCxnSpPr/>
          <p:nvPr/>
        </p:nvCxnSpPr>
        <p:spPr>
          <a:xfrm>
            <a:off x="552450" y="1504950"/>
            <a:ext cx="7981950" cy="0"/>
          </a:xfrm>
          <a:prstGeom prst="line">
            <a:avLst/>
          </a:prstGeom>
          <a:ln w="7143">
            <a:solidFill>
              <a:srgbClr val="DDDDDD"/>
            </a:solidFill>
          </a:ln>
        </p:spPr>
      </p:cxnSp>
      <p:sp>
        <p:nvSpPr>
          <p:cNvPr id="9" name="TextBox 8"/>
          <p:cNvSpPr txBox="1"/>
          <p:nvPr/>
        </p:nvSpPr>
        <p:spPr>
          <a:xfrm>
            <a:off x="552450" y="1504950"/>
            <a:ext cx="1428750" cy="352425"/>
          </a:xfrm>
          <a:prstGeom prst="rect">
            <a:avLst/>
          </a:prstGeom>
          <a:noFill/>
        </p:spPr>
        <p:txBody>
          <a:bodyPr wrap="square" tIns="0" rIns="0" bIns="0" lIns="0" anchor="ctr">
            <a:spAutoFit/>
          </a:bodyPr>
          <a:lstStyle/>
          <a:p>
            <a:pPr algn="l">
              <a:lnSpc>
                <a:spcPct val="120000"/>
              </a:lnSpc>
              <a:spcBef>
                <a:spcPts val="0"/>
              </a:spcBef>
              <a:spcAft>
                <a:spcPts val="0"/>
              </a:spcAft>
            </a:pPr>
            <a:r>
              <a:rPr sz="900" b="1">
                <a:solidFill>
                  <a:srgbClr val="6B6B6B"/>
                </a:solidFill>
                <a:latin typeface="Meiryo"/>
                <a:ea typeface="Meiryo"/>
                <a:cs typeface="Meiryo"/>
              </a:rPr>
              <a:t>S1 </a:t>
            </a:r>
            <a:r>
              <a:rPr sz="900" b="1">
                <a:solidFill>
                  <a:srgbClr val="1A1A1A"/>
                </a:solidFill>
                <a:latin typeface="Meiryo"/>
                <a:ea typeface="Meiryo"/>
                <a:cs typeface="Meiryo"/>
              </a:rPr>
              <a:t>前腕の上（伸筋）</a:t>
            </a:r>
          </a:p>
        </p:txBody>
      </p:sp>
      <p:sp>
        <p:nvSpPr>
          <p:cNvPr id="10" name="TextBox 9"/>
          <p:cNvSpPr txBox="1"/>
          <p:nvPr/>
        </p:nvSpPr>
        <p:spPr>
          <a:xfrm>
            <a:off x="2000250" y="1504950"/>
            <a:ext cx="2143125" cy="352425"/>
          </a:xfrm>
          <a:prstGeom prst="rect">
            <a:avLst/>
          </a:prstGeom>
          <a:noFill/>
        </p:spPr>
        <p:txBody>
          <a:bodyPr wrap="square" tIns="0" rIns="0" bIns="0" lIns="0" anchor="ctr">
            <a:spAutoFit/>
          </a:bodyPr>
          <a:lstStyle/>
          <a:p>
            <a:pPr algn="l">
              <a:lnSpc>
                <a:spcPct val="120000"/>
              </a:lnSpc>
              <a:spcBef>
                <a:spcPts val="0"/>
              </a:spcBef>
              <a:spcAft>
                <a:spcPts val="0"/>
              </a:spcAft>
            </a:pPr>
            <a:r>
              <a:rPr sz="900" b="1">
                <a:solidFill>
                  <a:srgbClr val="1A1A1A"/>
                </a:solidFill>
                <a:latin typeface="Meiryo"/>
                <a:ea typeface="Meiryo"/>
                <a:cs typeface="Meiryo"/>
              </a:rPr>
              <a:t>肘の屈曲（天板を持ち上げる）</a:t>
            </a:r>
          </a:p>
          <a:p>
            <a:pPr algn="l">
              <a:lnSpc>
                <a:spcPct val="120000"/>
              </a:lnSpc>
              <a:spcBef>
                <a:spcPts val="0"/>
              </a:spcBef>
              <a:spcAft>
                <a:spcPts val="0"/>
              </a:spcAft>
            </a:pPr>
            <a:r>
              <a:rPr sz="750" b="0">
                <a:solidFill>
                  <a:srgbClr val="6B6B6B"/>
                </a:solidFill>
                <a:latin typeface="Meiryo"/>
                <a:ea typeface="Meiryo"/>
                <a:cs typeface="Meiryo"/>
              </a:rPr>
              <a:t>手首の伸展は 90%</a:t>
            </a:r>
          </a:p>
        </p:txBody>
      </p:sp>
      <p:sp>
        <p:nvSpPr>
          <p:cNvPr id="11" name="Rectangle 10"/>
          <p:cNvSpPr/>
          <p:nvPr/>
        </p:nvSpPr>
        <p:spPr>
          <a:xfrm>
            <a:off x="4191000" y="1609725"/>
            <a:ext cx="333375" cy="142875"/>
          </a:xfrm>
          <a:prstGeom prst="rect">
            <a:avLst/>
          </a:prstGeom>
          <a:solidFill>
            <a:srgbClr val="1F6F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81525" y="1504950"/>
            <a:ext cx="952500" cy="352425"/>
          </a:xfrm>
          <a:prstGeom prst="rect">
            <a:avLst/>
          </a:prstGeom>
          <a:noFill/>
        </p:spPr>
        <p:txBody>
          <a:bodyPr wrap="square" tIns="0" rIns="0" bIns="0" lIns="0" anchor="ctr">
            <a:spAutoFit/>
          </a:bodyPr>
          <a:lstStyle/>
          <a:p>
            <a:pPr algn="l">
              <a:lnSpc>
                <a:spcPct val="120000"/>
              </a:lnSpc>
              <a:spcBef>
                <a:spcPts val="0"/>
              </a:spcBef>
              <a:spcAft>
                <a:spcPts val="0"/>
              </a:spcAft>
            </a:pPr>
            <a:r>
              <a:rPr sz="900" b="1">
                <a:solidFill>
                  <a:srgbClr val="1A1A1A"/>
                </a:solidFill>
                <a:latin typeface="Meiryo"/>
                <a:ea typeface="Meiryo"/>
                <a:cs typeface="Meiryo"/>
              </a:rPr>
              <a:t>14 倍</a:t>
            </a:r>
          </a:p>
        </p:txBody>
      </p:sp>
      <p:cxnSp>
        <p:nvCxnSpPr>
          <p:cNvPr id="13" name="Connector 12"/>
          <p:cNvCxnSpPr/>
          <p:nvPr/>
        </p:nvCxnSpPr>
        <p:spPr>
          <a:xfrm>
            <a:off x="552450" y="1857375"/>
            <a:ext cx="7981950" cy="0"/>
          </a:xfrm>
          <a:prstGeom prst="line">
            <a:avLst/>
          </a:prstGeom>
          <a:ln w="7143">
            <a:solidFill>
              <a:srgbClr val="DDDDDD"/>
            </a:solidFill>
          </a:ln>
        </p:spPr>
      </p:cxnSp>
      <p:sp>
        <p:nvSpPr>
          <p:cNvPr id="14" name="TextBox 13"/>
          <p:cNvSpPr txBox="1"/>
          <p:nvPr/>
        </p:nvSpPr>
        <p:spPr>
          <a:xfrm>
            <a:off x="552450" y="1857375"/>
            <a:ext cx="1428750" cy="352425"/>
          </a:xfrm>
          <a:prstGeom prst="rect">
            <a:avLst/>
          </a:prstGeom>
          <a:noFill/>
        </p:spPr>
        <p:txBody>
          <a:bodyPr wrap="square" tIns="0" rIns="0" bIns="0" lIns="0" anchor="ctr">
            <a:spAutoFit/>
          </a:bodyPr>
          <a:lstStyle/>
          <a:p>
            <a:pPr algn="l">
              <a:lnSpc>
                <a:spcPct val="120000"/>
              </a:lnSpc>
              <a:spcBef>
                <a:spcPts val="0"/>
              </a:spcBef>
              <a:spcAft>
                <a:spcPts val="0"/>
              </a:spcAft>
            </a:pPr>
            <a:r>
              <a:rPr sz="900" b="1">
                <a:solidFill>
                  <a:srgbClr val="6B6B6B"/>
                </a:solidFill>
                <a:latin typeface="Meiryo"/>
                <a:ea typeface="Meiryo"/>
                <a:cs typeface="Meiryo"/>
              </a:rPr>
              <a:t>S2 </a:t>
            </a:r>
            <a:r>
              <a:rPr sz="900" b="1">
                <a:solidFill>
                  <a:srgbClr val="1A1A1A"/>
                </a:solidFill>
                <a:latin typeface="Meiryo"/>
                <a:ea typeface="Meiryo"/>
                <a:cs typeface="Meiryo"/>
              </a:rPr>
              <a:t>前腕の下（屈筋）</a:t>
            </a:r>
          </a:p>
        </p:txBody>
      </p:sp>
      <p:sp>
        <p:nvSpPr>
          <p:cNvPr id="15" name="TextBox 14"/>
          <p:cNvSpPr txBox="1"/>
          <p:nvPr/>
        </p:nvSpPr>
        <p:spPr>
          <a:xfrm>
            <a:off x="2000250" y="1857375"/>
            <a:ext cx="2143125" cy="352425"/>
          </a:xfrm>
          <a:prstGeom prst="rect">
            <a:avLst/>
          </a:prstGeom>
          <a:noFill/>
        </p:spPr>
        <p:txBody>
          <a:bodyPr wrap="square" tIns="0" rIns="0" bIns="0" lIns="0" anchor="ctr">
            <a:spAutoFit/>
          </a:bodyPr>
          <a:lstStyle/>
          <a:p>
            <a:pPr algn="l">
              <a:lnSpc>
                <a:spcPct val="120000"/>
              </a:lnSpc>
              <a:spcBef>
                <a:spcPts val="0"/>
              </a:spcBef>
              <a:spcAft>
                <a:spcPts val="0"/>
              </a:spcAft>
            </a:pPr>
            <a:r>
              <a:rPr sz="900" b="1">
                <a:solidFill>
                  <a:srgbClr val="1A1A1A"/>
                </a:solidFill>
                <a:latin typeface="Meiryo"/>
                <a:ea typeface="Meiryo"/>
                <a:cs typeface="Meiryo"/>
              </a:rPr>
              <a:t>手首の屈曲</a:t>
            </a:r>
          </a:p>
        </p:txBody>
      </p:sp>
      <p:sp>
        <p:nvSpPr>
          <p:cNvPr id="16" name="Rectangle 15"/>
          <p:cNvSpPr/>
          <p:nvPr/>
        </p:nvSpPr>
        <p:spPr>
          <a:xfrm>
            <a:off x="4191000" y="1962150"/>
            <a:ext cx="809625" cy="142875"/>
          </a:xfrm>
          <a:prstGeom prst="rect">
            <a:avLst/>
          </a:prstGeom>
          <a:solidFill>
            <a:srgbClr val="E07B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057775" y="1857375"/>
            <a:ext cx="952500" cy="352425"/>
          </a:xfrm>
          <a:prstGeom prst="rect">
            <a:avLst/>
          </a:prstGeom>
          <a:noFill/>
        </p:spPr>
        <p:txBody>
          <a:bodyPr wrap="square" tIns="0" rIns="0" bIns="0" lIns="0" anchor="ctr">
            <a:spAutoFit/>
          </a:bodyPr>
          <a:lstStyle/>
          <a:p>
            <a:pPr algn="l">
              <a:lnSpc>
                <a:spcPct val="120000"/>
              </a:lnSpc>
              <a:spcBef>
                <a:spcPts val="0"/>
              </a:spcBef>
              <a:spcAft>
                <a:spcPts val="0"/>
              </a:spcAft>
            </a:pPr>
            <a:r>
              <a:rPr sz="900" b="1">
                <a:solidFill>
                  <a:srgbClr val="1A1A1A"/>
                </a:solidFill>
                <a:latin typeface="Meiryo"/>
                <a:ea typeface="Meiryo"/>
                <a:cs typeface="Meiryo"/>
              </a:rPr>
              <a:t>34 倍</a:t>
            </a:r>
          </a:p>
        </p:txBody>
      </p:sp>
      <p:cxnSp>
        <p:nvCxnSpPr>
          <p:cNvPr id="18" name="Connector 17"/>
          <p:cNvCxnSpPr/>
          <p:nvPr/>
        </p:nvCxnSpPr>
        <p:spPr>
          <a:xfrm>
            <a:off x="552450" y="2209800"/>
            <a:ext cx="7981950" cy="0"/>
          </a:xfrm>
          <a:prstGeom prst="line">
            <a:avLst/>
          </a:prstGeom>
          <a:ln w="7143">
            <a:solidFill>
              <a:srgbClr val="DDDDDD"/>
            </a:solidFill>
          </a:ln>
        </p:spPr>
      </p:cxnSp>
      <p:sp>
        <p:nvSpPr>
          <p:cNvPr id="19" name="TextBox 18"/>
          <p:cNvSpPr txBox="1"/>
          <p:nvPr/>
        </p:nvSpPr>
        <p:spPr>
          <a:xfrm>
            <a:off x="552450" y="2209800"/>
            <a:ext cx="1428750" cy="352425"/>
          </a:xfrm>
          <a:prstGeom prst="rect">
            <a:avLst/>
          </a:prstGeom>
          <a:noFill/>
        </p:spPr>
        <p:txBody>
          <a:bodyPr wrap="square" tIns="0" rIns="0" bIns="0" lIns="0" anchor="ctr">
            <a:spAutoFit/>
          </a:bodyPr>
          <a:lstStyle/>
          <a:p>
            <a:pPr algn="l">
              <a:lnSpc>
                <a:spcPct val="120000"/>
              </a:lnSpc>
              <a:spcBef>
                <a:spcPts val="0"/>
              </a:spcBef>
              <a:spcAft>
                <a:spcPts val="0"/>
              </a:spcAft>
            </a:pPr>
            <a:r>
              <a:rPr sz="900" b="1">
                <a:solidFill>
                  <a:srgbClr val="6B6B6B"/>
                </a:solidFill>
                <a:latin typeface="Meiryo"/>
                <a:ea typeface="Meiryo"/>
                <a:cs typeface="Meiryo"/>
              </a:rPr>
              <a:t>S3 </a:t>
            </a:r>
            <a:r>
              <a:rPr sz="900" b="1">
                <a:solidFill>
                  <a:srgbClr val="1A1A1A"/>
                </a:solidFill>
                <a:latin typeface="Meiryo"/>
                <a:ea typeface="Meiryo"/>
                <a:cs typeface="Meiryo"/>
              </a:rPr>
              <a:t>三角筋</a:t>
            </a:r>
          </a:p>
        </p:txBody>
      </p:sp>
      <p:sp>
        <p:nvSpPr>
          <p:cNvPr id="20" name="TextBox 19"/>
          <p:cNvSpPr txBox="1"/>
          <p:nvPr/>
        </p:nvSpPr>
        <p:spPr>
          <a:xfrm>
            <a:off x="2000250" y="2209800"/>
            <a:ext cx="2143125" cy="352425"/>
          </a:xfrm>
          <a:prstGeom prst="rect">
            <a:avLst/>
          </a:prstGeom>
          <a:noFill/>
        </p:spPr>
        <p:txBody>
          <a:bodyPr wrap="square" tIns="0" rIns="0" bIns="0" lIns="0" anchor="ctr">
            <a:spAutoFit/>
          </a:bodyPr>
          <a:lstStyle/>
          <a:p>
            <a:pPr algn="l">
              <a:lnSpc>
                <a:spcPct val="120000"/>
              </a:lnSpc>
              <a:spcBef>
                <a:spcPts val="0"/>
              </a:spcBef>
              <a:spcAft>
                <a:spcPts val="0"/>
              </a:spcAft>
            </a:pPr>
            <a:r>
              <a:rPr sz="900" b="1">
                <a:solidFill>
                  <a:srgbClr val="1A1A1A"/>
                </a:solidFill>
                <a:latin typeface="Meiryo"/>
                <a:ea typeface="Meiryo"/>
                <a:cs typeface="Meiryo"/>
              </a:rPr>
              <a:t>肩の外転（壁を横に押す）</a:t>
            </a:r>
          </a:p>
        </p:txBody>
      </p:sp>
      <p:sp>
        <p:nvSpPr>
          <p:cNvPr id="21" name="Rectangle 20"/>
          <p:cNvSpPr/>
          <p:nvPr/>
        </p:nvSpPr>
        <p:spPr>
          <a:xfrm>
            <a:off x="4191000" y="2314575"/>
            <a:ext cx="619125" cy="142875"/>
          </a:xfrm>
          <a:prstGeom prst="rect">
            <a:avLst/>
          </a:prstGeom>
          <a:solidFill>
            <a:srgbClr val="6B6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867275" y="2209800"/>
            <a:ext cx="952500" cy="352425"/>
          </a:xfrm>
          <a:prstGeom prst="rect">
            <a:avLst/>
          </a:prstGeom>
          <a:noFill/>
        </p:spPr>
        <p:txBody>
          <a:bodyPr wrap="square" tIns="0" rIns="0" bIns="0" lIns="0" anchor="ctr">
            <a:spAutoFit/>
          </a:bodyPr>
          <a:lstStyle/>
          <a:p>
            <a:pPr algn="l">
              <a:lnSpc>
                <a:spcPct val="120000"/>
              </a:lnSpc>
              <a:spcBef>
                <a:spcPts val="0"/>
              </a:spcBef>
              <a:spcAft>
                <a:spcPts val="0"/>
              </a:spcAft>
            </a:pPr>
            <a:r>
              <a:rPr sz="900" b="1">
                <a:solidFill>
                  <a:srgbClr val="1A1A1A"/>
                </a:solidFill>
                <a:latin typeface="Meiryo"/>
                <a:ea typeface="Meiryo"/>
                <a:cs typeface="Meiryo"/>
              </a:rPr>
              <a:t>26 倍</a:t>
            </a:r>
          </a:p>
        </p:txBody>
      </p:sp>
      <p:cxnSp>
        <p:nvCxnSpPr>
          <p:cNvPr id="23" name="Connector 22"/>
          <p:cNvCxnSpPr/>
          <p:nvPr/>
        </p:nvCxnSpPr>
        <p:spPr>
          <a:xfrm>
            <a:off x="552450" y="2562225"/>
            <a:ext cx="7981950" cy="0"/>
          </a:xfrm>
          <a:prstGeom prst="line">
            <a:avLst/>
          </a:prstGeom>
          <a:ln w="7143">
            <a:solidFill>
              <a:srgbClr val="DDDDDD"/>
            </a:solidFill>
          </a:ln>
        </p:spPr>
      </p:cxnSp>
      <p:sp>
        <p:nvSpPr>
          <p:cNvPr id="24" name="TextBox 23"/>
          <p:cNvSpPr txBox="1"/>
          <p:nvPr/>
        </p:nvSpPr>
        <p:spPr>
          <a:xfrm>
            <a:off x="552450" y="2562225"/>
            <a:ext cx="1428750" cy="352425"/>
          </a:xfrm>
          <a:prstGeom prst="rect">
            <a:avLst/>
          </a:prstGeom>
          <a:noFill/>
        </p:spPr>
        <p:txBody>
          <a:bodyPr wrap="square" tIns="0" rIns="0" bIns="0" lIns="0" anchor="ctr">
            <a:spAutoFit/>
          </a:bodyPr>
          <a:lstStyle/>
          <a:p>
            <a:pPr algn="l">
              <a:lnSpc>
                <a:spcPct val="120000"/>
              </a:lnSpc>
              <a:spcBef>
                <a:spcPts val="0"/>
              </a:spcBef>
              <a:spcAft>
                <a:spcPts val="0"/>
              </a:spcAft>
            </a:pPr>
            <a:r>
              <a:rPr sz="900" b="1">
                <a:solidFill>
                  <a:srgbClr val="6B6B6B"/>
                </a:solidFill>
                <a:latin typeface="Meiryo"/>
                <a:ea typeface="Meiryo"/>
                <a:cs typeface="Meiryo"/>
              </a:rPr>
              <a:t>S4 </a:t>
            </a:r>
            <a:r>
              <a:rPr sz="900" b="1">
                <a:solidFill>
                  <a:srgbClr val="1A1A1A"/>
                </a:solidFill>
                <a:latin typeface="Meiryo"/>
                <a:ea typeface="Meiryo"/>
                <a:cs typeface="Meiryo"/>
              </a:rPr>
              <a:t>二頭筋</a:t>
            </a:r>
          </a:p>
        </p:txBody>
      </p:sp>
      <p:sp>
        <p:nvSpPr>
          <p:cNvPr id="25" name="TextBox 24"/>
          <p:cNvSpPr txBox="1"/>
          <p:nvPr/>
        </p:nvSpPr>
        <p:spPr>
          <a:xfrm>
            <a:off x="2000250" y="2562225"/>
            <a:ext cx="2143125" cy="352425"/>
          </a:xfrm>
          <a:prstGeom prst="rect">
            <a:avLst/>
          </a:prstGeom>
          <a:noFill/>
        </p:spPr>
        <p:txBody>
          <a:bodyPr wrap="square" tIns="0" rIns="0" bIns="0" lIns="0" anchor="ctr">
            <a:spAutoFit/>
          </a:bodyPr>
          <a:lstStyle/>
          <a:p>
            <a:pPr algn="l">
              <a:lnSpc>
                <a:spcPct val="120000"/>
              </a:lnSpc>
              <a:spcBef>
                <a:spcPts val="0"/>
              </a:spcBef>
              <a:spcAft>
                <a:spcPts val="0"/>
              </a:spcAft>
            </a:pPr>
            <a:r>
              <a:rPr sz="900" b="1">
                <a:solidFill>
                  <a:srgbClr val="1A1A1A"/>
                </a:solidFill>
                <a:latin typeface="Meiryo"/>
                <a:ea typeface="Meiryo"/>
                <a:cs typeface="Meiryo"/>
              </a:rPr>
              <a:t>肘の屈曲（天板を持ち上げる）</a:t>
            </a:r>
          </a:p>
        </p:txBody>
      </p:sp>
      <p:sp>
        <p:nvSpPr>
          <p:cNvPr id="26" name="Rectangle 25"/>
          <p:cNvSpPr/>
          <p:nvPr/>
        </p:nvSpPr>
        <p:spPr>
          <a:xfrm>
            <a:off x="4191000" y="2667000"/>
            <a:ext cx="3024188" cy="142875"/>
          </a:xfrm>
          <a:prstGeom prst="rect">
            <a:avLst/>
          </a:prstGeom>
          <a:solidFill>
            <a:srgbClr val="6B6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272338" y="2562225"/>
            <a:ext cx="952500" cy="352425"/>
          </a:xfrm>
          <a:prstGeom prst="rect">
            <a:avLst/>
          </a:prstGeom>
          <a:noFill/>
        </p:spPr>
        <p:txBody>
          <a:bodyPr wrap="square" tIns="0" rIns="0" bIns="0" lIns="0" anchor="ctr">
            <a:spAutoFit/>
          </a:bodyPr>
          <a:lstStyle/>
          <a:p>
            <a:pPr algn="l">
              <a:lnSpc>
                <a:spcPct val="120000"/>
              </a:lnSpc>
              <a:spcBef>
                <a:spcPts val="0"/>
              </a:spcBef>
              <a:spcAft>
                <a:spcPts val="0"/>
              </a:spcAft>
            </a:pPr>
            <a:r>
              <a:rPr sz="900" b="1">
                <a:solidFill>
                  <a:srgbClr val="1A1A1A"/>
                </a:solidFill>
                <a:latin typeface="Meiryo"/>
                <a:ea typeface="Meiryo"/>
                <a:cs typeface="Meiryo"/>
              </a:rPr>
              <a:t>127 倍</a:t>
            </a:r>
          </a:p>
        </p:txBody>
      </p:sp>
      <p:cxnSp>
        <p:nvCxnSpPr>
          <p:cNvPr id="28" name="Connector 27"/>
          <p:cNvCxnSpPr/>
          <p:nvPr/>
        </p:nvCxnSpPr>
        <p:spPr>
          <a:xfrm>
            <a:off x="552450" y="2914650"/>
            <a:ext cx="7981950" cy="0"/>
          </a:xfrm>
          <a:prstGeom prst="line">
            <a:avLst/>
          </a:prstGeom>
          <a:ln w="7143">
            <a:solidFill>
              <a:srgbClr val="DDDDDD"/>
            </a:solidFill>
          </a:ln>
        </p:spPr>
      </p:cxnSp>
      <p:sp>
        <p:nvSpPr>
          <p:cNvPr id="29" name="TextBox 28"/>
          <p:cNvSpPr txBox="1"/>
          <p:nvPr/>
        </p:nvSpPr>
        <p:spPr>
          <a:xfrm>
            <a:off x="552450" y="2914650"/>
            <a:ext cx="1428750" cy="352425"/>
          </a:xfrm>
          <a:prstGeom prst="rect">
            <a:avLst/>
          </a:prstGeom>
          <a:noFill/>
        </p:spPr>
        <p:txBody>
          <a:bodyPr wrap="square" tIns="0" rIns="0" bIns="0" lIns="0" anchor="ctr">
            <a:spAutoFit/>
          </a:bodyPr>
          <a:lstStyle/>
          <a:p>
            <a:pPr algn="l">
              <a:lnSpc>
                <a:spcPct val="120000"/>
              </a:lnSpc>
              <a:spcBef>
                <a:spcPts val="0"/>
              </a:spcBef>
              <a:spcAft>
                <a:spcPts val="0"/>
              </a:spcAft>
            </a:pPr>
            <a:r>
              <a:rPr sz="900" b="1">
                <a:solidFill>
                  <a:srgbClr val="6B6B6B"/>
                </a:solidFill>
                <a:latin typeface="Meiryo"/>
                <a:ea typeface="Meiryo"/>
                <a:cs typeface="Meiryo"/>
              </a:rPr>
              <a:t>S5 </a:t>
            </a:r>
            <a:r>
              <a:rPr sz="900" b="1">
                <a:solidFill>
                  <a:srgbClr val="1A1A1A"/>
                </a:solidFill>
                <a:latin typeface="Meiryo"/>
                <a:ea typeface="Meiryo"/>
                <a:cs typeface="Meiryo"/>
              </a:rPr>
              <a:t>三頭筋</a:t>
            </a:r>
          </a:p>
        </p:txBody>
      </p:sp>
      <p:sp>
        <p:nvSpPr>
          <p:cNvPr id="30" name="TextBox 29"/>
          <p:cNvSpPr txBox="1"/>
          <p:nvPr/>
        </p:nvSpPr>
        <p:spPr>
          <a:xfrm>
            <a:off x="2000250" y="2914650"/>
            <a:ext cx="2143125" cy="352425"/>
          </a:xfrm>
          <a:prstGeom prst="rect">
            <a:avLst/>
          </a:prstGeom>
          <a:noFill/>
        </p:spPr>
        <p:txBody>
          <a:bodyPr wrap="square" tIns="0" rIns="0" bIns="0" lIns="0" anchor="ctr">
            <a:spAutoFit/>
          </a:bodyPr>
          <a:lstStyle/>
          <a:p>
            <a:pPr algn="l">
              <a:lnSpc>
                <a:spcPct val="120000"/>
              </a:lnSpc>
              <a:spcBef>
                <a:spcPts val="0"/>
              </a:spcBef>
              <a:spcAft>
                <a:spcPts val="0"/>
              </a:spcAft>
            </a:pPr>
            <a:r>
              <a:rPr sz="900" b="1">
                <a:solidFill>
                  <a:srgbClr val="1A1A1A"/>
                </a:solidFill>
                <a:latin typeface="Meiryo"/>
                <a:ea typeface="Meiryo"/>
                <a:cs typeface="Meiryo"/>
              </a:rPr>
              <a:t>肘の伸展（机を押し下げる）</a:t>
            </a:r>
          </a:p>
        </p:txBody>
      </p:sp>
      <p:sp>
        <p:nvSpPr>
          <p:cNvPr id="31" name="Rectangle 30"/>
          <p:cNvSpPr/>
          <p:nvPr/>
        </p:nvSpPr>
        <p:spPr>
          <a:xfrm>
            <a:off x="4191000" y="3019425"/>
            <a:ext cx="285750" cy="142875"/>
          </a:xfrm>
          <a:prstGeom prst="rect">
            <a:avLst/>
          </a:prstGeom>
          <a:solidFill>
            <a:srgbClr val="6B6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33900" y="2914650"/>
            <a:ext cx="952500" cy="352425"/>
          </a:xfrm>
          <a:prstGeom prst="rect">
            <a:avLst/>
          </a:prstGeom>
          <a:noFill/>
        </p:spPr>
        <p:txBody>
          <a:bodyPr wrap="square" tIns="0" rIns="0" bIns="0" lIns="0" anchor="ctr">
            <a:spAutoFit/>
          </a:bodyPr>
          <a:lstStyle/>
          <a:p>
            <a:pPr algn="l">
              <a:lnSpc>
                <a:spcPct val="120000"/>
              </a:lnSpc>
              <a:spcBef>
                <a:spcPts val="0"/>
              </a:spcBef>
              <a:spcAft>
                <a:spcPts val="0"/>
              </a:spcAft>
            </a:pPr>
            <a:r>
              <a:rPr sz="900" b="1">
                <a:solidFill>
                  <a:srgbClr val="1A1A1A"/>
                </a:solidFill>
                <a:latin typeface="Meiryo"/>
                <a:ea typeface="Meiryo"/>
                <a:cs typeface="Meiryo"/>
              </a:rPr>
              <a:t>12 倍</a:t>
            </a:r>
          </a:p>
        </p:txBody>
      </p:sp>
      <p:cxnSp>
        <p:nvCxnSpPr>
          <p:cNvPr id="33" name="Connector 32"/>
          <p:cNvCxnSpPr/>
          <p:nvPr/>
        </p:nvCxnSpPr>
        <p:spPr>
          <a:xfrm>
            <a:off x="552450" y="3267075"/>
            <a:ext cx="7981950" cy="0"/>
          </a:xfrm>
          <a:prstGeom prst="line">
            <a:avLst/>
          </a:prstGeom>
          <a:ln w="7143">
            <a:solidFill>
              <a:srgbClr val="DDDDDD"/>
            </a:solidFill>
          </a:ln>
        </p:spPr>
      </p:cxnSp>
      <p:sp>
        <p:nvSpPr>
          <p:cNvPr id="34" name="TextBox 33"/>
          <p:cNvSpPr txBox="1"/>
          <p:nvPr/>
        </p:nvSpPr>
        <p:spPr>
          <a:xfrm>
            <a:off x="552450" y="3267075"/>
            <a:ext cx="1428750" cy="352425"/>
          </a:xfrm>
          <a:prstGeom prst="rect">
            <a:avLst/>
          </a:prstGeom>
          <a:noFill/>
        </p:spPr>
        <p:txBody>
          <a:bodyPr wrap="square" tIns="0" rIns="0" bIns="0" lIns="0" anchor="ctr">
            <a:spAutoFit/>
          </a:bodyPr>
          <a:lstStyle/>
          <a:p>
            <a:pPr algn="l">
              <a:lnSpc>
                <a:spcPct val="120000"/>
              </a:lnSpc>
              <a:spcBef>
                <a:spcPts val="0"/>
              </a:spcBef>
              <a:spcAft>
                <a:spcPts val="0"/>
              </a:spcAft>
            </a:pPr>
            <a:r>
              <a:rPr sz="900" b="1">
                <a:solidFill>
                  <a:srgbClr val="6B6B6B"/>
                </a:solidFill>
                <a:latin typeface="Meiryo"/>
                <a:ea typeface="Meiryo"/>
                <a:cs typeface="Meiryo"/>
              </a:rPr>
              <a:t>S6 </a:t>
            </a:r>
            <a:r>
              <a:rPr sz="900" b="1">
                <a:solidFill>
                  <a:srgbClr val="1A1A1A"/>
                </a:solidFill>
                <a:latin typeface="Meiryo"/>
                <a:ea typeface="Meiryo"/>
                <a:cs typeface="Meiryo"/>
              </a:rPr>
              <a:t>僧帽筋</a:t>
            </a:r>
          </a:p>
        </p:txBody>
      </p:sp>
      <p:sp>
        <p:nvSpPr>
          <p:cNvPr id="35" name="TextBox 34"/>
          <p:cNvSpPr txBox="1"/>
          <p:nvPr/>
        </p:nvSpPr>
        <p:spPr>
          <a:xfrm>
            <a:off x="2000250" y="3267075"/>
            <a:ext cx="2143125" cy="352425"/>
          </a:xfrm>
          <a:prstGeom prst="rect">
            <a:avLst/>
          </a:prstGeom>
          <a:noFill/>
        </p:spPr>
        <p:txBody>
          <a:bodyPr wrap="square" tIns="0" rIns="0" bIns="0" lIns="0" anchor="ctr">
            <a:spAutoFit/>
          </a:bodyPr>
          <a:lstStyle/>
          <a:p>
            <a:pPr algn="l">
              <a:lnSpc>
                <a:spcPct val="120000"/>
              </a:lnSpc>
              <a:spcBef>
                <a:spcPts val="0"/>
              </a:spcBef>
              <a:spcAft>
                <a:spcPts val="0"/>
              </a:spcAft>
            </a:pPr>
            <a:r>
              <a:rPr sz="900" b="1">
                <a:solidFill>
                  <a:srgbClr val="B0560C"/>
                </a:solidFill>
                <a:latin typeface="Meiryo"/>
                <a:ea typeface="Meiryo"/>
                <a:cs typeface="Meiryo"/>
              </a:rPr>
              <a:t>肩の外転（壁を横に押す）</a:t>
            </a:r>
          </a:p>
          <a:p>
            <a:pPr algn="l">
              <a:lnSpc>
                <a:spcPct val="120000"/>
              </a:lnSpc>
              <a:spcBef>
                <a:spcPts val="0"/>
              </a:spcBef>
              <a:spcAft>
                <a:spcPts val="0"/>
              </a:spcAft>
            </a:pPr>
            <a:r>
              <a:rPr sz="750" b="0">
                <a:solidFill>
                  <a:srgbClr val="6B6B6B"/>
                </a:solidFill>
                <a:latin typeface="Meiryo"/>
                <a:ea typeface="Meiryo"/>
                <a:cs typeface="Meiryo"/>
              </a:rPr>
              <a:t>肩をすくめる課題は 55%</a:t>
            </a:r>
          </a:p>
        </p:txBody>
      </p:sp>
      <p:sp>
        <p:nvSpPr>
          <p:cNvPr id="36" name="Rectangle 35"/>
          <p:cNvSpPr/>
          <p:nvPr/>
        </p:nvSpPr>
        <p:spPr>
          <a:xfrm>
            <a:off x="4191000" y="3371850"/>
            <a:ext cx="1285875" cy="142875"/>
          </a:xfrm>
          <a:prstGeom prst="rect">
            <a:avLst/>
          </a:prstGeom>
          <a:solidFill>
            <a:srgbClr val="6B6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534025" y="3267075"/>
            <a:ext cx="952500" cy="352425"/>
          </a:xfrm>
          <a:prstGeom prst="rect">
            <a:avLst/>
          </a:prstGeom>
          <a:noFill/>
        </p:spPr>
        <p:txBody>
          <a:bodyPr wrap="square" tIns="0" rIns="0" bIns="0" lIns="0" anchor="ctr">
            <a:spAutoFit/>
          </a:bodyPr>
          <a:lstStyle/>
          <a:p>
            <a:pPr algn="l">
              <a:lnSpc>
                <a:spcPct val="120000"/>
              </a:lnSpc>
              <a:spcBef>
                <a:spcPts val="0"/>
              </a:spcBef>
              <a:spcAft>
                <a:spcPts val="0"/>
              </a:spcAft>
            </a:pPr>
            <a:r>
              <a:rPr sz="900" b="1">
                <a:solidFill>
                  <a:srgbClr val="1A1A1A"/>
                </a:solidFill>
                <a:latin typeface="Meiryo"/>
                <a:ea typeface="Meiryo"/>
                <a:cs typeface="Meiryo"/>
              </a:rPr>
              <a:t>54 倍</a:t>
            </a:r>
          </a:p>
        </p:txBody>
      </p:sp>
      <p:cxnSp>
        <p:nvCxnSpPr>
          <p:cNvPr id="38" name="Connector 37"/>
          <p:cNvCxnSpPr/>
          <p:nvPr/>
        </p:nvCxnSpPr>
        <p:spPr>
          <a:xfrm>
            <a:off x="552450" y="3619500"/>
            <a:ext cx="7981950" cy="0"/>
          </a:xfrm>
          <a:prstGeom prst="line">
            <a:avLst/>
          </a:prstGeom>
          <a:ln w="7143">
            <a:solidFill>
              <a:srgbClr val="DDDDDD"/>
            </a:solidFill>
          </a:ln>
        </p:spPr>
      </p:cxnSp>
      <p:cxnSp>
        <p:nvCxnSpPr>
          <p:cNvPr id="39" name="Connector 38"/>
          <p:cNvCxnSpPr/>
          <p:nvPr/>
        </p:nvCxnSpPr>
        <p:spPr>
          <a:xfrm>
            <a:off x="4310062" y="1476375"/>
            <a:ext cx="0" cy="2171700"/>
          </a:xfrm>
          <a:prstGeom prst="line">
            <a:avLst/>
          </a:prstGeom>
          <a:ln w="7143">
            <a:solidFill>
              <a:srgbClr val="6B6B6B"/>
            </a:solidFill>
            <a:prstDash val="dash"/>
          </a:ln>
        </p:spPr>
      </p:cxnSp>
      <p:cxnSp>
        <p:nvCxnSpPr>
          <p:cNvPr id="40" name="Connector 39"/>
          <p:cNvCxnSpPr/>
          <p:nvPr/>
        </p:nvCxnSpPr>
        <p:spPr>
          <a:xfrm>
            <a:off x="566738" y="3914775"/>
            <a:ext cx="7967662" cy="0"/>
          </a:xfrm>
          <a:prstGeom prst="line">
            <a:avLst/>
          </a:prstGeom>
          <a:ln w="9525">
            <a:solidFill>
              <a:srgbClr val="C8C8C8"/>
            </a:solidFill>
          </a:ln>
        </p:spPr>
      </p:cxnSp>
      <p:sp>
        <p:nvSpPr>
          <p:cNvPr id="41" name="TextBox 40"/>
          <p:cNvSpPr txBox="1"/>
          <p:nvPr/>
        </p:nvSpPr>
        <p:spPr>
          <a:xfrm>
            <a:off x="566738" y="4095750"/>
            <a:ext cx="7967662" cy="333375"/>
          </a:xfrm>
          <a:prstGeom prst="rect">
            <a:avLst/>
          </a:prstGeom>
          <a:noFill/>
        </p:spPr>
        <p:txBody>
          <a:bodyPr wrap="square" tIns="0" rIns="0" bIns="0" lIns="0">
            <a:spAutoFit/>
          </a:bodyPr>
          <a:lstStyle/>
          <a:p>
            <a:pPr algn="l">
              <a:lnSpc>
                <a:spcPct val="120000"/>
              </a:lnSpc>
              <a:spcBef>
                <a:spcPts val="0"/>
              </a:spcBef>
              <a:spcAft>
                <a:spcPts val="0"/>
              </a:spcAft>
            </a:pPr>
            <a:r>
              <a:rPr sz="1725" b="1">
                <a:solidFill>
                  <a:srgbClr val="B0560C"/>
                </a:solidFill>
                <a:latin typeface="Meiryo"/>
                <a:ea typeface="Meiryo"/>
                <a:cs typeface="Meiryo"/>
              </a:rPr>
              <a:t>前腕以外は確認動作がなく、全力かはまだ確かめていない</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52450" y="381000"/>
            <a:ext cx="7143750" cy="476250"/>
          </a:xfrm>
          <a:prstGeom prst="rect">
            <a:avLst/>
          </a:prstGeom>
          <a:noFill/>
        </p:spPr>
        <p:txBody>
          <a:bodyPr wrap="square" tIns="0" rIns="0" bIns="0" lIns="0">
            <a:spAutoFit/>
          </a:bodyPr>
          <a:lstStyle/>
          <a:p>
            <a:pPr algn="l">
              <a:lnSpc>
                <a:spcPct val="120000"/>
              </a:lnSpc>
              <a:spcBef>
                <a:spcPts val="0"/>
              </a:spcBef>
              <a:spcAft>
                <a:spcPts val="0"/>
              </a:spcAft>
            </a:pPr>
            <a:r>
              <a:rPr sz="3000" b="1">
                <a:solidFill>
                  <a:srgbClr val="1A1A1A"/>
                </a:solidFill>
                <a:latin typeface="Meiryo"/>
                <a:ea typeface="Meiryo"/>
                <a:cs typeface="Meiryo"/>
              </a:rPr>
              <a:t>マウスを振った 3 分間の筋活動</a:t>
            </a:r>
          </a:p>
        </p:txBody>
      </p:sp>
      <p:sp>
        <p:nvSpPr>
          <p:cNvPr id="3" name="TextBox 2"/>
          <p:cNvSpPr txBox="1"/>
          <p:nvPr/>
        </p:nvSpPr>
        <p:spPr>
          <a:xfrm>
            <a:off x="7953375" y="476250"/>
            <a:ext cx="581025" cy="190500"/>
          </a:xfrm>
          <a:prstGeom prst="rect">
            <a:avLst/>
          </a:prstGeom>
          <a:noFill/>
        </p:spPr>
        <p:txBody>
          <a:bodyPr wrap="square" tIns="0" rIns="0" bIns="0" lIns="0">
            <a:spAutoFit/>
          </a:bodyPr>
          <a:lstStyle/>
          <a:p>
            <a:pPr algn="r">
              <a:lnSpc>
                <a:spcPct val="120000"/>
              </a:lnSpc>
              <a:spcBef>
                <a:spcPts val="0"/>
              </a:spcBef>
              <a:spcAft>
                <a:spcPts val="0"/>
              </a:spcAft>
            </a:pPr>
            <a:r>
              <a:rPr sz="1200" b="0">
                <a:solidFill>
                  <a:srgbClr val="6B6B6B"/>
                </a:solidFill>
                <a:latin typeface="Meiryo"/>
                <a:ea typeface="Meiryo"/>
                <a:cs typeface="Meiryo"/>
              </a:rPr>
              <a:t>6</a:t>
            </a:r>
          </a:p>
        </p:txBody>
      </p:sp>
      <p:sp>
        <p:nvSpPr>
          <p:cNvPr id="4" name="Rectangle 3"/>
          <p:cNvSpPr/>
          <p:nvPr/>
        </p:nvSpPr>
        <p:spPr>
          <a:xfrm>
            <a:off x="2000250" y="1028700"/>
            <a:ext cx="133350" cy="95250"/>
          </a:xfrm>
          <a:prstGeom prst="rect">
            <a:avLst/>
          </a:prstGeom>
          <a:solidFill>
            <a:srgbClr val="6B6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171700" y="981075"/>
            <a:ext cx="1428750" cy="190500"/>
          </a:xfrm>
          <a:prstGeom prst="rect">
            <a:avLst/>
          </a:prstGeom>
          <a:noFill/>
        </p:spPr>
        <p:txBody>
          <a:bodyPr wrap="square" tIns="0" rIns="0" bIns="0" lIns="0">
            <a:spAutoFit/>
          </a:bodyPr>
          <a:lstStyle/>
          <a:p>
            <a:pPr algn="l">
              <a:lnSpc>
                <a:spcPct val="120000"/>
              </a:lnSpc>
              <a:spcBef>
                <a:spcPts val="0"/>
              </a:spcBef>
              <a:spcAft>
                <a:spcPts val="0"/>
              </a:spcAft>
            </a:pPr>
            <a:r>
              <a:rPr sz="825" b="0">
                <a:solidFill>
                  <a:srgbClr val="6B6B6B"/>
                </a:solidFill>
                <a:latin typeface="Meiryo"/>
                <a:ea typeface="Meiryo"/>
                <a:cs typeface="Meiryo"/>
              </a:rPr>
              <a:t>上位 5% の値</a:t>
            </a:r>
          </a:p>
        </p:txBody>
      </p:sp>
      <p:sp>
        <p:nvSpPr>
          <p:cNvPr id="6" name="Rectangle 5"/>
          <p:cNvSpPr/>
          <p:nvPr/>
        </p:nvSpPr>
        <p:spPr>
          <a:xfrm>
            <a:off x="3048000" y="1028700"/>
            <a:ext cx="133350" cy="95250"/>
          </a:xfrm>
          <a:prstGeom prst="rect">
            <a:avLst/>
          </a:prstGeom>
          <a:solidFill>
            <a:srgbClr val="C8C8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219450" y="981075"/>
            <a:ext cx="2857500" cy="190500"/>
          </a:xfrm>
          <a:prstGeom prst="rect">
            <a:avLst/>
          </a:prstGeom>
          <a:noFill/>
        </p:spPr>
        <p:txBody>
          <a:bodyPr wrap="square" tIns="0" rIns="0" bIns="0" lIns="0">
            <a:spAutoFit/>
          </a:bodyPr>
          <a:lstStyle/>
          <a:p>
            <a:pPr algn="l">
              <a:lnSpc>
                <a:spcPct val="120000"/>
              </a:lnSpc>
              <a:spcBef>
                <a:spcPts val="0"/>
              </a:spcBef>
              <a:spcAft>
                <a:spcPts val="0"/>
              </a:spcAft>
            </a:pPr>
            <a:r>
              <a:rPr sz="825" b="0">
                <a:solidFill>
                  <a:srgbClr val="6B6B6B"/>
                </a:solidFill>
                <a:latin typeface="Meiryo"/>
                <a:ea typeface="Meiryo"/>
                <a:cs typeface="Meiryo"/>
              </a:rPr>
              <a:t>最大（0.5 秒平均）　単位：%MVC</a:t>
            </a:r>
          </a:p>
        </p:txBody>
      </p:sp>
      <p:sp>
        <p:nvSpPr>
          <p:cNvPr id="8" name="TextBox 7"/>
          <p:cNvSpPr txBox="1"/>
          <p:nvPr/>
        </p:nvSpPr>
        <p:spPr>
          <a:xfrm>
            <a:off x="552450" y="1285875"/>
            <a:ext cx="1428750" cy="342900"/>
          </a:xfrm>
          <a:prstGeom prst="rect">
            <a:avLst/>
          </a:prstGeom>
          <a:noFill/>
        </p:spPr>
        <p:txBody>
          <a:bodyPr wrap="square" tIns="0" rIns="0" bIns="0" lIns="0" anchor="ctr">
            <a:spAutoFit/>
          </a:bodyPr>
          <a:lstStyle/>
          <a:p>
            <a:pPr algn="l">
              <a:lnSpc>
                <a:spcPct val="120000"/>
              </a:lnSpc>
              <a:spcBef>
                <a:spcPts val="0"/>
              </a:spcBef>
              <a:spcAft>
                <a:spcPts val="0"/>
              </a:spcAft>
            </a:pPr>
            <a:r>
              <a:rPr sz="900" b="1">
                <a:solidFill>
                  <a:srgbClr val="6B6B6B"/>
                </a:solidFill>
                <a:latin typeface="Meiryo"/>
                <a:ea typeface="Meiryo"/>
                <a:cs typeface="Meiryo"/>
              </a:rPr>
              <a:t>S1 </a:t>
            </a:r>
            <a:r>
              <a:rPr sz="900" b="1">
                <a:solidFill>
                  <a:srgbClr val="1A1A1A"/>
                </a:solidFill>
                <a:latin typeface="Meiryo"/>
                <a:ea typeface="Meiryo"/>
                <a:cs typeface="Meiryo"/>
              </a:rPr>
              <a:t>前腕の上（伸筋）</a:t>
            </a:r>
          </a:p>
        </p:txBody>
      </p:sp>
      <p:sp>
        <p:nvSpPr>
          <p:cNvPr id="9" name="Rectangle 8"/>
          <p:cNvSpPr/>
          <p:nvPr/>
        </p:nvSpPr>
        <p:spPr>
          <a:xfrm>
            <a:off x="2000250" y="1333500"/>
            <a:ext cx="733425" cy="123825"/>
          </a:xfrm>
          <a:prstGeom prst="rect">
            <a:avLst/>
          </a:prstGeom>
          <a:solidFill>
            <a:srgbClr val="1F6F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000250" y="1466850"/>
            <a:ext cx="1033462" cy="104775"/>
          </a:xfrm>
          <a:prstGeom prst="rect">
            <a:avLst/>
          </a:prstGeom>
          <a:solidFill>
            <a:srgbClr val="C8C8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781300" y="1304925"/>
            <a:ext cx="571500" cy="171450"/>
          </a:xfrm>
          <a:prstGeom prst="rect">
            <a:avLst/>
          </a:prstGeom>
          <a:noFill/>
        </p:spPr>
        <p:txBody>
          <a:bodyPr wrap="square" tIns="0" rIns="0" bIns="0" lIns="0">
            <a:spAutoFit/>
          </a:bodyPr>
          <a:lstStyle/>
          <a:p>
            <a:pPr algn="l">
              <a:lnSpc>
                <a:spcPct val="120000"/>
              </a:lnSpc>
              <a:spcBef>
                <a:spcPts val="0"/>
              </a:spcBef>
              <a:spcAft>
                <a:spcPts val="0"/>
              </a:spcAft>
            </a:pPr>
            <a:r>
              <a:rPr sz="825" b="1">
                <a:solidFill>
                  <a:srgbClr val="1A1A1A"/>
                </a:solidFill>
                <a:latin typeface="Meiryo"/>
                <a:ea typeface="Meiryo"/>
                <a:cs typeface="Meiryo"/>
              </a:rPr>
              <a:t>22</a:t>
            </a:r>
          </a:p>
        </p:txBody>
      </p:sp>
      <p:sp>
        <p:nvSpPr>
          <p:cNvPr id="12" name="TextBox 11"/>
          <p:cNvSpPr txBox="1"/>
          <p:nvPr/>
        </p:nvSpPr>
        <p:spPr>
          <a:xfrm>
            <a:off x="3081338" y="1428750"/>
            <a:ext cx="2000250" cy="171450"/>
          </a:xfrm>
          <a:prstGeom prst="rect">
            <a:avLst/>
          </a:prstGeom>
          <a:noFill/>
        </p:spPr>
        <p:txBody>
          <a:bodyPr wrap="square" tIns="0" rIns="0" bIns="0" lIns="0">
            <a:spAutoFit/>
          </a:bodyPr>
          <a:lstStyle/>
          <a:p>
            <a:pPr algn="l">
              <a:lnSpc>
                <a:spcPct val="120000"/>
              </a:lnSpc>
              <a:spcBef>
                <a:spcPts val="0"/>
              </a:spcBef>
              <a:spcAft>
                <a:spcPts val="0"/>
              </a:spcAft>
            </a:pPr>
            <a:r>
              <a:rPr sz="750" b="0">
                <a:solidFill>
                  <a:srgbClr val="6B6B6B"/>
                </a:solidFill>
                <a:latin typeface="Meiryo"/>
                <a:ea typeface="Meiryo"/>
                <a:cs typeface="Meiryo"/>
              </a:rPr>
              <a:t>31</a:t>
            </a:r>
          </a:p>
        </p:txBody>
      </p:sp>
      <p:sp>
        <p:nvSpPr>
          <p:cNvPr id="13" name="TextBox 12"/>
          <p:cNvSpPr txBox="1"/>
          <p:nvPr/>
        </p:nvSpPr>
        <p:spPr>
          <a:xfrm>
            <a:off x="552450" y="1628775"/>
            <a:ext cx="1428750" cy="342900"/>
          </a:xfrm>
          <a:prstGeom prst="rect">
            <a:avLst/>
          </a:prstGeom>
          <a:noFill/>
        </p:spPr>
        <p:txBody>
          <a:bodyPr wrap="square" tIns="0" rIns="0" bIns="0" lIns="0" anchor="ctr">
            <a:spAutoFit/>
          </a:bodyPr>
          <a:lstStyle/>
          <a:p>
            <a:pPr algn="l">
              <a:lnSpc>
                <a:spcPct val="120000"/>
              </a:lnSpc>
              <a:spcBef>
                <a:spcPts val="0"/>
              </a:spcBef>
              <a:spcAft>
                <a:spcPts val="0"/>
              </a:spcAft>
            </a:pPr>
            <a:r>
              <a:rPr sz="900" b="1">
                <a:solidFill>
                  <a:srgbClr val="6B6B6B"/>
                </a:solidFill>
                <a:latin typeface="Meiryo"/>
                <a:ea typeface="Meiryo"/>
                <a:cs typeface="Meiryo"/>
              </a:rPr>
              <a:t>S2 </a:t>
            </a:r>
            <a:r>
              <a:rPr sz="900" b="1">
                <a:solidFill>
                  <a:srgbClr val="1A1A1A"/>
                </a:solidFill>
                <a:latin typeface="Meiryo"/>
                <a:ea typeface="Meiryo"/>
                <a:cs typeface="Meiryo"/>
              </a:rPr>
              <a:t>前腕の下（屈筋）</a:t>
            </a:r>
          </a:p>
        </p:txBody>
      </p:sp>
      <p:sp>
        <p:nvSpPr>
          <p:cNvPr id="14" name="Rectangle 13"/>
          <p:cNvSpPr/>
          <p:nvPr/>
        </p:nvSpPr>
        <p:spPr>
          <a:xfrm>
            <a:off x="2000250" y="1676400"/>
            <a:ext cx="133350" cy="123825"/>
          </a:xfrm>
          <a:prstGeom prst="rect">
            <a:avLst/>
          </a:prstGeom>
          <a:solidFill>
            <a:srgbClr val="E07B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000250" y="1809750"/>
            <a:ext cx="533400" cy="104775"/>
          </a:xfrm>
          <a:prstGeom prst="rect">
            <a:avLst/>
          </a:prstGeom>
          <a:solidFill>
            <a:srgbClr val="C8C8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181225" y="1647825"/>
            <a:ext cx="571500" cy="171450"/>
          </a:xfrm>
          <a:prstGeom prst="rect">
            <a:avLst/>
          </a:prstGeom>
          <a:noFill/>
        </p:spPr>
        <p:txBody>
          <a:bodyPr wrap="square" tIns="0" rIns="0" bIns="0" lIns="0">
            <a:spAutoFit/>
          </a:bodyPr>
          <a:lstStyle/>
          <a:p>
            <a:pPr algn="l">
              <a:lnSpc>
                <a:spcPct val="120000"/>
              </a:lnSpc>
              <a:spcBef>
                <a:spcPts val="0"/>
              </a:spcBef>
              <a:spcAft>
                <a:spcPts val="0"/>
              </a:spcAft>
            </a:pPr>
            <a:r>
              <a:rPr sz="825" b="1">
                <a:solidFill>
                  <a:srgbClr val="1A1A1A"/>
                </a:solidFill>
                <a:latin typeface="Meiryo"/>
                <a:ea typeface="Meiryo"/>
                <a:cs typeface="Meiryo"/>
              </a:rPr>
              <a:t>4</a:t>
            </a:r>
          </a:p>
        </p:txBody>
      </p:sp>
      <p:sp>
        <p:nvSpPr>
          <p:cNvPr id="17" name="TextBox 16"/>
          <p:cNvSpPr txBox="1"/>
          <p:nvPr/>
        </p:nvSpPr>
        <p:spPr>
          <a:xfrm>
            <a:off x="2581275" y="1771650"/>
            <a:ext cx="2000250" cy="171450"/>
          </a:xfrm>
          <a:prstGeom prst="rect">
            <a:avLst/>
          </a:prstGeom>
          <a:noFill/>
        </p:spPr>
        <p:txBody>
          <a:bodyPr wrap="square" tIns="0" rIns="0" bIns="0" lIns="0">
            <a:spAutoFit/>
          </a:bodyPr>
          <a:lstStyle/>
          <a:p>
            <a:pPr algn="l">
              <a:lnSpc>
                <a:spcPct val="120000"/>
              </a:lnSpc>
              <a:spcBef>
                <a:spcPts val="0"/>
              </a:spcBef>
              <a:spcAft>
                <a:spcPts val="0"/>
              </a:spcAft>
            </a:pPr>
            <a:r>
              <a:rPr sz="750" b="0">
                <a:solidFill>
                  <a:srgbClr val="6B6B6B"/>
                </a:solidFill>
                <a:latin typeface="Meiryo"/>
                <a:ea typeface="Meiryo"/>
                <a:cs typeface="Meiryo"/>
              </a:rPr>
              <a:t>16</a:t>
            </a:r>
          </a:p>
        </p:txBody>
      </p:sp>
      <p:sp>
        <p:nvSpPr>
          <p:cNvPr id="18" name="TextBox 17"/>
          <p:cNvSpPr txBox="1"/>
          <p:nvPr/>
        </p:nvSpPr>
        <p:spPr>
          <a:xfrm>
            <a:off x="552450" y="1971675"/>
            <a:ext cx="1428750" cy="342900"/>
          </a:xfrm>
          <a:prstGeom prst="rect">
            <a:avLst/>
          </a:prstGeom>
          <a:noFill/>
        </p:spPr>
        <p:txBody>
          <a:bodyPr wrap="square" tIns="0" rIns="0" bIns="0" lIns="0" anchor="ctr">
            <a:spAutoFit/>
          </a:bodyPr>
          <a:lstStyle/>
          <a:p>
            <a:pPr algn="l">
              <a:lnSpc>
                <a:spcPct val="120000"/>
              </a:lnSpc>
              <a:spcBef>
                <a:spcPts val="0"/>
              </a:spcBef>
              <a:spcAft>
                <a:spcPts val="0"/>
              </a:spcAft>
            </a:pPr>
            <a:r>
              <a:rPr sz="900" b="1">
                <a:solidFill>
                  <a:srgbClr val="6B6B6B"/>
                </a:solidFill>
                <a:latin typeface="Meiryo"/>
                <a:ea typeface="Meiryo"/>
                <a:cs typeface="Meiryo"/>
              </a:rPr>
              <a:t>S3 </a:t>
            </a:r>
            <a:r>
              <a:rPr sz="900" b="1">
                <a:solidFill>
                  <a:srgbClr val="1A1A1A"/>
                </a:solidFill>
                <a:latin typeface="Meiryo"/>
                <a:ea typeface="Meiryo"/>
                <a:cs typeface="Meiryo"/>
              </a:rPr>
              <a:t>三角筋</a:t>
            </a:r>
          </a:p>
        </p:txBody>
      </p:sp>
      <p:sp>
        <p:nvSpPr>
          <p:cNvPr id="19" name="Rectangle 18"/>
          <p:cNvSpPr/>
          <p:nvPr/>
        </p:nvSpPr>
        <p:spPr>
          <a:xfrm>
            <a:off x="2000250" y="2019300"/>
            <a:ext cx="833438" cy="123825"/>
          </a:xfrm>
          <a:prstGeom prst="rect">
            <a:avLst/>
          </a:prstGeom>
          <a:solidFill>
            <a:srgbClr val="6B6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2000250" y="2152650"/>
            <a:ext cx="966788" cy="104775"/>
          </a:xfrm>
          <a:prstGeom prst="rect">
            <a:avLst/>
          </a:prstGeom>
          <a:solidFill>
            <a:srgbClr val="C8C8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881312" y="1990725"/>
            <a:ext cx="571500" cy="171450"/>
          </a:xfrm>
          <a:prstGeom prst="rect">
            <a:avLst/>
          </a:prstGeom>
          <a:noFill/>
        </p:spPr>
        <p:txBody>
          <a:bodyPr wrap="square" tIns="0" rIns="0" bIns="0" lIns="0">
            <a:spAutoFit/>
          </a:bodyPr>
          <a:lstStyle/>
          <a:p>
            <a:pPr algn="l">
              <a:lnSpc>
                <a:spcPct val="120000"/>
              </a:lnSpc>
              <a:spcBef>
                <a:spcPts val="0"/>
              </a:spcBef>
              <a:spcAft>
                <a:spcPts val="0"/>
              </a:spcAft>
            </a:pPr>
            <a:r>
              <a:rPr sz="825" b="1">
                <a:solidFill>
                  <a:srgbClr val="1A1A1A"/>
                </a:solidFill>
                <a:latin typeface="Meiryo"/>
                <a:ea typeface="Meiryo"/>
                <a:cs typeface="Meiryo"/>
              </a:rPr>
              <a:t>25</a:t>
            </a:r>
          </a:p>
        </p:txBody>
      </p:sp>
      <p:sp>
        <p:nvSpPr>
          <p:cNvPr id="22" name="TextBox 21"/>
          <p:cNvSpPr txBox="1"/>
          <p:nvPr/>
        </p:nvSpPr>
        <p:spPr>
          <a:xfrm>
            <a:off x="3014662" y="2114550"/>
            <a:ext cx="2000250" cy="171450"/>
          </a:xfrm>
          <a:prstGeom prst="rect">
            <a:avLst/>
          </a:prstGeom>
          <a:noFill/>
        </p:spPr>
        <p:txBody>
          <a:bodyPr wrap="square" tIns="0" rIns="0" bIns="0" lIns="0">
            <a:spAutoFit/>
          </a:bodyPr>
          <a:lstStyle/>
          <a:p>
            <a:pPr algn="l">
              <a:lnSpc>
                <a:spcPct val="120000"/>
              </a:lnSpc>
              <a:spcBef>
                <a:spcPts val="0"/>
              </a:spcBef>
              <a:spcAft>
                <a:spcPts val="0"/>
              </a:spcAft>
            </a:pPr>
            <a:r>
              <a:rPr sz="750" b="0">
                <a:solidFill>
                  <a:srgbClr val="6B6B6B"/>
                </a:solidFill>
                <a:latin typeface="Meiryo"/>
                <a:ea typeface="Meiryo"/>
                <a:cs typeface="Meiryo"/>
              </a:rPr>
              <a:t>29</a:t>
            </a:r>
          </a:p>
        </p:txBody>
      </p:sp>
      <p:sp>
        <p:nvSpPr>
          <p:cNvPr id="23" name="TextBox 22"/>
          <p:cNvSpPr txBox="1"/>
          <p:nvPr/>
        </p:nvSpPr>
        <p:spPr>
          <a:xfrm>
            <a:off x="552450" y="2314575"/>
            <a:ext cx="1428750" cy="342900"/>
          </a:xfrm>
          <a:prstGeom prst="rect">
            <a:avLst/>
          </a:prstGeom>
          <a:noFill/>
        </p:spPr>
        <p:txBody>
          <a:bodyPr wrap="square" tIns="0" rIns="0" bIns="0" lIns="0" anchor="ctr">
            <a:spAutoFit/>
          </a:bodyPr>
          <a:lstStyle/>
          <a:p>
            <a:pPr algn="l">
              <a:lnSpc>
                <a:spcPct val="120000"/>
              </a:lnSpc>
              <a:spcBef>
                <a:spcPts val="0"/>
              </a:spcBef>
              <a:spcAft>
                <a:spcPts val="0"/>
              </a:spcAft>
            </a:pPr>
            <a:r>
              <a:rPr sz="900" b="1">
                <a:solidFill>
                  <a:srgbClr val="6B6B6B"/>
                </a:solidFill>
                <a:latin typeface="Meiryo"/>
                <a:ea typeface="Meiryo"/>
                <a:cs typeface="Meiryo"/>
              </a:rPr>
              <a:t>S4 </a:t>
            </a:r>
            <a:r>
              <a:rPr sz="900" b="1">
                <a:solidFill>
                  <a:srgbClr val="1A1A1A"/>
                </a:solidFill>
                <a:latin typeface="Meiryo"/>
                <a:ea typeface="Meiryo"/>
                <a:cs typeface="Meiryo"/>
              </a:rPr>
              <a:t>二頭筋</a:t>
            </a:r>
          </a:p>
        </p:txBody>
      </p:sp>
      <p:sp>
        <p:nvSpPr>
          <p:cNvPr id="24" name="Rectangle 23"/>
          <p:cNvSpPr/>
          <p:nvPr/>
        </p:nvSpPr>
        <p:spPr>
          <a:xfrm>
            <a:off x="2000250" y="2362200"/>
            <a:ext cx="200025" cy="123825"/>
          </a:xfrm>
          <a:prstGeom prst="rect">
            <a:avLst/>
          </a:prstGeom>
          <a:solidFill>
            <a:srgbClr val="6B6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2000250" y="2495550"/>
            <a:ext cx="433388" cy="104775"/>
          </a:xfrm>
          <a:prstGeom prst="rect">
            <a:avLst/>
          </a:prstGeom>
          <a:solidFill>
            <a:srgbClr val="C8C8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247900" y="2333625"/>
            <a:ext cx="571500" cy="171450"/>
          </a:xfrm>
          <a:prstGeom prst="rect">
            <a:avLst/>
          </a:prstGeom>
          <a:noFill/>
        </p:spPr>
        <p:txBody>
          <a:bodyPr wrap="square" tIns="0" rIns="0" bIns="0" lIns="0">
            <a:spAutoFit/>
          </a:bodyPr>
          <a:lstStyle/>
          <a:p>
            <a:pPr algn="l">
              <a:lnSpc>
                <a:spcPct val="120000"/>
              </a:lnSpc>
              <a:spcBef>
                <a:spcPts val="0"/>
              </a:spcBef>
              <a:spcAft>
                <a:spcPts val="0"/>
              </a:spcAft>
            </a:pPr>
            <a:r>
              <a:rPr sz="825" b="1">
                <a:solidFill>
                  <a:srgbClr val="1A1A1A"/>
                </a:solidFill>
                <a:latin typeface="Meiryo"/>
                <a:ea typeface="Meiryo"/>
                <a:cs typeface="Meiryo"/>
              </a:rPr>
              <a:t>6</a:t>
            </a:r>
          </a:p>
        </p:txBody>
      </p:sp>
      <p:sp>
        <p:nvSpPr>
          <p:cNvPr id="27" name="TextBox 26"/>
          <p:cNvSpPr txBox="1"/>
          <p:nvPr/>
        </p:nvSpPr>
        <p:spPr>
          <a:xfrm>
            <a:off x="2481262" y="2457450"/>
            <a:ext cx="2000250" cy="171450"/>
          </a:xfrm>
          <a:prstGeom prst="rect">
            <a:avLst/>
          </a:prstGeom>
          <a:noFill/>
        </p:spPr>
        <p:txBody>
          <a:bodyPr wrap="square" tIns="0" rIns="0" bIns="0" lIns="0">
            <a:spAutoFit/>
          </a:bodyPr>
          <a:lstStyle/>
          <a:p>
            <a:pPr algn="l">
              <a:lnSpc>
                <a:spcPct val="120000"/>
              </a:lnSpc>
              <a:spcBef>
                <a:spcPts val="0"/>
              </a:spcBef>
              <a:spcAft>
                <a:spcPts val="0"/>
              </a:spcAft>
            </a:pPr>
            <a:r>
              <a:rPr sz="750" b="0">
                <a:solidFill>
                  <a:srgbClr val="6B6B6B"/>
                </a:solidFill>
                <a:latin typeface="Meiryo"/>
                <a:ea typeface="Meiryo"/>
                <a:cs typeface="Meiryo"/>
              </a:rPr>
              <a:t>13</a:t>
            </a:r>
          </a:p>
        </p:txBody>
      </p:sp>
      <p:sp>
        <p:nvSpPr>
          <p:cNvPr id="28" name="TextBox 27"/>
          <p:cNvSpPr txBox="1"/>
          <p:nvPr/>
        </p:nvSpPr>
        <p:spPr>
          <a:xfrm>
            <a:off x="552450" y="2657475"/>
            <a:ext cx="1428750" cy="342900"/>
          </a:xfrm>
          <a:prstGeom prst="rect">
            <a:avLst/>
          </a:prstGeom>
          <a:noFill/>
        </p:spPr>
        <p:txBody>
          <a:bodyPr wrap="square" tIns="0" rIns="0" bIns="0" lIns="0" anchor="ctr">
            <a:spAutoFit/>
          </a:bodyPr>
          <a:lstStyle/>
          <a:p>
            <a:pPr algn="l">
              <a:lnSpc>
                <a:spcPct val="120000"/>
              </a:lnSpc>
              <a:spcBef>
                <a:spcPts val="0"/>
              </a:spcBef>
              <a:spcAft>
                <a:spcPts val="0"/>
              </a:spcAft>
            </a:pPr>
            <a:r>
              <a:rPr sz="900" b="1">
                <a:solidFill>
                  <a:srgbClr val="6B6B6B"/>
                </a:solidFill>
                <a:latin typeface="Meiryo"/>
                <a:ea typeface="Meiryo"/>
                <a:cs typeface="Meiryo"/>
              </a:rPr>
              <a:t>S5 </a:t>
            </a:r>
            <a:r>
              <a:rPr sz="900" b="1">
                <a:solidFill>
                  <a:srgbClr val="1A1A1A"/>
                </a:solidFill>
                <a:latin typeface="Meiryo"/>
                <a:ea typeface="Meiryo"/>
                <a:cs typeface="Meiryo"/>
              </a:rPr>
              <a:t>三頭筋</a:t>
            </a:r>
          </a:p>
        </p:txBody>
      </p:sp>
      <p:sp>
        <p:nvSpPr>
          <p:cNvPr id="29" name="Rectangle 28"/>
          <p:cNvSpPr/>
          <p:nvPr/>
        </p:nvSpPr>
        <p:spPr>
          <a:xfrm>
            <a:off x="2000250" y="2705100"/>
            <a:ext cx="200025" cy="123825"/>
          </a:xfrm>
          <a:prstGeom prst="rect">
            <a:avLst/>
          </a:prstGeom>
          <a:solidFill>
            <a:srgbClr val="6B6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2000250" y="2838450"/>
            <a:ext cx="466725" cy="104775"/>
          </a:xfrm>
          <a:prstGeom prst="rect">
            <a:avLst/>
          </a:prstGeom>
          <a:solidFill>
            <a:srgbClr val="C8C8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2247900" y="2676525"/>
            <a:ext cx="571500" cy="171450"/>
          </a:xfrm>
          <a:prstGeom prst="rect">
            <a:avLst/>
          </a:prstGeom>
          <a:noFill/>
        </p:spPr>
        <p:txBody>
          <a:bodyPr wrap="square" tIns="0" rIns="0" bIns="0" lIns="0">
            <a:spAutoFit/>
          </a:bodyPr>
          <a:lstStyle/>
          <a:p>
            <a:pPr algn="l">
              <a:lnSpc>
                <a:spcPct val="120000"/>
              </a:lnSpc>
              <a:spcBef>
                <a:spcPts val="0"/>
              </a:spcBef>
              <a:spcAft>
                <a:spcPts val="0"/>
              </a:spcAft>
            </a:pPr>
            <a:r>
              <a:rPr sz="825" b="1">
                <a:solidFill>
                  <a:srgbClr val="1A1A1A"/>
                </a:solidFill>
                <a:latin typeface="Meiryo"/>
                <a:ea typeface="Meiryo"/>
                <a:cs typeface="Meiryo"/>
              </a:rPr>
              <a:t>6</a:t>
            </a:r>
          </a:p>
        </p:txBody>
      </p:sp>
      <p:sp>
        <p:nvSpPr>
          <p:cNvPr id="32" name="TextBox 31"/>
          <p:cNvSpPr txBox="1"/>
          <p:nvPr/>
        </p:nvSpPr>
        <p:spPr>
          <a:xfrm>
            <a:off x="2514600" y="2800350"/>
            <a:ext cx="2000250" cy="171450"/>
          </a:xfrm>
          <a:prstGeom prst="rect">
            <a:avLst/>
          </a:prstGeom>
          <a:noFill/>
        </p:spPr>
        <p:txBody>
          <a:bodyPr wrap="square" tIns="0" rIns="0" bIns="0" lIns="0">
            <a:spAutoFit/>
          </a:bodyPr>
          <a:lstStyle/>
          <a:p>
            <a:pPr algn="l">
              <a:lnSpc>
                <a:spcPct val="120000"/>
              </a:lnSpc>
              <a:spcBef>
                <a:spcPts val="0"/>
              </a:spcBef>
              <a:spcAft>
                <a:spcPts val="0"/>
              </a:spcAft>
            </a:pPr>
            <a:r>
              <a:rPr sz="750" b="0">
                <a:solidFill>
                  <a:srgbClr val="6B6B6B"/>
                </a:solidFill>
                <a:latin typeface="Meiryo"/>
                <a:ea typeface="Meiryo"/>
                <a:cs typeface="Meiryo"/>
              </a:rPr>
              <a:t>14</a:t>
            </a:r>
          </a:p>
        </p:txBody>
      </p:sp>
      <p:sp>
        <p:nvSpPr>
          <p:cNvPr id="33" name="TextBox 32"/>
          <p:cNvSpPr txBox="1"/>
          <p:nvPr/>
        </p:nvSpPr>
        <p:spPr>
          <a:xfrm>
            <a:off x="552450" y="3000375"/>
            <a:ext cx="1428750" cy="342900"/>
          </a:xfrm>
          <a:prstGeom prst="rect">
            <a:avLst/>
          </a:prstGeom>
          <a:noFill/>
        </p:spPr>
        <p:txBody>
          <a:bodyPr wrap="square" tIns="0" rIns="0" bIns="0" lIns="0" anchor="ctr">
            <a:spAutoFit/>
          </a:bodyPr>
          <a:lstStyle/>
          <a:p>
            <a:pPr algn="l">
              <a:lnSpc>
                <a:spcPct val="120000"/>
              </a:lnSpc>
              <a:spcBef>
                <a:spcPts val="0"/>
              </a:spcBef>
              <a:spcAft>
                <a:spcPts val="0"/>
              </a:spcAft>
            </a:pPr>
            <a:r>
              <a:rPr sz="900" b="1">
                <a:solidFill>
                  <a:srgbClr val="6B6B6B"/>
                </a:solidFill>
                <a:latin typeface="Meiryo"/>
                <a:ea typeface="Meiryo"/>
                <a:cs typeface="Meiryo"/>
              </a:rPr>
              <a:t>S6 </a:t>
            </a:r>
            <a:r>
              <a:rPr sz="900" b="1">
                <a:solidFill>
                  <a:srgbClr val="1A1A1A"/>
                </a:solidFill>
                <a:latin typeface="Meiryo"/>
                <a:ea typeface="Meiryo"/>
                <a:cs typeface="Meiryo"/>
              </a:rPr>
              <a:t>僧帽筋</a:t>
            </a:r>
          </a:p>
        </p:txBody>
      </p:sp>
      <p:sp>
        <p:nvSpPr>
          <p:cNvPr id="34" name="Rectangle 33"/>
          <p:cNvSpPr/>
          <p:nvPr/>
        </p:nvSpPr>
        <p:spPr>
          <a:xfrm>
            <a:off x="2000250" y="3048000"/>
            <a:ext cx="800100" cy="123825"/>
          </a:xfrm>
          <a:prstGeom prst="rect">
            <a:avLst/>
          </a:prstGeom>
          <a:solidFill>
            <a:srgbClr val="6B6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2000250" y="3181350"/>
            <a:ext cx="3933825" cy="104775"/>
          </a:xfrm>
          <a:prstGeom prst="rect">
            <a:avLst/>
          </a:prstGeom>
          <a:solidFill>
            <a:srgbClr val="C8C8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2847975" y="3019425"/>
            <a:ext cx="571500" cy="171450"/>
          </a:xfrm>
          <a:prstGeom prst="rect">
            <a:avLst/>
          </a:prstGeom>
          <a:noFill/>
        </p:spPr>
        <p:txBody>
          <a:bodyPr wrap="square" tIns="0" rIns="0" bIns="0" lIns="0">
            <a:spAutoFit/>
          </a:bodyPr>
          <a:lstStyle/>
          <a:p>
            <a:pPr algn="l">
              <a:lnSpc>
                <a:spcPct val="120000"/>
              </a:lnSpc>
              <a:spcBef>
                <a:spcPts val="0"/>
              </a:spcBef>
              <a:spcAft>
                <a:spcPts val="0"/>
              </a:spcAft>
            </a:pPr>
            <a:r>
              <a:rPr sz="825" b="1">
                <a:solidFill>
                  <a:srgbClr val="1A1A1A"/>
                </a:solidFill>
                <a:latin typeface="Meiryo"/>
                <a:ea typeface="Meiryo"/>
                <a:cs typeface="Meiryo"/>
              </a:rPr>
              <a:t>24</a:t>
            </a:r>
          </a:p>
        </p:txBody>
      </p:sp>
      <p:sp>
        <p:nvSpPr>
          <p:cNvPr id="37" name="TextBox 36"/>
          <p:cNvSpPr txBox="1"/>
          <p:nvPr/>
        </p:nvSpPr>
        <p:spPr>
          <a:xfrm>
            <a:off x="5981700" y="3143250"/>
            <a:ext cx="2000250" cy="171450"/>
          </a:xfrm>
          <a:prstGeom prst="rect">
            <a:avLst/>
          </a:prstGeom>
          <a:noFill/>
        </p:spPr>
        <p:txBody>
          <a:bodyPr wrap="square" tIns="0" rIns="0" bIns="0" lIns="0">
            <a:spAutoFit/>
          </a:bodyPr>
          <a:lstStyle/>
          <a:p>
            <a:pPr algn="l">
              <a:lnSpc>
                <a:spcPct val="120000"/>
              </a:lnSpc>
              <a:spcBef>
                <a:spcPts val="0"/>
              </a:spcBef>
              <a:spcAft>
                <a:spcPts val="0"/>
              </a:spcAft>
            </a:pPr>
            <a:r>
              <a:rPr sz="750" b="1">
                <a:solidFill>
                  <a:srgbClr val="B0560C"/>
                </a:solidFill>
                <a:latin typeface="Meiryo"/>
                <a:ea typeface="Meiryo"/>
                <a:cs typeface="Meiryo"/>
              </a:rPr>
              <a:t>118　PC を動かしたとき</a:t>
            </a:r>
          </a:p>
        </p:txBody>
      </p:sp>
      <p:cxnSp>
        <p:nvCxnSpPr>
          <p:cNvPr id="38" name="Connector 37"/>
          <p:cNvCxnSpPr/>
          <p:nvPr/>
        </p:nvCxnSpPr>
        <p:spPr>
          <a:xfrm>
            <a:off x="2000250" y="1247775"/>
            <a:ext cx="0" cy="2133600"/>
          </a:xfrm>
          <a:prstGeom prst="line">
            <a:avLst/>
          </a:prstGeom>
          <a:ln w="7143">
            <a:solidFill>
              <a:srgbClr val="6B6B6B"/>
            </a:solidFill>
          </a:ln>
        </p:spPr>
      </p:cxnSp>
      <p:cxnSp>
        <p:nvCxnSpPr>
          <p:cNvPr id="39" name="Connector 38"/>
          <p:cNvCxnSpPr/>
          <p:nvPr/>
        </p:nvCxnSpPr>
        <p:spPr>
          <a:xfrm>
            <a:off x="5334000" y="1247775"/>
            <a:ext cx="0" cy="2133600"/>
          </a:xfrm>
          <a:prstGeom prst="line">
            <a:avLst/>
          </a:prstGeom>
          <a:ln w="9525">
            <a:solidFill>
              <a:srgbClr val="1A1A1A"/>
            </a:solidFill>
            <a:prstDash val="dash"/>
          </a:ln>
        </p:spPr>
      </p:cxnSp>
      <p:sp>
        <p:nvSpPr>
          <p:cNvPr id="40" name="TextBox 39"/>
          <p:cNvSpPr txBox="1"/>
          <p:nvPr/>
        </p:nvSpPr>
        <p:spPr>
          <a:xfrm>
            <a:off x="4857750" y="3352800"/>
            <a:ext cx="952500" cy="171450"/>
          </a:xfrm>
          <a:prstGeom prst="rect">
            <a:avLst/>
          </a:prstGeom>
          <a:noFill/>
        </p:spPr>
        <p:txBody>
          <a:bodyPr wrap="square" tIns="0" rIns="0" bIns="0" lIns="0">
            <a:spAutoFit/>
          </a:bodyPr>
          <a:lstStyle/>
          <a:p>
            <a:pPr algn="ctr">
              <a:lnSpc>
                <a:spcPct val="120000"/>
              </a:lnSpc>
              <a:spcBef>
                <a:spcPts val="0"/>
              </a:spcBef>
              <a:spcAft>
                <a:spcPts val="0"/>
              </a:spcAft>
            </a:pPr>
            <a:r>
              <a:rPr sz="825" b="1">
                <a:solidFill>
                  <a:srgbClr val="1A1A1A"/>
                </a:solidFill>
                <a:latin typeface="Meiryo"/>
                <a:ea typeface="Meiryo"/>
                <a:cs typeface="Meiryo"/>
              </a:rPr>
              <a:t>100 %MVC</a:t>
            </a:r>
          </a:p>
        </p:txBody>
      </p:sp>
      <p:sp>
        <p:nvSpPr>
          <p:cNvPr id="41" name="TextBox 40"/>
          <p:cNvSpPr txBox="1"/>
          <p:nvPr/>
        </p:nvSpPr>
        <p:spPr>
          <a:xfrm>
            <a:off x="552450" y="3600450"/>
            <a:ext cx="7981950" cy="190500"/>
          </a:xfrm>
          <a:prstGeom prst="rect">
            <a:avLst/>
          </a:prstGeom>
          <a:noFill/>
        </p:spPr>
        <p:txBody>
          <a:bodyPr wrap="square" tIns="0" rIns="0" bIns="0" lIns="0">
            <a:spAutoFit/>
          </a:bodyPr>
          <a:lstStyle/>
          <a:p>
            <a:pPr algn="l">
              <a:lnSpc>
                <a:spcPct val="120000"/>
              </a:lnSpc>
              <a:spcBef>
                <a:spcPts val="0"/>
              </a:spcBef>
              <a:spcAft>
                <a:spcPts val="0"/>
              </a:spcAft>
            </a:pPr>
            <a:r>
              <a:rPr sz="900" b="0">
                <a:solidFill>
                  <a:srgbClr val="6B6B6B"/>
                </a:solidFill>
                <a:latin typeface="Meiryo"/>
                <a:ea typeface="Meiryo"/>
                <a:cs typeface="Meiryo"/>
              </a:rPr>
              <a:t>気づいたこと：マウスを動かすと、前腕の下側のセンサが邪魔になるかもしれない</a:t>
            </a:r>
          </a:p>
        </p:txBody>
      </p:sp>
      <p:cxnSp>
        <p:nvCxnSpPr>
          <p:cNvPr id="42" name="Connector 41"/>
          <p:cNvCxnSpPr/>
          <p:nvPr/>
        </p:nvCxnSpPr>
        <p:spPr>
          <a:xfrm>
            <a:off x="566738" y="3914775"/>
            <a:ext cx="7967662" cy="0"/>
          </a:xfrm>
          <a:prstGeom prst="line">
            <a:avLst/>
          </a:prstGeom>
          <a:ln w="9525">
            <a:solidFill>
              <a:srgbClr val="C8C8C8"/>
            </a:solidFill>
          </a:ln>
        </p:spPr>
      </p:cxnSp>
      <p:sp>
        <p:nvSpPr>
          <p:cNvPr id="43" name="TextBox 42"/>
          <p:cNvSpPr txBox="1"/>
          <p:nvPr/>
        </p:nvSpPr>
        <p:spPr>
          <a:xfrm>
            <a:off x="566738" y="4095750"/>
            <a:ext cx="7967662" cy="333375"/>
          </a:xfrm>
          <a:prstGeom prst="rect">
            <a:avLst/>
          </a:prstGeom>
          <a:noFill/>
        </p:spPr>
        <p:txBody>
          <a:bodyPr wrap="square" tIns="0" rIns="0" bIns="0" lIns="0">
            <a:spAutoFit/>
          </a:bodyPr>
          <a:lstStyle/>
          <a:p>
            <a:pPr algn="l">
              <a:lnSpc>
                <a:spcPct val="120000"/>
              </a:lnSpc>
              <a:spcBef>
                <a:spcPts val="0"/>
              </a:spcBef>
              <a:spcAft>
                <a:spcPts val="0"/>
              </a:spcAft>
            </a:pPr>
            <a:r>
              <a:rPr sz="1725" b="1">
                <a:solidFill>
                  <a:srgbClr val="1F6FB4"/>
                </a:solidFill>
                <a:latin typeface="Meiryo"/>
                <a:ea typeface="Meiryo"/>
                <a:cs typeface="Meiryo"/>
              </a:rPr>
              <a:t>マウス操作中に 100 %MVC を超えた部位はなかった</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52450" y="381000"/>
            <a:ext cx="7143750" cy="476250"/>
          </a:xfrm>
          <a:prstGeom prst="rect">
            <a:avLst/>
          </a:prstGeom>
          <a:noFill/>
        </p:spPr>
        <p:txBody>
          <a:bodyPr wrap="square" tIns="0" rIns="0" bIns="0" lIns="0">
            <a:spAutoFit/>
          </a:bodyPr>
          <a:lstStyle/>
          <a:p>
            <a:pPr algn="l">
              <a:lnSpc>
                <a:spcPct val="120000"/>
              </a:lnSpc>
              <a:spcBef>
                <a:spcPts val="0"/>
              </a:spcBef>
              <a:spcAft>
                <a:spcPts val="0"/>
              </a:spcAft>
            </a:pPr>
            <a:r>
              <a:rPr sz="3000" b="1">
                <a:solidFill>
                  <a:srgbClr val="1A1A1A"/>
                </a:solidFill>
                <a:latin typeface="Meiryo"/>
                <a:ea typeface="Meiryo"/>
                <a:cs typeface="Meiryo"/>
              </a:rPr>
              <a:t>次やること</a:t>
            </a:r>
          </a:p>
        </p:txBody>
      </p:sp>
      <p:sp>
        <p:nvSpPr>
          <p:cNvPr id="3" name="TextBox 2"/>
          <p:cNvSpPr txBox="1"/>
          <p:nvPr/>
        </p:nvSpPr>
        <p:spPr>
          <a:xfrm>
            <a:off x="7953375" y="476250"/>
            <a:ext cx="581025" cy="190500"/>
          </a:xfrm>
          <a:prstGeom prst="rect">
            <a:avLst/>
          </a:prstGeom>
          <a:noFill/>
        </p:spPr>
        <p:txBody>
          <a:bodyPr wrap="square" tIns="0" rIns="0" bIns="0" lIns="0">
            <a:spAutoFit/>
          </a:bodyPr>
          <a:lstStyle/>
          <a:p>
            <a:pPr algn="r">
              <a:lnSpc>
                <a:spcPct val="120000"/>
              </a:lnSpc>
              <a:spcBef>
                <a:spcPts val="0"/>
              </a:spcBef>
              <a:spcAft>
                <a:spcPts val="0"/>
              </a:spcAft>
            </a:pPr>
            <a:r>
              <a:rPr sz="1200" b="0">
                <a:solidFill>
                  <a:srgbClr val="6B6B6B"/>
                </a:solidFill>
                <a:latin typeface="Meiryo"/>
                <a:ea typeface="Meiryo"/>
                <a:cs typeface="Meiryo"/>
              </a:rPr>
              <a:t>7</a:t>
            </a:r>
          </a:p>
        </p:txBody>
      </p:sp>
      <p:sp>
        <p:nvSpPr>
          <p:cNvPr id="4" name="Rounded Rectangle 3"/>
          <p:cNvSpPr/>
          <p:nvPr/>
        </p:nvSpPr>
        <p:spPr>
          <a:xfrm>
            <a:off x="552450" y="933450"/>
            <a:ext cx="7981950" cy="523875"/>
          </a:xfrm>
          <a:prstGeom prst="roundRect">
            <a:avLst>
              <a:gd name="adj" fmla="val 10909"/>
            </a:avLst>
          </a:prstGeom>
          <a:solidFill>
            <a:srgbClr val="FBEBD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0" rIns="190500" bIns="0" lIns="190500"/>
          <a:lstStyle/>
          <a:p>
            <a:pPr algn="l">
              <a:lnSpc>
                <a:spcPct val="120000"/>
              </a:lnSpc>
              <a:spcBef>
                <a:spcPts val="0"/>
              </a:spcBef>
              <a:spcAft>
                <a:spcPts val="150"/>
              </a:spcAft>
            </a:pPr>
            <a:r>
              <a:rPr sz="825" b="1">
                <a:solidFill>
                  <a:srgbClr val="B0560C"/>
                </a:solidFill>
                <a:latin typeface="Meiryo"/>
                <a:ea typeface="Meiryo"/>
                <a:cs typeface="Meiryo"/>
              </a:rPr>
              <a:t>次の研究室で</a:t>
            </a:r>
          </a:p>
          <a:p>
            <a:pPr algn="l">
              <a:lnSpc>
                <a:spcPct val="120000"/>
              </a:lnSpc>
              <a:spcBef>
                <a:spcPts val="0"/>
              </a:spcBef>
              <a:spcAft>
                <a:spcPts val="0"/>
              </a:spcAft>
            </a:pPr>
            <a:r>
              <a:rPr sz="1200" b="1">
                <a:solidFill>
                  <a:srgbClr val="1A1A1A"/>
                </a:solidFill>
                <a:latin typeface="Meiryo"/>
                <a:ea typeface="Meiryo"/>
                <a:cs typeface="Meiryo"/>
              </a:rPr>
              <a:t>前腕以外 4 か所の確認動作を取り、MVC が全力かを確かめる（済めば M1 完了）</a:t>
            </a:r>
          </a:p>
        </p:txBody>
      </p:sp>
      <p:sp>
        <p:nvSpPr>
          <p:cNvPr id="5" name="Rounded Rectangle 4"/>
          <p:cNvSpPr/>
          <p:nvPr/>
        </p:nvSpPr>
        <p:spPr>
          <a:xfrm>
            <a:off x="552450" y="1571625"/>
            <a:ext cx="7981950" cy="1238250"/>
          </a:xfrm>
          <a:prstGeom prst="roundRect">
            <a:avLst>
              <a:gd name="adj" fmla="val 4615"/>
            </a:avLst>
          </a:prstGeom>
          <a:solidFill>
            <a:srgbClr val="E8F0F8"/>
          </a:solidFill>
          <a:ln w="9525">
            <a:solidFill>
              <a:srgbClr val="1F6FB4"/>
            </a:solidFill>
          </a:ln>
          <a:effectLst/>
        </p:spPr>
        <p:style>
          <a:lnRef idx="1">
            <a:schemeClr val="accent1"/>
          </a:lnRef>
          <a:fillRef idx="3">
            <a:schemeClr val="accent1"/>
          </a:fillRef>
          <a:effectRef idx="2">
            <a:schemeClr val="accent1"/>
          </a:effectRef>
          <a:fontRef idx="minor">
            <a:schemeClr val="lt1"/>
          </a:fontRef>
        </p:style>
        <p:txBody>
          <a:bodyPr rtlCol="0" anchor="t" wrap="square" tIns="114300" rIns="190500" bIns="114300" lIns="190500"/>
          <a:lstStyle/>
          <a:p>
            <a:pPr algn="l">
              <a:lnSpc>
                <a:spcPct val="120000"/>
              </a:lnSpc>
              <a:spcBef>
                <a:spcPts val="0"/>
              </a:spcBef>
              <a:spcAft>
                <a:spcPts val="225"/>
              </a:spcAft>
            </a:pPr>
            <a:r>
              <a:rPr sz="900" b="1">
                <a:solidFill>
                  <a:srgbClr val="1F6FB4"/>
                </a:solidFill>
                <a:latin typeface="Meiryo"/>
                <a:ea typeface="Meiryo"/>
                <a:cs typeface="Meiryo"/>
              </a:rPr>
              <a:t>同じ日に</a:t>
            </a:r>
          </a:p>
          <a:p>
            <a:pPr algn="l">
              <a:lnSpc>
                <a:spcPct val="120000"/>
              </a:lnSpc>
              <a:spcBef>
                <a:spcPts val="0"/>
              </a:spcBef>
              <a:spcAft>
                <a:spcPts val="600"/>
              </a:spcAft>
            </a:pPr>
            <a:r>
              <a:rPr sz="1500" b="1">
                <a:solidFill>
                  <a:srgbClr val="1A1A1A"/>
                </a:solidFill>
                <a:latin typeface="Meiryo"/>
                <a:ea typeface="Meiryo"/>
                <a:cs typeface="Meiryo"/>
              </a:rPr>
              <a:t>射撃練習場で数分プレイする</a:t>
            </a:r>
          </a:p>
          <a:p>
            <a:pPr algn="l">
              <a:lnSpc>
                <a:spcPct val="130000"/>
              </a:lnSpc>
              <a:spcBef>
                <a:spcPts val="0"/>
              </a:spcBef>
              <a:spcAft>
                <a:spcPts val="225"/>
              </a:spcAft>
            </a:pPr>
            <a:r>
              <a:rPr sz="1050" b="1">
                <a:solidFill>
                  <a:srgbClr val="1A1A1A"/>
                </a:solidFill>
                <a:latin typeface="Meiryo"/>
                <a:ea typeface="Meiryo"/>
                <a:cs typeface="Meiryo"/>
              </a:rPr>
              <a:t>・6 か所とも、マウス操作中に 100 %MVC を超えないか（MVC が足りているか）</a:t>
            </a:r>
          </a:p>
          <a:p>
            <a:pPr algn="l">
              <a:lnSpc>
                <a:spcPct val="130000"/>
              </a:lnSpc>
              <a:spcBef>
                <a:spcPts val="0"/>
              </a:spcBef>
              <a:spcAft>
                <a:spcPts val="0"/>
              </a:spcAft>
            </a:pPr>
            <a:r>
              <a:rPr sz="1050" b="1">
                <a:solidFill>
                  <a:srgbClr val="1A1A1A"/>
                </a:solidFill>
                <a:latin typeface="Meiryo"/>
                <a:ea typeface="Meiryo"/>
                <a:cs typeface="Meiryo"/>
              </a:rPr>
              <a:t>・前腕の下側のセンサが、マウスの動きの邪魔にならないか</a:t>
            </a:r>
          </a:p>
        </p:txBody>
      </p:sp>
      <p:sp>
        <p:nvSpPr>
          <p:cNvPr id="6" name="TextBox 5"/>
          <p:cNvSpPr txBox="1"/>
          <p:nvPr/>
        </p:nvSpPr>
        <p:spPr>
          <a:xfrm>
            <a:off x="552450" y="2933700"/>
            <a:ext cx="7981950" cy="190500"/>
          </a:xfrm>
          <a:prstGeom prst="rect">
            <a:avLst/>
          </a:prstGeom>
          <a:noFill/>
        </p:spPr>
        <p:txBody>
          <a:bodyPr wrap="square" tIns="0" rIns="0" bIns="0" lIns="0">
            <a:spAutoFit/>
          </a:bodyPr>
          <a:lstStyle/>
          <a:p>
            <a:pPr algn="l">
              <a:lnSpc>
                <a:spcPct val="120000"/>
              </a:lnSpc>
              <a:spcBef>
                <a:spcPts val="0"/>
              </a:spcBef>
              <a:spcAft>
                <a:spcPts val="0"/>
              </a:spcAft>
            </a:pPr>
            <a:r>
              <a:rPr sz="975" b="1">
                <a:solidFill>
                  <a:srgbClr val="6B6B6B"/>
                </a:solidFill>
                <a:latin typeface="Meiryo"/>
                <a:ea typeface="Meiryo"/>
                <a:cs typeface="Meiryo"/>
              </a:rPr>
              <a:t>あわせて</a:t>
            </a:r>
          </a:p>
        </p:txBody>
      </p:sp>
      <p:sp>
        <p:nvSpPr>
          <p:cNvPr id="7" name="Rounded Rectangle 6"/>
          <p:cNvSpPr/>
          <p:nvPr/>
        </p:nvSpPr>
        <p:spPr>
          <a:xfrm>
            <a:off x="552450" y="3152775"/>
            <a:ext cx="3905250" cy="619125"/>
          </a:xfrm>
          <a:prstGeom prst="roundRect">
            <a:avLst>
              <a:gd name="adj" fmla="val 923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0" rIns="133350" bIns="0" lIns="133350"/>
          <a:lstStyle/>
          <a:p>
            <a:pPr algn="l">
              <a:lnSpc>
                <a:spcPct val="130000"/>
              </a:lnSpc>
              <a:spcBef>
                <a:spcPts val="0"/>
              </a:spcBef>
              <a:spcAft>
                <a:spcPts val="0"/>
              </a:spcAft>
            </a:pPr>
            <a:r>
              <a:rPr sz="1050" b="1">
                <a:solidFill>
                  <a:srgbClr val="1A1A1A"/>
                </a:solidFill>
                <a:latin typeface="Meiryo"/>
                <a:ea typeface="Meiryo"/>
                <a:cs typeface="Meiryo"/>
              </a:rPr>
              <a:t>センサの番号と部位の確認を、実機で試す</a:t>
            </a:r>
          </a:p>
        </p:txBody>
      </p:sp>
      <p:sp>
        <p:nvSpPr>
          <p:cNvPr id="8" name="Rounded Rectangle 7"/>
          <p:cNvSpPr/>
          <p:nvPr/>
        </p:nvSpPr>
        <p:spPr>
          <a:xfrm>
            <a:off x="4629150" y="3152775"/>
            <a:ext cx="3905250" cy="619125"/>
          </a:xfrm>
          <a:prstGeom prst="roundRect">
            <a:avLst>
              <a:gd name="adj" fmla="val 923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0" rIns="133350" bIns="0" lIns="133350"/>
          <a:lstStyle/>
          <a:p>
            <a:pPr algn="l">
              <a:lnSpc>
                <a:spcPct val="130000"/>
              </a:lnSpc>
              <a:spcBef>
                <a:spcPts val="0"/>
              </a:spcBef>
              <a:spcAft>
                <a:spcPts val="0"/>
              </a:spcAft>
            </a:pPr>
            <a:r>
              <a:rPr sz="1050" b="1">
                <a:solidFill>
                  <a:srgbClr val="1A1A1A"/>
                </a:solidFill>
                <a:latin typeface="Meiryo"/>
                <a:ea typeface="Meiryo"/>
                <a:cs typeface="Meiryo"/>
              </a:rPr>
              <a:t>クリックとマウスの位置を、時刻付きで記録する仕組みを作り始める</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52450" y="381000"/>
            <a:ext cx="7143750" cy="476250"/>
          </a:xfrm>
          <a:prstGeom prst="rect">
            <a:avLst/>
          </a:prstGeom>
          <a:noFill/>
        </p:spPr>
        <p:txBody>
          <a:bodyPr wrap="square" tIns="0" rIns="0" bIns="0" lIns="0">
            <a:spAutoFit/>
          </a:bodyPr>
          <a:lstStyle/>
          <a:p>
            <a:pPr algn="l">
              <a:lnSpc>
                <a:spcPct val="120000"/>
              </a:lnSpc>
              <a:spcBef>
                <a:spcPts val="0"/>
              </a:spcBef>
              <a:spcAft>
                <a:spcPts val="0"/>
              </a:spcAft>
            </a:pPr>
            <a:r>
              <a:rPr sz="3000" b="1">
                <a:solidFill>
                  <a:srgbClr val="1A1A1A"/>
                </a:solidFill>
                <a:latin typeface="Meiryo"/>
                <a:ea typeface="Meiryo"/>
                <a:cs typeface="Meiryo"/>
              </a:rPr>
              <a:t>まとめ</a:t>
            </a:r>
          </a:p>
        </p:txBody>
      </p:sp>
      <p:sp>
        <p:nvSpPr>
          <p:cNvPr id="3" name="TextBox 2"/>
          <p:cNvSpPr txBox="1"/>
          <p:nvPr/>
        </p:nvSpPr>
        <p:spPr>
          <a:xfrm>
            <a:off x="7953375" y="476250"/>
            <a:ext cx="581025" cy="190500"/>
          </a:xfrm>
          <a:prstGeom prst="rect">
            <a:avLst/>
          </a:prstGeom>
          <a:noFill/>
        </p:spPr>
        <p:txBody>
          <a:bodyPr wrap="square" tIns="0" rIns="0" bIns="0" lIns="0">
            <a:spAutoFit/>
          </a:bodyPr>
          <a:lstStyle/>
          <a:p>
            <a:pPr algn="r">
              <a:lnSpc>
                <a:spcPct val="120000"/>
              </a:lnSpc>
              <a:spcBef>
                <a:spcPts val="0"/>
              </a:spcBef>
              <a:spcAft>
                <a:spcPts val="0"/>
              </a:spcAft>
            </a:pPr>
            <a:r>
              <a:rPr sz="1200" b="0">
                <a:solidFill>
                  <a:srgbClr val="6B6B6B"/>
                </a:solidFill>
                <a:latin typeface="Meiryo"/>
                <a:ea typeface="Meiryo"/>
                <a:cs typeface="Meiryo"/>
              </a:rPr>
              <a:t>8</a:t>
            </a:r>
          </a:p>
        </p:txBody>
      </p:sp>
      <p:sp>
        <p:nvSpPr>
          <p:cNvPr id="4" name="Rounded Rectangle 3"/>
          <p:cNvSpPr/>
          <p:nvPr/>
        </p:nvSpPr>
        <p:spPr>
          <a:xfrm>
            <a:off x="552450" y="1095375"/>
            <a:ext cx="3619500" cy="2667000"/>
          </a:xfrm>
          <a:prstGeom prst="roundRect">
            <a:avLst>
              <a:gd name="adj" fmla="val 2857"/>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tIns="171450" rIns="190500" bIns="171450" lIns="190500"/>
          <a:lstStyle/>
          <a:p>
            <a:pPr algn="l">
              <a:lnSpc>
                <a:spcPct val="120000"/>
              </a:lnSpc>
              <a:spcBef>
                <a:spcPts val="0"/>
              </a:spcBef>
              <a:spcAft>
                <a:spcPts val="375"/>
              </a:spcAft>
            </a:pPr>
            <a:r>
              <a:rPr sz="1050" b="1">
                <a:solidFill>
                  <a:srgbClr val="BFD6EE"/>
                </a:solidFill>
                <a:latin typeface="Meiryo"/>
                <a:ea typeface="Meiryo"/>
                <a:cs typeface="Meiryo"/>
              </a:rPr>
              <a:t>大きな目標</a:t>
            </a:r>
          </a:p>
          <a:p>
            <a:pPr algn="l">
              <a:lnSpc>
                <a:spcPct val="120000"/>
              </a:lnSpc>
              <a:spcBef>
                <a:spcPts val="0"/>
              </a:spcBef>
              <a:spcAft>
                <a:spcPts val="600"/>
              </a:spcAft>
            </a:pPr>
            <a:r>
              <a:rPr sz="1800" b="1">
                <a:solidFill>
                  <a:srgbClr val="FFFFFF"/>
                </a:solidFill>
                <a:latin typeface="Meiryo"/>
                <a:ea typeface="Meiryo"/>
                <a:cs typeface="Meiryo"/>
              </a:rPr>
              <a:t>M1：計測系が回る</a:t>
            </a:r>
          </a:p>
          <a:p>
            <a:pPr algn="l">
              <a:lnSpc>
                <a:spcPct val="135000"/>
              </a:lnSpc>
              <a:spcBef>
                <a:spcPts val="0"/>
              </a:spcBef>
              <a:spcAft>
                <a:spcPts val="525"/>
              </a:spcAft>
            </a:pPr>
            <a:r>
              <a:rPr sz="1125" b="1">
                <a:solidFill>
                  <a:srgbClr val="FFFFFF"/>
                </a:solidFill>
                <a:latin typeface="Meiryo"/>
                <a:ea typeface="Meiryo"/>
                <a:cs typeface="Meiryo"/>
              </a:rPr>
              <a:t>済：6 か所の MVC と 3 分の記録を、研究室に 1 回来るだけ（約 11 分）で取りきれた</a:t>
            </a:r>
          </a:p>
          <a:p>
            <a:pPr algn="l">
              <a:lnSpc>
                <a:spcPct val="135000"/>
              </a:lnSpc>
              <a:spcBef>
                <a:spcPts val="0"/>
              </a:spcBef>
              <a:spcAft>
                <a:spcPts val="0"/>
              </a:spcAft>
            </a:pPr>
            <a:r>
              <a:rPr sz="1125" b="1">
                <a:solidFill>
                  <a:srgbClr val="BFD6EE"/>
                </a:solidFill>
                <a:latin typeface="Meiryo"/>
                <a:ea typeface="Meiryo"/>
                <a:cs typeface="Meiryo"/>
              </a:rPr>
              <a:t>残り：前腕以外の MVC が全力かの確かめ（確認動作）</a:t>
            </a:r>
          </a:p>
        </p:txBody>
      </p:sp>
      <p:sp>
        <p:nvSpPr>
          <p:cNvPr id="5" name="Rounded Rectangle 4"/>
          <p:cNvSpPr/>
          <p:nvPr/>
        </p:nvSpPr>
        <p:spPr>
          <a:xfrm>
            <a:off x="4914900" y="1095375"/>
            <a:ext cx="3619500" cy="1285875"/>
          </a:xfrm>
          <a:prstGeom prst="roundRect">
            <a:avLst>
              <a:gd name="adj" fmla="val 4444"/>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57775" y="1238250"/>
            <a:ext cx="609600" cy="228600"/>
          </a:xfrm>
          <a:prstGeom prst="roundRect">
            <a:avLst>
              <a:gd name="adj" fmla="val 50000"/>
            </a:avLst>
          </a:prstGeom>
          <a:solidFill>
            <a:srgbClr val="1F6FB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0" rIns="0" bIns="0" lIns="0"/>
          <a:lstStyle/>
          <a:p>
            <a:pPr algn="ctr">
              <a:lnSpc>
                <a:spcPct val="120000"/>
              </a:lnSpc>
              <a:spcBef>
                <a:spcPts val="0"/>
              </a:spcBef>
              <a:spcAft>
                <a:spcPts val="0"/>
              </a:spcAft>
            </a:pPr>
            <a:r>
              <a:rPr sz="900" b="1">
                <a:solidFill>
                  <a:srgbClr val="FFFFFF"/>
                </a:solidFill>
                <a:latin typeface="Meiryo"/>
                <a:ea typeface="Meiryo"/>
                <a:cs typeface="Meiryo"/>
              </a:rPr>
              <a:t>済</a:t>
            </a:r>
          </a:p>
        </p:txBody>
      </p:sp>
      <p:sp>
        <p:nvSpPr>
          <p:cNvPr id="7" name="TextBox 6"/>
          <p:cNvSpPr txBox="1"/>
          <p:nvPr/>
        </p:nvSpPr>
        <p:spPr>
          <a:xfrm>
            <a:off x="5781675" y="1209675"/>
            <a:ext cx="2667000" cy="285750"/>
          </a:xfrm>
          <a:prstGeom prst="rect">
            <a:avLst/>
          </a:prstGeom>
          <a:noFill/>
        </p:spPr>
        <p:txBody>
          <a:bodyPr wrap="square" tIns="0" rIns="0" bIns="0" lIns="0" anchor="ctr">
            <a:spAutoFit/>
          </a:bodyPr>
          <a:lstStyle/>
          <a:p>
            <a:pPr algn="l">
              <a:lnSpc>
                <a:spcPct val="120000"/>
              </a:lnSpc>
              <a:spcBef>
                <a:spcPts val="0"/>
              </a:spcBef>
              <a:spcAft>
                <a:spcPts val="0"/>
              </a:spcAft>
            </a:pPr>
            <a:r>
              <a:rPr sz="1050" b="1">
                <a:solidFill>
                  <a:srgbClr val="6B6B6B"/>
                </a:solidFill>
                <a:latin typeface="Meiryo"/>
                <a:ea typeface="Meiryo"/>
                <a:cs typeface="Meiryo"/>
              </a:rPr>
              <a:t>M1-6　</a:t>
            </a:r>
            <a:r>
              <a:rPr sz="1200" b="1">
                <a:solidFill>
                  <a:srgbClr val="1A1A1A"/>
                </a:solidFill>
                <a:latin typeface="Meiryo"/>
                <a:ea typeface="Meiryo"/>
                <a:cs typeface="Meiryo"/>
              </a:rPr>
              <a:t>前腕の MVC</a:t>
            </a:r>
          </a:p>
        </p:txBody>
      </p:sp>
      <p:sp>
        <p:nvSpPr>
          <p:cNvPr id="8" name="TextBox 7"/>
          <p:cNvSpPr txBox="1"/>
          <p:nvPr/>
        </p:nvSpPr>
        <p:spPr>
          <a:xfrm>
            <a:off x="5057775" y="1619250"/>
            <a:ext cx="3333750" cy="619125"/>
          </a:xfrm>
          <a:prstGeom prst="rect">
            <a:avLst/>
          </a:prstGeom>
          <a:noFill/>
        </p:spPr>
        <p:txBody>
          <a:bodyPr wrap="square" tIns="0" rIns="0" bIns="0" lIns="0">
            <a:spAutoFit/>
          </a:bodyPr>
          <a:lstStyle/>
          <a:p>
            <a:pPr algn="l">
              <a:lnSpc>
                <a:spcPct val="135000"/>
              </a:lnSpc>
              <a:spcBef>
                <a:spcPts val="0"/>
              </a:spcBef>
              <a:spcAft>
                <a:spcPts val="0"/>
              </a:spcAft>
            </a:pPr>
            <a:r>
              <a:rPr sz="1050" b="0">
                <a:solidFill>
                  <a:srgbClr val="1A1A1A"/>
                </a:solidFill>
                <a:latin typeface="Meiryo"/>
                <a:ea typeface="Meiryo"/>
                <a:cs typeface="Meiryo"/>
              </a:rPr>
              <a:t>屈曲 84%・伸展 53% で、どちらも 100% 以下</a:t>
            </a:r>
          </a:p>
        </p:txBody>
      </p:sp>
      <p:sp>
        <p:nvSpPr>
          <p:cNvPr id="9" name="Rounded Rectangle 8"/>
          <p:cNvSpPr/>
          <p:nvPr/>
        </p:nvSpPr>
        <p:spPr>
          <a:xfrm>
            <a:off x="4914900" y="2476500"/>
            <a:ext cx="3619500" cy="1285875"/>
          </a:xfrm>
          <a:prstGeom prst="roundRect">
            <a:avLst>
              <a:gd name="adj" fmla="val 4444"/>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5057775" y="2619375"/>
            <a:ext cx="609600" cy="228600"/>
          </a:xfrm>
          <a:prstGeom prst="roundRect">
            <a:avLst>
              <a:gd name="adj" fmla="val 50000"/>
            </a:avLst>
          </a:prstGeom>
          <a:solidFill>
            <a:srgbClr val="E8F0F8"/>
          </a:solidFill>
          <a:ln w="9525">
            <a:solidFill>
              <a:srgbClr val="1F6FB4"/>
            </a:solidFill>
          </a:ln>
          <a:effectLst/>
        </p:spPr>
        <p:style>
          <a:lnRef idx="1">
            <a:schemeClr val="accent1"/>
          </a:lnRef>
          <a:fillRef idx="3">
            <a:schemeClr val="accent1"/>
          </a:fillRef>
          <a:effectRef idx="2">
            <a:schemeClr val="accent1"/>
          </a:effectRef>
          <a:fontRef idx="minor">
            <a:schemeClr val="lt1"/>
          </a:fontRef>
        </p:style>
        <p:txBody>
          <a:bodyPr rtlCol="0" anchor="ctr" wrap="square" tIns="0" rIns="0" bIns="0" lIns="0"/>
          <a:lstStyle/>
          <a:p>
            <a:pPr algn="ctr">
              <a:lnSpc>
                <a:spcPct val="120000"/>
              </a:lnSpc>
              <a:spcBef>
                <a:spcPts val="0"/>
              </a:spcBef>
              <a:spcAft>
                <a:spcPts val="0"/>
              </a:spcAft>
            </a:pPr>
            <a:r>
              <a:rPr sz="900" b="1">
                <a:solidFill>
                  <a:srgbClr val="1F6FB4"/>
                </a:solidFill>
                <a:latin typeface="Meiryo"/>
                <a:ea typeface="Meiryo"/>
                <a:cs typeface="Meiryo"/>
              </a:rPr>
              <a:t>一部済</a:t>
            </a:r>
          </a:p>
        </p:txBody>
      </p:sp>
      <p:sp>
        <p:nvSpPr>
          <p:cNvPr id="11" name="TextBox 10"/>
          <p:cNvSpPr txBox="1"/>
          <p:nvPr/>
        </p:nvSpPr>
        <p:spPr>
          <a:xfrm>
            <a:off x="5781675" y="2590800"/>
            <a:ext cx="2667000" cy="285750"/>
          </a:xfrm>
          <a:prstGeom prst="rect">
            <a:avLst/>
          </a:prstGeom>
          <a:noFill/>
        </p:spPr>
        <p:txBody>
          <a:bodyPr wrap="square" tIns="0" rIns="0" bIns="0" lIns="0" anchor="ctr">
            <a:spAutoFit/>
          </a:bodyPr>
          <a:lstStyle/>
          <a:p>
            <a:pPr algn="l">
              <a:lnSpc>
                <a:spcPct val="120000"/>
              </a:lnSpc>
              <a:spcBef>
                <a:spcPts val="0"/>
              </a:spcBef>
              <a:spcAft>
                <a:spcPts val="0"/>
              </a:spcAft>
            </a:pPr>
            <a:r>
              <a:rPr sz="1050" b="1">
                <a:solidFill>
                  <a:srgbClr val="6B6B6B"/>
                </a:solidFill>
                <a:latin typeface="Meiryo"/>
                <a:ea typeface="Meiryo"/>
                <a:cs typeface="Meiryo"/>
              </a:rPr>
              <a:t>M1-7　</a:t>
            </a:r>
            <a:r>
              <a:rPr sz="1200" b="1">
                <a:solidFill>
                  <a:srgbClr val="1A1A1A"/>
                </a:solidFill>
                <a:latin typeface="Meiryo"/>
                <a:ea typeface="Meiryo"/>
                <a:cs typeface="Meiryo"/>
              </a:rPr>
              <a:t>残り 4 か所の MVC</a:t>
            </a:r>
          </a:p>
        </p:txBody>
      </p:sp>
      <p:sp>
        <p:nvSpPr>
          <p:cNvPr id="12" name="TextBox 11"/>
          <p:cNvSpPr txBox="1"/>
          <p:nvPr/>
        </p:nvSpPr>
        <p:spPr>
          <a:xfrm>
            <a:off x="5057775" y="3000375"/>
            <a:ext cx="3333750" cy="619125"/>
          </a:xfrm>
          <a:prstGeom prst="rect">
            <a:avLst/>
          </a:prstGeom>
          <a:noFill/>
        </p:spPr>
        <p:txBody>
          <a:bodyPr wrap="square" tIns="0" rIns="0" bIns="0" lIns="0">
            <a:spAutoFit/>
          </a:bodyPr>
          <a:lstStyle/>
          <a:p>
            <a:pPr algn="l">
              <a:lnSpc>
                <a:spcPct val="135000"/>
              </a:lnSpc>
              <a:spcBef>
                <a:spcPts val="0"/>
              </a:spcBef>
              <a:spcAft>
                <a:spcPts val="0"/>
              </a:spcAft>
            </a:pPr>
            <a:r>
              <a:rPr sz="1050" b="0">
                <a:solidFill>
                  <a:srgbClr val="1A1A1A"/>
                </a:solidFill>
                <a:latin typeface="Meiryo"/>
                <a:ea typeface="Meiryo"/>
                <a:cs typeface="Meiryo"/>
              </a:rPr>
              <a:t>MVC は取れた。前腕以外の確認動作は次の研究室で</a:t>
            </a:r>
          </a:p>
        </p:txBody>
      </p:sp>
      <p:cxnSp>
        <p:nvCxnSpPr>
          <p:cNvPr id="13" name="Connector 12"/>
          <p:cNvCxnSpPr/>
          <p:nvPr/>
        </p:nvCxnSpPr>
        <p:spPr>
          <a:xfrm>
            <a:off x="566738" y="3914775"/>
            <a:ext cx="7967662" cy="0"/>
          </a:xfrm>
          <a:prstGeom prst="line">
            <a:avLst/>
          </a:prstGeom>
          <a:ln w="9525">
            <a:solidFill>
              <a:srgbClr val="C8C8C8"/>
            </a:solidFill>
          </a:ln>
        </p:spPr>
      </p:cxnSp>
      <p:sp>
        <p:nvSpPr>
          <p:cNvPr id="14" name="TextBox 13"/>
          <p:cNvSpPr txBox="1"/>
          <p:nvPr/>
        </p:nvSpPr>
        <p:spPr>
          <a:xfrm>
            <a:off x="566738" y="4095750"/>
            <a:ext cx="7967662" cy="333375"/>
          </a:xfrm>
          <a:prstGeom prst="rect">
            <a:avLst/>
          </a:prstGeom>
          <a:noFill/>
        </p:spPr>
        <p:txBody>
          <a:bodyPr wrap="square" tIns="0" rIns="0" bIns="0" lIns="0">
            <a:spAutoFit/>
          </a:bodyPr>
          <a:lstStyle/>
          <a:p>
            <a:pPr algn="l">
              <a:lnSpc>
                <a:spcPct val="120000"/>
              </a:lnSpc>
              <a:spcBef>
                <a:spcPts val="0"/>
              </a:spcBef>
              <a:spcAft>
                <a:spcPts val="0"/>
              </a:spcAft>
            </a:pPr>
            <a:r>
              <a:rPr sz="1725" b="1">
                <a:solidFill>
                  <a:srgbClr val="1A1A1A"/>
                </a:solidFill>
                <a:latin typeface="Meiryo"/>
                <a:ea typeface="Meiryo"/>
                <a:cs typeface="Meiryo"/>
              </a:rPr>
              <a:t>次の研究室で前腕以外の確認動作を取り、M1 を終える</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52450" y="381000"/>
            <a:ext cx="7143750" cy="476250"/>
          </a:xfrm>
          <a:prstGeom prst="rect">
            <a:avLst/>
          </a:prstGeom>
          <a:noFill/>
        </p:spPr>
        <p:txBody>
          <a:bodyPr wrap="square" tIns="0" rIns="0" bIns="0" lIns="0">
            <a:spAutoFit/>
          </a:bodyPr>
          <a:lstStyle/>
          <a:p>
            <a:pPr algn="l">
              <a:lnSpc>
                <a:spcPct val="120000"/>
              </a:lnSpc>
              <a:spcBef>
                <a:spcPts val="0"/>
              </a:spcBef>
              <a:spcAft>
                <a:spcPts val="0"/>
              </a:spcAft>
            </a:pPr>
            <a:r>
              <a:rPr sz="3000" b="1">
                <a:solidFill>
                  <a:srgbClr val="1A1A1A"/>
                </a:solidFill>
                <a:latin typeface="Meiryo"/>
                <a:ea typeface="Meiryo"/>
                <a:cs typeface="Meiryo"/>
              </a:rPr>
              <a:t>予備：10-27 の数値</a:t>
            </a:r>
          </a:p>
        </p:txBody>
      </p:sp>
      <p:sp>
        <p:nvSpPr>
          <p:cNvPr id="3" name="TextBox 2"/>
          <p:cNvSpPr txBox="1"/>
          <p:nvPr/>
        </p:nvSpPr>
        <p:spPr>
          <a:xfrm>
            <a:off x="7953375" y="476250"/>
            <a:ext cx="581025" cy="190500"/>
          </a:xfrm>
          <a:prstGeom prst="rect">
            <a:avLst/>
          </a:prstGeom>
          <a:noFill/>
        </p:spPr>
        <p:txBody>
          <a:bodyPr wrap="square" tIns="0" rIns="0" bIns="0" lIns="0">
            <a:spAutoFit/>
          </a:bodyPr>
          <a:lstStyle/>
          <a:p>
            <a:pPr algn="r">
              <a:lnSpc>
                <a:spcPct val="120000"/>
              </a:lnSpc>
              <a:spcBef>
                <a:spcPts val="0"/>
              </a:spcBef>
              <a:spcAft>
                <a:spcPts val="0"/>
              </a:spcAft>
            </a:pPr>
            <a:r>
              <a:rPr sz="1200" b="0">
                <a:solidFill>
                  <a:srgbClr val="6B6B6B"/>
                </a:solidFill>
                <a:latin typeface="Meiryo"/>
                <a:ea typeface="Meiryo"/>
                <a:cs typeface="Meiryo"/>
              </a:rPr>
              <a:t>9</a:t>
            </a:r>
          </a:p>
        </p:txBody>
      </p:sp>
      <p:sp>
        <p:nvSpPr>
          <p:cNvPr id="4" name="TextBox 3"/>
          <p:cNvSpPr txBox="1"/>
          <p:nvPr/>
        </p:nvSpPr>
        <p:spPr>
          <a:xfrm>
            <a:off x="552450" y="1047750"/>
            <a:ext cx="1905000" cy="190500"/>
          </a:xfrm>
          <a:prstGeom prst="rect">
            <a:avLst/>
          </a:prstGeom>
          <a:noFill/>
        </p:spPr>
        <p:txBody>
          <a:bodyPr wrap="square" tIns="0" rIns="0" bIns="0" lIns="0">
            <a:spAutoFit/>
          </a:bodyPr>
          <a:lstStyle/>
          <a:p>
            <a:pPr algn="l">
              <a:lnSpc>
                <a:spcPct val="120000"/>
              </a:lnSpc>
              <a:spcBef>
                <a:spcPts val="0"/>
              </a:spcBef>
              <a:spcAft>
                <a:spcPts val="0"/>
              </a:spcAft>
            </a:pPr>
            <a:r>
              <a:rPr sz="900" b="1">
                <a:solidFill>
                  <a:srgbClr val="6B6B6B"/>
                </a:solidFill>
                <a:latin typeface="Meiryo"/>
                <a:ea typeface="Meiryo"/>
                <a:cs typeface="Meiryo"/>
              </a:rPr>
              <a:t>センサ</a:t>
            </a:r>
          </a:p>
        </p:txBody>
      </p:sp>
      <p:sp>
        <p:nvSpPr>
          <p:cNvPr id="5" name="TextBox 4"/>
          <p:cNvSpPr txBox="1"/>
          <p:nvPr/>
        </p:nvSpPr>
        <p:spPr>
          <a:xfrm>
            <a:off x="2457450" y="1047750"/>
            <a:ext cx="1047750" cy="190500"/>
          </a:xfrm>
          <a:prstGeom prst="rect">
            <a:avLst/>
          </a:prstGeom>
          <a:noFill/>
        </p:spPr>
        <p:txBody>
          <a:bodyPr wrap="square" tIns="0" rIns="0" bIns="0" lIns="0">
            <a:spAutoFit/>
          </a:bodyPr>
          <a:lstStyle/>
          <a:p>
            <a:pPr algn="l">
              <a:lnSpc>
                <a:spcPct val="120000"/>
              </a:lnSpc>
              <a:spcBef>
                <a:spcPts val="0"/>
              </a:spcBef>
              <a:spcAft>
                <a:spcPts val="0"/>
              </a:spcAft>
            </a:pPr>
            <a:r>
              <a:rPr sz="900" b="1">
                <a:solidFill>
                  <a:srgbClr val="6B6B6B"/>
                </a:solidFill>
                <a:latin typeface="Meiryo"/>
                <a:ea typeface="Meiryo"/>
                <a:cs typeface="Meiryo"/>
              </a:rPr>
              <a:t>安静</a:t>
            </a:r>
          </a:p>
        </p:txBody>
      </p:sp>
      <p:sp>
        <p:nvSpPr>
          <p:cNvPr id="6" name="TextBox 5"/>
          <p:cNvSpPr txBox="1"/>
          <p:nvPr/>
        </p:nvSpPr>
        <p:spPr>
          <a:xfrm>
            <a:off x="3505200" y="1047750"/>
            <a:ext cx="1047750" cy="190500"/>
          </a:xfrm>
          <a:prstGeom prst="rect">
            <a:avLst/>
          </a:prstGeom>
          <a:noFill/>
        </p:spPr>
        <p:txBody>
          <a:bodyPr wrap="square" tIns="0" rIns="0" bIns="0" lIns="0">
            <a:spAutoFit/>
          </a:bodyPr>
          <a:lstStyle/>
          <a:p>
            <a:pPr algn="l">
              <a:lnSpc>
                <a:spcPct val="120000"/>
              </a:lnSpc>
              <a:spcBef>
                <a:spcPts val="0"/>
              </a:spcBef>
              <a:spcAft>
                <a:spcPts val="0"/>
              </a:spcAft>
            </a:pPr>
            <a:r>
              <a:rPr sz="900" b="1">
                <a:solidFill>
                  <a:srgbClr val="6B6B6B"/>
                </a:solidFill>
                <a:latin typeface="Meiryo"/>
                <a:ea typeface="Meiryo"/>
                <a:cs typeface="Meiryo"/>
              </a:rPr>
              <a:t>MVC</a:t>
            </a:r>
          </a:p>
        </p:txBody>
      </p:sp>
      <p:sp>
        <p:nvSpPr>
          <p:cNvPr id="7" name="TextBox 6"/>
          <p:cNvSpPr txBox="1"/>
          <p:nvPr/>
        </p:nvSpPr>
        <p:spPr>
          <a:xfrm>
            <a:off x="4552950" y="1047750"/>
            <a:ext cx="2667000" cy="190500"/>
          </a:xfrm>
          <a:prstGeom prst="rect">
            <a:avLst/>
          </a:prstGeom>
          <a:noFill/>
        </p:spPr>
        <p:txBody>
          <a:bodyPr wrap="square" tIns="0" rIns="0" bIns="0" lIns="0">
            <a:spAutoFit/>
          </a:bodyPr>
          <a:lstStyle/>
          <a:p>
            <a:pPr algn="l">
              <a:lnSpc>
                <a:spcPct val="120000"/>
              </a:lnSpc>
              <a:spcBef>
                <a:spcPts val="0"/>
              </a:spcBef>
              <a:spcAft>
                <a:spcPts val="0"/>
              </a:spcAft>
            </a:pPr>
            <a:r>
              <a:rPr sz="900" b="1">
                <a:solidFill>
                  <a:srgbClr val="6B6B6B"/>
                </a:solidFill>
                <a:latin typeface="Meiryo"/>
                <a:ea typeface="Meiryo"/>
                <a:cs typeface="Meiryo"/>
              </a:rPr>
              <a:t>MVC が最大の課題</a:t>
            </a:r>
          </a:p>
        </p:txBody>
      </p:sp>
      <p:sp>
        <p:nvSpPr>
          <p:cNvPr id="8" name="TextBox 7"/>
          <p:cNvSpPr txBox="1"/>
          <p:nvPr/>
        </p:nvSpPr>
        <p:spPr>
          <a:xfrm>
            <a:off x="7219950" y="1047750"/>
            <a:ext cx="1314450" cy="190500"/>
          </a:xfrm>
          <a:prstGeom prst="rect">
            <a:avLst/>
          </a:prstGeom>
          <a:noFill/>
        </p:spPr>
        <p:txBody>
          <a:bodyPr wrap="square" tIns="0" rIns="0" bIns="0" lIns="0">
            <a:spAutoFit/>
          </a:bodyPr>
          <a:lstStyle/>
          <a:p>
            <a:pPr algn="l">
              <a:lnSpc>
                <a:spcPct val="120000"/>
              </a:lnSpc>
              <a:spcBef>
                <a:spcPts val="0"/>
              </a:spcBef>
              <a:spcAft>
                <a:spcPts val="0"/>
              </a:spcAft>
            </a:pPr>
            <a:r>
              <a:rPr sz="900" b="1">
                <a:solidFill>
                  <a:srgbClr val="6B6B6B"/>
                </a:solidFill>
                <a:latin typeface="Meiryo"/>
                <a:ea typeface="Meiryo"/>
                <a:cs typeface="Meiryo"/>
              </a:rPr>
              <a:t>MVC / 安静</a:t>
            </a:r>
          </a:p>
        </p:txBody>
      </p:sp>
      <p:cxnSp>
        <p:nvCxnSpPr>
          <p:cNvPr id="9" name="Connector 8"/>
          <p:cNvCxnSpPr/>
          <p:nvPr/>
        </p:nvCxnSpPr>
        <p:spPr>
          <a:xfrm>
            <a:off x="552450" y="1285875"/>
            <a:ext cx="7981950" cy="0"/>
          </a:xfrm>
          <a:prstGeom prst="line">
            <a:avLst/>
          </a:prstGeom>
          <a:ln w="7143">
            <a:solidFill>
              <a:srgbClr val="DDDDDD"/>
            </a:solidFill>
          </a:ln>
        </p:spPr>
      </p:cxnSp>
      <p:sp>
        <p:nvSpPr>
          <p:cNvPr id="10" name="TextBox 9"/>
          <p:cNvSpPr txBox="1"/>
          <p:nvPr/>
        </p:nvSpPr>
        <p:spPr>
          <a:xfrm>
            <a:off x="552450" y="1285875"/>
            <a:ext cx="1847850" cy="342900"/>
          </a:xfrm>
          <a:prstGeom prst="rect">
            <a:avLst/>
          </a:prstGeom>
          <a:noFill/>
        </p:spPr>
        <p:txBody>
          <a:bodyPr wrap="square" tIns="0" rIns="0" bIns="0" lIns="0" anchor="ctr">
            <a:spAutoFit/>
          </a:bodyPr>
          <a:lstStyle/>
          <a:p>
            <a:pPr algn="l">
              <a:lnSpc>
                <a:spcPct val="120000"/>
              </a:lnSpc>
              <a:spcBef>
                <a:spcPts val="0"/>
              </a:spcBef>
              <a:spcAft>
                <a:spcPts val="0"/>
              </a:spcAft>
            </a:pPr>
            <a:r>
              <a:rPr sz="1050" b="1">
                <a:solidFill>
                  <a:srgbClr val="1A1A1A"/>
                </a:solidFill>
                <a:latin typeface="Meiryo"/>
                <a:ea typeface="Meiryo"/>
                <a:cs typeface="Meiryo"/>
              </a:rPr>
              <a:t>S1 前腕の上（伸筋）</a:t>
            </a:r>
          </a:p>
        </p:txBody>
      </p:sp>
      <p:sp>
        <p:nvSpPr>
          <p:cNvPr id="11" name="TextBox 10"/>
          <p:cNvSpPr txBox="1"/>
          <p:nvPr/>
        </p:nvSpPr>
        <p:spPr>
          <a:xfrm>
            <a:off x="2457450" y="1285875"/>
            <a:ext cx="990600" cy="342900"/>
          </a:xfrm>
          <a:prstGeom prst="rect">
            <a:avLst/>
          </a:prstGeom>
          <a:noFill/>
        </p:spPr>
        <p:txBody>
          <a:bodyPr wrap="square" tIns="0" rIns="0" bIns="0" lIns="0" anchor="ctr">
            <a:spAutoFit/>
          </a:bodyPr>
          <a:lstStyle/>
          <a:p>
            <a:pPr algn="l">
              <a:lnSpc>
                <a:spcPct val="120000"/>
              </a:lnSpc>
              <a:spcBef>
                <a:spcPts val="0"/>
              </a:spcBef>
              <a:spcAft>
                <a:spcPts val="0"/>
              </a:spcAft>
            </a:pPr>
            <a:r>
              <a:rPr sz="1050" b="0">
                <a:solidFill>
                  <a:srgbClr val="1A1A1A"/>
                </a:solidFill>
                <a:latin typeface="Meiryo"/>
                <a:ea typeface="Meiryo"/>
                <a:cs typeface="Meiryo"/>
              </a:rPr>
              <a:t>7.5</a:t>
            </a:r>
          </a:p>
        </p:txBody>
      </p:sp>
      <p:sp>
        <p:nvSpPr>
          <p:cNvPr id="12" name="TextBox 11"/>
          <p:cNvSpPr txBox="1"/>
          <p:nvPr/>
        </p:nvSpPr>
        <p:spPr>
          <a:xfrm>
            <a:off x="3505200" y="1285875"/>
            <a:ext cx="990600" cy="342900"/>
          </a:xfrm>
          <a:prstGeom prst="rect">
            <a:avLst/>
          </a:prstGeom>
          <a:noFill/>
        </p:spPr>
        <p:txBody>
          <a:bodyPr wrap="square" tIns="0" rIns="0" bIns="0" lIns="0" anchor="ctr">
            <a:spAutoFit/>
          </a:bodyPr>
          <a:lstStyle/>
          <a:p>
            <a:pPr algn="l">
              <a:lnSpc>
                <a:spcPct val="120000"/>
              </a:lnSpc>
              <a:spcBef>
                <a:spcPts val="0"/>
              </a:spcBef>
              <a:spcAft>
                <a:spcPts val="0"/>
              </a:spcAft>
            </a:pPr>
            <a:r>
              <a:rPr sz="1050" b="0">
                <a:solidFill>
                  <a:srgbClr val="1A1A1A"/>
                </a:solidFill>
                <a:latin typeface="Meiryo"/>
                <a:ea typeface="Meiryo"/>
                <a:cs typeface="Meiryo"/>
              </a:rPr>
              <a:t>104</a:t>
            </a:r>
          </a:p>
        </p:txBody>
      </p:sp>
      <p:sp>
        <p:nvSpPr>
          <p:cNvPr id="13" name="TextBox 12"/>
          <p:cNvSpPr txBox="1"/>
          <p:nvPr/>
        </p:nvSpPr>
        <p:spPr>
          <a:xfrm>
            <a:off x="4552950" y="1285875"/>
            <a:ext cx="2609850" cy="342900"/>
          </a:xfrm>
          <a:prstGeom prst="rect">
            <a:avLst/>
          </a:prstGeom>
          <a:noFill/>
        </p:spPr>
        <p:txBody>
          <a:bodyPr wrap="square" tIns="0" rIns="0" bIns="0" lIns="0" anchor="ctr">
            <a:spAutoFit/>
          </a:bodyPr>
          <a:lstStyle/>
          <a:p>
            <a:pPr algn="l">
              <a:lnSpc>
                <a:spcPct val="120000"/>
              </a:lnSpc>
              <a:spcBef>
                <a:spcPts val="0"/>
              </a:spcBef>
              <a:spcAft>
                <a:spcPts val="0"/>
              </a:spcAft>
            </a:pPr>
            <a:r>
              <a:rPr sz="1050" b="0">
                <a:solidFill>
                  <a:srgbClr val="1A1A1A"/>
                </a:solidFill>
                <a:latin typeface="Meiryo"/>
                <a:ea typeface="Meiryo"/>
                <a:cs typeface="Meiryo"/>
              </a:rPr>
              <a:t>肘の屈曲</a:t>
            </a:r>
          </a:p>
        </p:txBody>
      </p:sp>
      <p:sp>
        <p:nvSpPr>
          <p:cNvPr id="14" name="TextBox 13"/>
          <p:cNvSpPr txBox="1"/>
          <p:nvPr/>
        </p:nvSpPr>
        <p:spPr>
          <a:xfrm>
            <a:off x="7219950" y="1285875"/>
            <a:ext cx="1257300" cy="342900"/>
          </a:xfrm>
          <a:prstGeom prst="rect">
            <a:avLst/>
          </a:prstGeom>
          <a:noFill/>
        </p:spPr>
        <p:txBody>
          <a:bodyPr wrap="square" tIns="0" rIns="0" bIns="0" lIns="0" anchor="ctr">
            <a:spAutoFit/>
          </a:bodyPr>
          <a:lstStyle/>
          <a:p>
            <a:pPr algn="l">
              <a:lnSpc>
                <a:spcPct val="120000"/>
              </a:lnSpc>
              <a:spcBef>
                <a:spcPts val="0"/>
              </a:spcBef>
              <a:spcAft>
                <a:spcPts val="0"/>
              </a:spcAft>
            </a:pPr>
            <a:r>
              <a:rPr sz="1050" b="0">
                <a:solidFill>
                  <a:srgbClr val="1A1A1A"/>
                </a:solidFill>
                <a:latin typeface="Meiryo"/>
                <a:ea typeface="Meiryo"/>
                <a:cs typeface="Meiryo"/>
              </a:rPr>
              <a:t>14</a:t>
            </a:r>
          </a:p>
        </p:txBody>
      </p:sp>
      <p:cxnSp>
        <p:nvCxnSpPr>
          <p:cNvPr id="15" name="Connector 14"/>
          <p:cNvCxnSpPr/>
          <p:nvPr/>
        </p:nvCxnSpPr>
        <p:spPr>
          <a:xfrm>
            <a:off x="552450" y="1628775"/>
            <a:ext cx="7981950" cy="0"/>
          </a:xfrm>
          <a:prstGeom prst="line">
            <a:avLst/>
          </a:prstGeom>
          <a:ln w="7143">
            <a:solidFill>
              <a:srgbClr val="DDDDDD"/>
            </a:solidFill>
          </a:ln>
        </p:spPr>
      </p:cxnSp>
      <p:sp>
        <p:nvSpPr>
          <p:cNvPr id="16" name="TextBox 15"/>
          <p:cNvSpPr txBox="1"/>
          <p:nvPr/>
        </p:nvSpPr>
        <p:spPr>
          <a:xfrm>
            <a:off x="552450" y="1628775"/>
            <a:ext cx="1847850" cy="342900"/>
          </a:xfrm>
          <a:prstGeom prst="rect">
            <a:avLst/>
          </a:prstGeom>
          <a:noFill/>
        </p:spPr>
        <p:txBody>
          <a:bodyPr wrap="square" tIns="0" rIns="0" bIns="0" lIns="0" anchor="ctr">
            <a:spAutoFit/>
          </a:bodyPr>
          <a:lstStyle/>
          <a:p>
            <a:pPr algn="l">
              <a:lnSpc>
                <a:spcPct val="120000"/>
              </a:lnSpc>
              <a:spcBef>
                <a:spcPts val="0"/>
              </a:spcBef>
              <a:spcAft>
                <a:spcPts val="0"/>
              </a:spcAft>
            </a:pPr>
            <a:r>
              <a:rPr sz="1050" b="1">
                <a:solidFill>
                  <a:srgbClr val="1A1A1A"/>
                </a:solidFill>
                <a:latin typeface="Meiryo"/>
                <a:ea typeface="Meiryo"/>
                <a:cs typeface="Meiryo"/>
              </a:rPr>
              <a:t>S2 前腕の下（屈筋）</a:t>
            </a:r>
          </a:p>
        </p:txBody>
      </p:sp>
      <p:sp>
        <p:nvSpPr>
          <p:cNvPr id="17" name="TextBox 16"/>
          <p:cNvSpPr txBox="1"/>
          <p:nvPr/>
        </p:nvSpPr>
        <p:spPr>
          <a:xfrm>
            <a:off x="2457450" y="1628775"/>
            <a:ext cx="990600" cy="342900"/>
          </a:xfrm>
          <a:prstGeom prst="rect">
            <a:avLst/>
          </a:prstGeom>
          <a:noFill/>
        </p:spPr>
        <p:txBody>
          <a:bodyPr wrap="square" tIns="0" rIns="0" bIns="0" lIns="0" anchor="ctr">
            <a:spAutoFit/>
          </a:bodyPr>
          <a:lstStyle/>
          <a:p>
            <a:pPr algn="l">
              <a:lnSpc>
                <a:spcPct val="120000"/>
              </a:lnSpc>
              <a:spcBef>
                <a:spcPts val="0"/>
              </a:spcBef>
              <a:spcAft>
                <a:spcPts val="0"/>
              </a:spcAft>
            </a:pPr>
            <a:r>
              <a:rPr sz="1050" b="0">
                <a:solidFill>
                  <a:srgbClr val="1A1A1A"/>
                </a:solidFill>
                <a:latin typeface="Meiryo"/>
                <a:ea typeface="Meiryo"/>
                <a:cs typeface="Meiryo"/>
              </a:rPr>
              <a:t>2.1</a:t>
            </a:r>
          </a:p>
        </p:txBody>
      </p:sp>
      <p:sp>
        <p:nvSpPr>
          <p:cNvPr id="18" name="TextBox 17"/>
          <p:cNvSpPr txBox="1"/>
          <p:nvPr/>
        </p:nvSpPr>
        <p:spPr>
          <a:xfrm>
            <a:off x="3505200" y="1628775"/>
            <a:ext cx="990600" cy="342900"/>
          </a:xfrm>
          <a:prstGeom prst="rect">
            <a:avLst/>
          </a:prstGeom>
          <a:noFill/>
        </p:spPr>
        <p:txBody>
          <a:bodyPr wrap="square" tIns="0" rIns="0" bIns="0" lIns="0" anchor="ctr">
            <a:spAutoFit/>
          </a:bodyPr>
          <a:lstStyle/>
          <a:p>
            <a:pPr algn="l">
              <a:lnSpc>
                <a:spcPct val="120000"/>
              </a:lnSpc>
              <a:spcBef>
                <a:spcPts val="0"/>
              </a:spcBef>
              <a:spcAft>
                <a:spcPts val="0"/>
              </a:spcAft>
            </a:pPr>
            <a:r>
              <a:rPr sz="1050" b="0">
                <a:solidFill>
                  <a:srgbClr val="1A1A1A"/>
                </a:solidFill>
                <a:latin typeface="Meiryo"/>
                <a:ea typeface="Meiryo"/>
                <a:cs typeface="Meiryo"/>
              </a:rPr>
              <a:t>72</a:t>
            </a:r>
          </a:p>
        </p:txBody>
      </p:sp>
      <p:sp>
        <p:nvSpPr>
          <p:cNvPr id="19" name="TextBox 18"/>
          <p:cNvSpPr txBox="1"/>
          <p:nvPr/>
        </p:nvSpPr>
        <p:spPr>
          <a:xfrm>
            <a:off x="4552950" y="1628775"/>
            <a:ext cx="2609850" cy="342900"/>
          </a:xfrm>
          <a:prstGeom prst="rect">
            <a:avLst/>
          </a:prstGeom>
          <a:noFill/>
        </p:spPr>
        <p:txBody>
          <a:bodyPr wrap="square" tIns="0" rIns="0" bIns="0" lIns="0" anchor="ctr">
            <a:spAutoFit/>
          </a:bodyPr>
          <a:lstStyle/>
          <a:p>
            <a:pPr algn="l">
              <a:lnSpc>
                <a:spcPct val="120000"/>
              </a:lnSpc>
              <a:spcBef>
                <a:spcPts val="0"/>
              </a:spcBef>
              <a:spcAft>
                <a:spcPts val="0"/>
              </a:spcAft>
            </a:pPr>
            <a:r>
              <a:rPr sz="1050" b="0">
                <a:solidFill>
                  <a:srgbClr val="1A1A1A"/>
                </a:solidFill>
                <a:latin typeface="Meiryo"/>
                <a:ea typeface="Meiryo"/>
                <a:cs typeface="Meiryo"/>
              </a:rPr>
              <a:t>手首の屈曲</a:t>
            </a:r>
          </a:p>
        </p:txBody>
      </p:sp>
      <p:sp>
        <p:nvSpPr>
          <p:cNvPr id="20" name="TextBox 19"/>
          <p:cNvSpPr txBox="1"/>
          <p:nvPr/>
        </p:nvSpPr>
        <p:spPr>
          <a:xfrm>
            <a:off x="7219950" y="1628775"/>
            <a:ext cx="1257300" cy="342900"/>
          </a:xfrm>
          <a:prstGeom prst="rect">
            <a:avLst/>
          </a:prstGeom>
          <a:noFill/>
        </p:spPr>
        <p:txBody>
          <a:bodyPr wrap="square" tIns="0" rIns="0" bIns="0" lIns="0" anchor="ctr">
            <a:spAutoFit/>
          </a:bodyPr>
          <a:lstStyle/>
          <a:p>
            <a:pPr algn="l">
              <a:lnSpc>
                <a:spcPct val="120000"/>
              </a:lnSpc>
              <a:spcBef>
                <a:spcPts val="0"/>
              </a:spcBef>
              <a:spcAft>
                <a:spcPts val="0"/>
              </a:spcAft>
            </a:pPr>
            <a:r>
              <a:rPr sz="1050" b="0">
                <a:solidFill>
                  <a:srgbClr val="1A1A1A"/>
                </a:solidFill>
                <a:latin typeface="Meiryo"/>
                <a:ea typeface="Meiryo"/>
                <a:cs typeface="Meiryo"/>
              </a:rPr>
              <a:t>34</a:t>
            </a:r>
          </a:p>
        </p:txBody>
      </p:sp>
      <p:cxnSp>
        <p:nvCxnSpPr>
          <p:cNvPr id="21" name="Connector 20"/>
          <p:cNvCxnSpPr/>
          <p:nvPr/>
        </p:nvCxnSpPr>
        <p:spPr>
          <a:xfrm>
            <a:off x="552450" y="1971675"/>
            <a:ext cx="7981950" cy="0"/>
          </a:xfrm>
          <a:prstGeom prst="line">
            <a:avLst/>
          </a:prstGeom>
          <a:ln w="7143">
            <a:solidFill>
              <a:srgbClr val="DDDDDD"/>
            </a:solidFill>
          </a:ln>
        </p:spPr>
      </p:cxnSp>
      <p:sp>
        <p:nvSpPr>
          <p:cNvPr id="22" name="TextBox 21"/>
          <p:cNvSpPr txBox="1"/>
          <p:nvPr/>
        </p:nvSpPr>
        <p:spPr>
          <a:xfrm>
            <a:off x="552450" y="1971675"/>
            <a:ext cx="1847850" cy="342900"/>
          </a:xfrm>
          <a:prstGeom prst="rect">
            <a:avLst/>
          </a:prstGeom>
          <a:noFill/>
        </p:spPr>
        <p:txBody>
          <a:bodyPr wrap="square" tIns="0" rIns="0" bIns="0" lIns="0" anchor="ctr">
            <a:spAutoFit/>
          </a:bodyPr>
          <a:lstStyle/>
          <a:p>
            <a:pPr algn="l">
              <a:lnSpc>
                <a:spcPct val="120000"/>
              </a:lnSpc>
              <a:spcBef>
                <a:spcPts val="0"/>
              </a:spcBef>
              <a:spcAft>
                <a:spcPts val="0"/>
              </a:spcAft>
            </a:pPr>
            <a:r>
              <a:rPr sz="1050" b="1">
                <a:solidFill>
                  <a:srgbClr val="1A1A1A"/>
                </a:solidFill>
                <a:latin typeface="Meiryo"/>
                <a:ea typeface="Meiryo"/>
                <a:cs typeface="Meiryo"/>
              </a:rPr>
              <a:t>S3 三角筋</a:t>
            </a:r>
          </a:p>
        </p:txBody>
      </p:sp>
      <p:sp>
        <p:nvSpPr>
          <p:cNvPr id="23" name="TextBox 22"/>
          <p:cNvSpPr txBox="1"/>
          <p:nvPr/>
        </p:nvSpPr>
        <p:spPr>
          <a:xfrm>
            <a:off x="2457450" y="1971675"/>
            <a:ext cx="990600" cy="342900"/>
          </a:xfrm>
          <a:prstGeom prst="rect">
            <a:avLst/>
          </a:prstGeom>
          <a:noFill/>
        </p:spPr>
        <p:txBody>
          <a:bodyPr wrap="square" tIns="0" rIns="0" bIns="0" lIns="0" anchor="ctr">
            <a:spAutoFit/>
          </a:bodyPr>
          <a:lstStyle/>
          <a:p>
            <a:pPr algn="l">
              <a:lnSpc>
                <a:spcPct val="120000"/>
              </a:lnSpc>
              <a:spcBef>
                <a:spcPts val="0"/>
              </a:spcBef>
              <a:spcAft>
                <a:spcPts val="0"/>
              </a:spcAft>
            </a:pPr>
            <a:r>
              <a:rPr sz="1050" b="0">
                <a:solidFill>
                  <a:srgbClr val="1A1A1A"/>
                </a:solidFill>
                <a:latin typeface="Meiryo"/>
                <a:ea typeface="Meiryo"/>
                <a:cs typeface="Meiryo"/>
              </a:rPr>
              <a:t>2.0</a:t>
            </a:r>
          </a:p>
        </p:txBody>
      </p:sp>
      <p:sp>
        <p:nvSpPr>
          <p:cNvPr id="24" name="TextBox 23"/>
          <p:cNvSpPr txBox="1"/>
          <p:nvPr/>
        </p:nvSpPr>
        <p:spPr>
          <a:xfrm>
            <a:off x="3505200" y="1971675"/>
            <a:ext cx="990600" cy="342900"/>
          </a:xfrm>
          <a:prstGeom prst="rect">
            <a:avLst/>
          </a:prstGeom>
          <a:noFill/>
        </p:spPr>
        <p:txBody>
          <a:bodyPr wrap="square" tIns="0" rIns="0" bIns="0" lIns="0" anchor="ctr">
            <a:spAutoFit/>
          </a:bodyPr>
          <a:lstStyle/>
          <a:p>
            <a:pPr algn="l">
              <a:lnSpc>
                <a:spcPct val="120000"/>
              </a:lnSpc>
              <a:spcBef>
                <a:spcPts val="0"/>
              </a:spcBef>
              <a:spcAft>
                <a:spcPts val="0"/>
              </a:spcAft>
            </a:pPr>
            <a:r>
              <a:rPr sz="1050" b="0">
                <a:solidFill>
                  <a:srgbClr val="1A1A1A"/>
                </a:solidFill>
                <a:latin typeface="Meiryo"/>
                <a:ea typeface="Meiryo"/>
                <a:cs typeface="Meiryo"/>
              </a:rPr>
              <a:t>53</a:t>
            </a:r>
          </a:p>
        </p:txBody>
      </p:sp>
      <p:sp>
        <p:nvSpPr>
          <p:cNvPr id="25" name="TextBox 24"/>
          <p:cNvSpPr txBox="1"/>
          <p:nvPr/>
        </p:nvSpPr>
        <p:spPr>
          <a:xfrm>
            <a:off x="4552950" y="1971675"/>
            <a:ext cx="2609850" cy="342900"/>
          </a:xfrm>
          <a:prstGeom prst="rect">
            <a:avLst/>
          </a:prstGeom>
          <a:noFill/>
        </p:spPr>
        <p:txBody>
          <a:bodyPr wrap="square" tIns="0" rIns="0" bIns="0" lIns="0" anchor="ctr">
            <a:spAutoFit/>
          </a:bodyPr>
          <a:lstStyle/>
          <a:p>
            <a:pPr algn="l">
              <a:lnSpc>
                <a:spcPct val="120000"/>
              </a:lnSpc>
              <a:spcBef>
                <a:spcPts val="0"/>
              </a:spcBef>
              <a:spcAft>
                <a:spcPts val="0"/>
              </a:spcAft>
            </a:pPr>
            <a:r>
              <a:rPr sz="1050" b="0">
                <a:solidFill>
                  <a:srgbClr val="1A1A1A"/>
                </a:solidFill>
                <a:latin typeface="Meiryo"/>
                <a:ea typeface="Meiryo"/>
                <a:cs typeface="Meiryo"/>
              </a:rPr>
              <a:t>肩の外転</a:t>
            </a:r>
          </a:p>
        </p:txBody>
      </p:sp>
      <p:sp>
        <p:nvSpPr>
          <p:cNvPr id="26" name="TextBox 25"/>
          <p:cNvSpPr txBox="1"/>
          <p:nvPr/>
        </p:nvSpPr>
        <p:spPr>
          <a:xfrm>
            <a:off x="7219950" y="1971675"/>
            <a:ext cx="1257300" cy="342900"/>
          </a:xfrm>
          <a:prstGeom prst="rect">
            <a:avLst/>
          </a:prstGeom>
          <a:noFill/>
        </p:spPr>
        <p:txBody>
          <a:bodyPr wrap="square" tIns="0" rIns="0" bIns="0" lIns="0" anchor="ctr">
            <a:spAutoFit/>
          </a:bodyPr>
          <a:lstStyle/>
          <a:p>
            <a:pPr algn="l">
              <a:lnSpc>
                <a:spcPct val="120000"/>
              </a:lnSpc>
              <a:spcBef>
                <a:spcPts val="0"/>
              </a:spcBef>
              <a:spcAft>
                <a:spcPts val="0"/>
              </a:spcAft>
            </a:pPr>
            <a:r>
              <a:rPr sz="1050" b="0">
                <a:solidFill>
                  <a:srgbClr val="1A1A1A"/>
                </a:solidFill>
                <a:latin typeface="Meiryo"/>
                <a:ea typeface="Meiryo"/>
                <a:cs typeface="Meiryo"/>
              </a:rPr>
              <a:t>26</a:t>
            </a:r>
          </a:p>
        </p:txBody>
      </p:sp>
      <p:cxnSp>
        <p:nvCxnSpPr>
          <p:cNvPr id="27" name="Connector 26"/>
          <p:cNvCxnSpPr/>
          <p:nvPr/>
        </p:nvCxnSpPr>
        <p:spPr>
          <a:xfrm>
            <a:off x="552450" y="2314575"/>
            <a:ext cx="7981950" cy="0"/>
          </a:xfrm>
          <a:prstGeom prst="line">
            <a:avLst/>
          </a:prstGeom>
          <a:ln w="7143">
            <a:solidFill>
              <a:srgbClr val="DDDDDD"/>
            </a:solidFill>
          </a:ln>
        </p:spPr>
      </p:cxnSp>
      <p:sp>
        <p:nvSpPr>
          <p:cNvPr id="28" name="TextBox 27"/>
          <p:cNvSpPr txBox="1"/>
          <p:nvPr/>
        </p:nvSpPr>
        <p:spPr>
          <a:xfrm>
            <a:off x="552450" y="2314575"/>
            <a:ext cx="1847850" cy="342900"/>
          </a:xfrm>
          <a:prstGeom prst="rect">
            <a:avLst/>
          </a:prstGeom>
          <a:noFill/>
        </p:spPr>
        <p:txBody>
          <a:bodyPr wrap="square" tIns="0" rIns="0" bIns="0" lIns="0" anchor="ctr">
            <a:spAutoFit/>
          </a:bodyPr>
          <a:lstStyle/>
          <a:p>
            <a:pPr algn="l">
              <a:lnSpc>
                <a:spcPct val="120000"/>
              </a:lnSpc>
              <a:spcBef>
                <a:spcPts val="0"/>
              </a:spcBef>
              <a:spcAft>
                <a:spcPts val="0"/>
              </a:spcAft>
            </a:pPr>
            <a:r>
              <a:rPr sz="1050" b="1">
                <a:solidFill>
                  <a:srgbClr val="1A1A1A"/>
                </a:solidFill>
                <a:latin typeface="Meiryo"/>
                <a:ea typeface="Meiryo"/>
                <a:cs typeface="Meiryo"/>
              </a:rPr>
              <a:t>S4 二頭筋</a:t>
            </a:r>
          </a:p>
        </p:txBody>
      </p:sp>
      <p:sp>
        <p:nvSpPr>
          <p:cNvPr id="29" name="TextBox 28"/>
          <p:cNvSpPr txBox="1"/>
          <p:nvPr/>
        </p:nvSpPr>
        <p:spPr>
          <a:xfrm>
            <a:off x="2457450" y="2314575"/>
            <a:ext cx="990600" cy="342900"/>
          </a:xfrm>
          <a:prstGeom prst="rect">
            <a:avLst/>
          </a:prstGeom>
          <a:noFill/>
        </p:spPr>
        <p:txBody>
          <a:bodyPr wrap="square" tIns="0" rIns="0" bIns="0" lIns="0" anchor="ctr">
            <a:spAutoFit/>
          </a:bodyPr>
          <a:lstStyle/>
          <a:p>
            <a:pPr algn="l">
              <a:lnSpc>
                <a:spcPct val="120000"/>
              </a:lnSpc>
              <a:spcBef>
                <a:spcPts val="0"/>
              </a:spcBef>
              <a:spcAft>
                <a:spcPts val="0"/>
              </a:spcAft>
            </a:pPr>
            <a:r>
              <a:rPr sz="1050" b="0">
                <a:solidFill>
                  <a:srgbClr val="1A1A1A"/>
                </a:solidFill>
                <a:latin typeface="Meiryo"/>
                <a:ea typeface="Meiryo"/>
                <a:cs typeface="Meiryo"/>
              </a:rPr>
              <a:t>2.9</a:t>
            </a:r>
          </a:p>
        </p:txBody>
      </p:sp>
      <p:sp>
        <p:nvSpPr>
          <p:cNvPr id="30" name="TextBox 29"/>
          <p:cNvSpPr txBox="1"/>
          <p:nvPr/>
        </p:nvSpPr>
        <p:spPr>
          <a:xfrm>
            <a:off x="3505200" y="2314575"/>
            <a:ext cx="990600" cy="342900"/>
          </a:xfrm>
          <a:prstGeom prst="rect">
            <a:avLst/>
          </a:prstGeom>
          <a:noFill/>
        </p:spPr>
        <p:txBody>
          <a:bodyPr wrap="square" tIns="0" rIns="0" bIns="0" lIns="0" anchor="ctr">
            <a:spAutoFit/>
          </a:bodyPr>
          <a:lstStyle/>
          <a:p>
            <a:pPr algn="l">
              <a:lnSpc>
                <a:spcPct val="120000"/>
              </a:lnSpc>
              <a:spcBef>
                <a:spcPts val="0"/>
              </a:spcBef>
              <a:spcAft>
                <a:spcPts val="0"/>
              </a:spcAft>
            </a:pPr>
            <a:r>
              <a:rPr sz="1050" b="0">
                <a:solidFill>
                  <a:srgbClr val="1A1A1A"/>
                </a:solidFill>
                <a:latin typeface="Meiryo"/>
                <a:ea typeface="Meiryo"/>
                <a:cs typeface="Meiryo"/>
              </a:rPr>
              <a:t>373</a:t>
            </a:r>
          </a:p>
        </p:txBody>
      </p:sp>
      <p:sp>
        <p:nvSpPr>
          <p:cNvPr id="31" name="TextBox 30"/>
          <p:cNvSpPr txBox="1"/>
          <p:nvPr/>
        </p:nvSpPr>
        <p:spPr>
          <a:xfrm>
            <a:off x="4552950" y="2314575"/>
            <a:ext cx="2609850" cy="342900"/>
          </a:xfrm>
          <a:prstGeom prst="rect">
            <a:avLst/>
          </a:prstGeom>
          <a:noFill/>
        </p:spPr>
        <p:txBody>
          <a:bodyPr wrap="square" tIns="0" rIns="0" bIns="0" lIns="0" anchor="ctr">
            <a:spAutoFit/>
          </a:bodyPr>
          <a:lstStyle/>
          <a:p>
            <a:pPr algn="l">
              <a:lnSpc>
                <a:spcPct val="120000"/>
              </a:lnSpc>
              <a:spcBef>
                <a:spcPts val="0"/>
              </a:spcBef>
              <a:spcAft>
                <a:spcPts val="0"/>
              </a:spcAft>
            </a:pPr>
            <a:r>
              <a:rPr sz="1050" b="0">
                <a:solidFill>
                  <a:srgbClr val="1A1A1A"/>
                </a:solidFill>
                <a:latin typeface="Meiryo"/>
                <a:ea typeface="Meiryo"/>
                <a:cs typeface="Meiryo"/>
              </a:rPr>
              <a:t>肘の屈曲</a:t>
            </a:r>
          </a:p>
        </p:txBody>
      </p:sp>
      <p:sp>
        <p:nvSpPr>
          <p:cNvPr id="32" name="TextBox 31"/>
          <p:cNvSpPr txBox="1"/>
          <p:nvPr/>
        </p:nvSpPr>
        <p:spPr>
          <a:xfrm>
            <a:off x="7219950" y="2314575"/>
            <a:ext cx="1257300" cy="342900"/>
          </a:xfrm>
          <a:prstGeom prst="rect">
            <a:avLst/>
          </a:prstGeom>
          <a:noFill/>
        </p:spPr>
        <p:txBody>
          <a:bodyPr wrap="square" tIns="0" rIns="0" bIns="0" lIns="0" anchor="ctr">
            <a:spAutoFit/>
          </a:bodyPr>
          <a:lstStyle/>
          <a:p>
            <a:pPr algn="l">
              <a:lnSpc>
                <a:spcPct val="120000"/>
              </a:lnSpc>
              <a:spcBef>
                <a:spcPts val="0"/>
              </a:spcBef>
              <a:spcAft>
                <a:spcPts val="0"/>
              </a:spcAft>
            </a:pPr>
            <a:r>
              <a:rPr sz="1050" b="0">
                <a:solidFill>
                  <a:srgbClr val="1A1A1A"/>
                </a:solidFill>
                <a:latin typeface="Meiryo"/>
                <a:ea typeface="Meiryo"/>
                <a:cs typeface="Meiryo"/>
              </a:rPr>
              <a:t>127</a:t>
            </a:r>
          </a:p>
        </p:txBody>
      </p:sp>
      <p:cxnSp>
        <p:nvCxnSpPr>
          <p:cNvPr id="33" name="Connector 32"/>
          <p:cNvCxnSpPr/>
          <p:nvPr/>
        </p:nvCxnSpPr>
        <p:spPr>
          <a:xfrm>
            <a:off x="552450" y="2657475"/>
            <a:ext cx="7981950" cy="0"/>
          </a:xfrm>
          <a:prstGeom prst="line">
            <a:avLst/>
          </a:prstGeom>
          <a:ln w="7143">
            <a:solidFill>
              <a:srgbClr val="DDDDDD"/>
            </a:solidFill>
          </a:ln>
        </p:spPr>
      </p:cxnSp>
      <p:sp>
        <p:nvSpPr>
          <p:cNvPr id="34" name="TextBox 33"/>
          <p:cNvSpPr txBox="1"/>
          <p:nvPr/>
        </p:nvSpPr>
        <p:spPr>
          <a:xfrm>
            <a:off x="552450" y="2657475"/>
            <a:ext cx="1847850" cy="342900"/>
          </a:xfrm>
          <a:prstGeom prst="rect">
            <a:avLst/>
          </a:prstGeom>
          <a:noFill/>
        </p:spPr>
        <p:txBody>
          <a:bodyPr wrap="square" tIns="0" rIns="0" bIns="0" lIns="0" anchor="ctr">
            <a:spAutoFit/>
          </a:bodyPr>
          <a:lstStyle/>
          <a:p>
            <a:pPr algn="l">
              <a:lnSpc>
                <a:spcPct val="120000"/>
              </a:lnSpc>
              <a:spcBef>
                <a:spcPts val="0"/>
              </a:spcBef>
              <a:spcAft>
                <a:spcPts val="0"/>
              </a:spcAft>
            </a:pPr>
            <a:r>
              <a:rPr sz="1050" b="1">
                <a:solidFill>
                  <a:srgbClr val="1A1A1A"/>
                </a:solidFill>
                <a:latin typeface="Meiryo"/>
                <a:ea typeface="Meiryo"/>
                <a:cs typeface="Meiryo"/>
              </a:rPr>
              <a:t>S5 三頭筋</a:t>
            </a:r>
          </a:p>
        </p:txBody>
      </p:sp>
      <p:sp>
        <p:nvSpPr>
          <p:cNvPr id="35" name="TextBox 34"/>
          <p:cNvSpPr txBox="1"/>
          <p:nvPr/>
        </p:nvSpPr>
        <p:spPr>
          <a:xfrm>
            <a:off x="2457450" y="2657475"/>
            <a:ext cx="990600" cy="342900"/>
          </a:xfrm>
          <a:prstGeom prst="rect">
            <a:avLst/>
          </a:prstGeom>
          <a:noFill/>
        </p:spPr>
        <p:txBody>
          <a:bodyPr wrap="square" tIns="0" rIns="0" bIns="0" lIns="0" anchor="ctr">
            <a:spAutoFit/>
          </a:bodyPr>
          <a:lstStyle/>
          <a:p>
            <a:pPr algn="l">
              <a:lnSpc>
                <a:spcPct val="120000"/>
              </a:lnSpc>
              <a:spcBef>
                <a:spcPts val="0"/>
              </a:spcBef>
              <a:spcAft>
                <a:spcPts val="0"/>
              </a:spcAft>
            </a:pPr>
            <a:r>
              <a:rPr sz="1050" b="0">
                <a:solidFill>
                  <a:srgbClr val="1A1A1A"/>
                </a:solidFill>
                <a:latin typeface="Meiryo"/>
                <a:ea typeface="Meiryo"/>
                <a:cs typeface="Meiryo"/>
              </a:rPr>
              <a:t>6.9</a:t>
            </a:r>
          </a:p>
        </p:txBody>
      </p:sp>
      <p:sp>
        <p:nvSpPr>
          <p:cNvPr id="36" name="TextBox 35"/>
          <p:cNvSpPr txBox="1"/>
          <p:nvPr/>
        </p:nvSpPr>
        <p:spPr>
          <a:xfrm>
            <a:off x="3505200" y="2657475"/>
            <a:ext cx="990600" cy="342900"/>
          </a:xfrm>
          <a:prstGeom prst="rect">
            <a:avLst/>
          </a:prstGeom>
          <a:noFill/>
        </p:spPr>
        <p:txBody>
          <a:bodyPr wrap="square" tIns="0" rIns="0" bIns="0" lIns="0" anchor="ctr">
            <a:spAutoFit/>
          </a:bodyPr>
          <a:lstStyle/>
          <a:p>
            <a:pPr algn="l">
              <a:lnSpc>
                <a:spcPct val="120000"/>
              </a:lnSpc>
              <a:spcBef>
                <a:spcPts val="0"/>
              </a:spcBef>
              <a:spcAft>
                <a:spcPts val="0"/>
              </a:spcAft>
            </a:pPr>
            <a:r>
              <a:rPr sz="1050" b="0">
                <a:solidFill>
                  <a:srgbClr val="1A1A1A"/>
                </a:solidFill>
                <a:latin typeface="Meiryo"/>
                <a:ea typeface="Meiryo"/>
                <a:cs typeface="Meiryo"/>
              </a:rPr>
              <a:t>81</a:t>
            </a:r>
          </a:p>
        </p:txBody>
      </p:sp>
      <p:sp>
        <p:nvSpPr>
          <p:cNvPr id="37" name="TextBox 36"/>
          <p:cNvSpPr txBox="1"/>
          <p:nvPr/>
        </p:nvSpPr>
        <p:spPr>
          <a:xfrm>
            <a:off x="4552950" y="2657475"/>
            <a:ext cx="2609850" cy="342900"/>
          </a:xfrm>
          <a:prstGeom prst="rect">
            <a:avLst/>
          </a:prstGeom>
          <a:noFill/>
        </p:spPr>
        <p:txBody>
          <a:bodyPr wrap="square" tIns="0" rIns="0" bIns="0" lIns="0" anchor="ctr">
            <a:spAutoFit/>
          </a:bodyPr>
          <a:lstStyle/>
          <a:p>
            <a:pPr algn="l">
              <a:lnSpc>
                <a:spcPct val="120000"/>
              </a:lnSpc>
              <a:spcBef>
                <a:spcPts val="0"/>
              </a:spcBef>
              <a:spcAft>
                <a:spcPts val="0"/>
              </a:spcAft>
            </a:pPr>
            <a:r>
              <a:rPr sz="1050" b="0">
                <a:solidFill>
                  <a:srgbClr val="1A1A1A"/>
                </a:solidFill>
                <a:latin typeface="Meiryo"/>
                <a:ea typeface="Meiryo"/>
                <a:cs typeface="Meiryo"/>
              </a:rPr>
              <a:t>肘の伸展</a:t>
            </a:r>
          </a:p>
        </p:txBody>
      </p:sp>
      <p:sp>
        <p:nvSpPr>
          <p:cNvPr id="38" name="TextBox 37"/>
          <p:cNvSpPr txBox="1"/>
          <p:nvPr/>
        </p:nvSpPr>
        <p:spPr>
          <a:xfrm>
            <a:off x="7219950" y="2657475"/>
            <a:ext cx="1257300" cy="342900"/>
          </a:xfrm>
          <a:prstGeom prst="rect">
            <a:avLst/>
          </a:prstGeom>
          <a:noFill/>
        </p:spPr>
        <p:txBody>
          <a:bodyPr wrap="square" tIns="0" rIns="0" bIns="0" lIns="0" anchor="ctr">
            <a:spAutoFit/>
          </a:bodyPr>
          <a:lstStyle/>
          <a:p>
            <a:pPr algn="l">
              <a:lnSpc>
                <a:spcPct val="120000"/>
              </a:lnSpc>
              <a:spcBef>
                <a:spcPts val="0"/>
              </a:spcBef>
              <a:spcAft>
                <a:spcPts val="0"/>
              </a:spcAft>
            </a:pPr>
            <a:r>
              <a:rPr sz="1050" b="0">
                <a:solidFill>
                  <a:srgbClr val="1A1A1A"/>
                </a:solidFill>
                <a:latin typeface="Meiryo"/>
                <a:ea typeface="Meiryo"/>
                <a:cs typeface="Meiryo"/>
              </a:rPr>
              <a:t>12</a:t>
            </a:r>
          </a:p>
        </p:txBody>
      </p:sp>
      <p:cxnSp>
        <p:nvCxnSpPr>
          <p:cNvPr id="39" name="Connector 38"/>
          <p:cNvCxnSpPr/>
          <p:nvPr/>
        </p:nvCxnSpPr>
        <p:spPr>
          <a:xfrm>
            <a:off x="552450" y="3000375"/>
            <a:ext cx="7981950" cy="0"/>
          </a:xfrm>
          <a:prstGeom prst="line">
            <a:avLst/>
          </a:prstGeom>
          <a:ln w="7143">
            <a:solidFill>
              <a:srgbClr val="DDDDDD"/>
            </a:solidFill>
          </a:ln>
        </p:spPr>
      </p:cxnSp>
      <p:sp>
        <p:nvSpPr>
          <p:cNvPr id="40" name="TextBox 39"/>
          <p:cNvSpPr txBox="1"/>
          <p:nvPr/>
        </p:nvSpPr>
        <p:spPr>
          <a:xfrm>
            <a:off x="552450" y="3000375"/>
            <a:ext cx="1847850" cy="342900"/>
          </a:xfrm>
          <a:prstGeom prst="rect">
            <a:avLst/>
          </a:prstGeom>
          <a:noFill/>
        </p:spPr>
        <p:txBody>
          <a:bodyPr wrap="square" tIns="0" rIns="0" bIns="0" lIns="0" anchor="ctr">
            <a:spAutoFit/>
          </a:bodyPr>
          <a:lstStyle/>
          <a:p>
            <a:pPr algn="l">
              <a:lnSpc>
                <a:spcPct val="120000"/>
              </a:lnSpc>
              <a:spcBef>
                <a:spcPts val="0"/>
              </a:spcBef>
              <a:spcAft>
                <a:spcPts val="0"/>
              </a:spcAft>
            </a:pPr>
            <a:r>
              <a:rPr sz="1050" b="1">
                <a:solidFill>
                  <a:srgbClr val="1A1A1A"/>
                </a:solidFill>
                <a:latin typeface="Meiryo"/>
                <a:ea typeface="Meiryo"/>
                <a:cs typeface="Meiryo"/>
              </a:rPr>
              <a:t>S6 僧帽筋</a:t>
            </a:r>
          </a:p>
        </p:txBody>
      </p:sp>
      <p:sp>
        <p:nvSpPr>
          <p:cNvPr id="41" name="TextBox 40"/>
          <p:cNvSpPr txBox="1"/>
          <p:nvPr/>
        </p:nvSpPr>
        <p:spPr>
          <a:xfrm>
            <a:off x="2457450" y="3000375"/>
            <a:ext cx="990600" cy="342900"/>
          </a:xfrm>
          <a:prstGeom prst="rect">
            <a:avLst/>
          </a:prstGeom>
          <a:noFill/>
        </p:spPr>
        <p:txBody>
          <a:bodyPr wrap="square" tIns="0" rIns="0" bIns="0" lIns="0" anchor="ctr">
            <a:spAutoFit/>
          </a:bodyPr>
          <a:lstStyle/>
          <a:p>
            <a:pPr algn="l">
              <a:lnSpc>
                <a:spcPct val="120000"/>
              </a:lnSpc>
              <a:spcBef>
                <a:spcPts val="0"/>
              </a:spcBef>
              <a:spcAft>
                <a:spcPts val="0"/>
              </a:spcAft>
            </a:pPr>
            <a:r>
              <a:rPr sz="1050" b="0">
                <a:solidFill>
                  <a:srgbClr val="1A1A1A"/>
                </a:solidFill>
                <a:latin typeface="Meiryo"/>
                <a:ea typeface="Meiryo"/>
                <a:cs typeface="Meiryo"/>
              </a:rPr>
              <a:t>3.8</a:t>
            </a:r>
          </a:p>
        </p:txBody>
      </p:sp>
      <p:sp>
        <p:nvSpPr>
          <p:cNvPr id="42" name="TextBox 41"/>
          <p:cNvSpPr txBox="1"/>
          <p:nvPr/>
        </p:nvSpPr>
        <p:spPr>
          <a:xfrm>
            <a:off x="3505200" y="3000375"/>
            <a:ext cx="990600" cy="342900"/>
          </a:xfrm>
          <a:prstGeom prst="rect">
            <a:avLst/>
          </a:prstGeom>
          <a:noFill/>
        </p:spPr>
        <p:txBody>
          <a:bodyPr wrap="square" tIns="0" rIns="0" bIns="0" lIns="0" anchor="ctr">
            <a:spAutoFit/>
          </a:bodyPr>
          <a:lstStyle/>
          <a:p>
            <a:pPr algn="l">
              <a:lnSpc>
                <a:spcPct val="120000"/>
              </a:lnSpc>
              <a:spcBef>
                <a:spcPts val="0"/>
              </a:spcBef>
              <a:spcAft>
                <a:spcPts val="0"/>
              </a:spcAft>
            </a:pPr>
            <a:r>
              <a:rPr sz="1050" b="0">
                <a:solidFill>
                  <a:srgbClr val="1A1A1A"/>
                </a:solidFill>
                <a:latin typeface="Meiryo"/>
                <a:ea typeface="Meiryo"/>
                <a:cs typeface="Meiryo"/>
              </a:rPr>
              <a:t>208</a:t>
            </a:r>
          </a:p>
        </p:txBody>
      </p:sp>
      <p:sp>
        <p:nvSpPr>
          <p:cNvPr id="43" name="TextBox 42"/>
          <p:cNvSpPr txBox="1"/>
          <p:nvPr/>
        </p:nvSpPr>
        <p:spPr>
          <a:xfrm>
            <a:off x="4552950" y="3000375"/>
            <a:ext cx="2609850" cy="342900"/>
          </a:xfrm>
          <a:prstGeom prst="rect">
            <a:avLst/>
          </a:prstGeom>
          <a:noFill/>
        </p:spPr>
        <p:txBody>
          <a:bodyPr wrap="square" tIns="0" rIns="0" bIns="0" lIns="0" anchor="ctr">
            <a:spAutoFit/>
          </a:bodyPr>
          <a:lstStyle/>
          <a:p>
            <a:pPr algn="l">
              <a:lnSpc>
                <a:spcPct val="120000"/>
              </a:lnSpc>
              <a:spcBef>
                <a:spcPts val="0"/>
              </a:spcBef>
              <a:spcAft>
                <a:spcPts val="0"/>
              </a:spcAft>
            </a:pPr>
            <a:r>
              <a:rPr sz="1050" b="0">
                <a:solidFill>
                  <a:srgbClr val="1A1A1A"/>
                </a:solidFill>
                <a:latin typeface="Meiryo"/>
                <a:ea typeface="Meiryo"/>
                <a:cs typeface="Meiryo"/>
              </a:rPr>
              <a:t>肩の外転（すくめは 114）</a:t>
            </a:r>
          </a:p>
        </p:txBody>
      </p:sp>
      <p:sp>
        <p:nvSpPr>
          <p:cNvPr id="44" name="TextBox 43"/>
          <p:cNvSpPr txBox="1"/>
          <p:nvPr/>
        </p:nvSpPr>
        <p:spPr>
          <a:xfrm>
            <a:off x="7219950" y="3000375"/>
            <a:ext cx="1257300" cy="342900"/>
          </a:xfrm>
          <a:prstGeom prst="rect">
            <a:avLst/>
          </a:prstGeom>
          <a:noFill/>
        </p:spPr>
        <p:txBody>
          <a:bodyPr wrap="square" tIns="0" rIns="0" bIns="0" lIns="0" anchor="ctr">
            <a:spAutoFit/>
          </a:bodyPr>
          <a:lstStyle/>
          <a:p>
            <a:pPr algn="l">
              <a:lnSpc>
                <a:spcPct val="120000"/>
              </a:lnSpc>
              <a:spcBef>
                <a:spcPts val="0"/>
              </a:spcBef>
              <a:spcAft>
                <a:spcPts val="0"/>
              </a:spcAft>
            </a:pPr>
            <a:r>
              <a:rPr sz="1050" b="0">
                <a:solidFill>
                  <a:srgbClr val="1A1A1A"/>
                </a:solidFill>
                <a:latin typeface="Meiryo"/>
                <a:ea typeface="Meiryo"/>
                <a:cs typeface="Meiryo"/>
              </a:rPr>
              <a:t>54</a:t>
            </a:r>
          </a:p>
        </p:txBody>
      </p:sp>
      <p:cxnSp>
        <p:nvCxnSpPr>
          <p:cNvPr id="45" name="Connector 44"/>
          <p:cNvCxnSpPr/>
          <p:nvPr/>
        </p:nvCxnSpPr>
        <p:spPr>
          <a:xfrm>
            <a:off x="552450" y="3343275"/>
            <a:ext cx="7981950" cy="0"/>
          </a:xfrm>
          <a:prstGeom prst="line">
            <a:avLst/>
          </a:prstGeom>
          <a:ln w="7143">
            <a:solidFill>
              <a:srgbClr val="DDDDDD"/>
            </a:solidFill>
          </a:ln>
        </p:spPr>
      </p:cxnSp>
      <p:sp>
        <p:nvSpPr>
          <p:cNvPr id="46" name="TextBox 45"/>
          <p:cNvSpPr txBox="1"/>
          <p:nvPr/>
        </p:nvSpPr>
        <p:spPr>
          <a:xfrm>
            <a:off x="552450" y="3429000"/>
            <a:ext cx="7981950" cy="571500"/>
          </a:xfrm>
          <a:prstGeom prst="rect">
            <a:avLst/>
          </a:prstGeom>
          <a:noFill/>
        </p:spPr>
        <p:txBody>
          <a:bodyPr wrap="square" tIns="0" rIns="0" bIns="0" lIns="0">
            <a:spAutoFit/>
          </a:bodyPr>
          <a:lstStyle/>
          <a:p>
            <a:pPr algn="l">
              <a:lnSpc>
                <a:spcPct val="120000"/>
              </a:lnSpc>
              <a:spcBef>
                <a:spcPts val="0"/>
              </a:spcBef>
              <a:spcAft>
                <a:spcPts val="150"/>
              </a:spcAft>
            </a:pPr>
            <a:r>
              <a:rPr sz="825" b="0">
                <a:solidFill>
                  <a:srgbClr val="6B6B6B"/>
                </a:solidFill>
                <a:latin typeface="Meiryo"/>
                <a:ea typeface="Meiryo"/>
                <a:cs typeface="Meiryo"/>
              </a:rPr>
              <a:t>確認動作：伸展は S1 で 55 μV（53 %MVC）、屈曲は S2 で 60 μV（84 %MVC）</a:t>
            </a:r>
          </a:p>
          <a:p>
            <a:pPr algn="l">
              <a:lnSpc>
                <a:spcPct val="120000"/>
              </a:lnSpc>
              <a:spcBef>
                <a:spcPts val="0"/>
              </a:spcBef>
              <a:spcAft>
                <a:spcPts val="150"/>
              </a:spcAft>
            </a:pPr>
            <a:r>
              <a:rPr sz="825" b="0">
                <a:solidFill>
                  <a:srgbClr val="6B6B6B"/>
                </a:solidFill>
                <a:latin typeface="Meiryo"/>
                <a:ea typeface="Meiryo"/>
                <a:cs typeface="Meiryo"/>
              </a:rPr>
              <a:t>包絡線の 0.5 秒移動平均の最大（μV）。S1 の手首の伸展は 93 μV（MVC の 90%）</a:t>
            </a:r>
          </a:p>
          <a:p>
            <a:pPr algn="l">
              <a:lnSpc>
                <a:spcPct val="120000"/>
              </a:lnSpc>
              <a:spcBef>
                <a:spcPts val="0"/>
              </a:spcBef>
              <a:spcAft>
                <a:spcPts val="0"/>
              </a:spcAft>
            </a:pPr>
            <a:r>
              <a:rPr sz="825" b="0">
                <a:solidFill>
                  <a:srgbClr val="6B6B6B"/>
                </a:solidFill>
                <a:latin typeface="Meiryo"/>
                <a:ea typeface="Meiryo"/>
                <a:cs typeface="Meiryo"/>
              </a:rPr>
              <a:t>data/raw/2026-10-27/（Git 管理外）</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